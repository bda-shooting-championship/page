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8" d="100"/>
          <a:sy n="58" d="100"/>
        </p:scale>
        <p:origin x="2458" y="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F49E0A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7560309" cy="10692130"/>
          </a:xfrm>
          <a:custGeom>
            <a:avLst/>
            <a:gdLst/>
            <a:ahLst/>
            <a:cxnLst/>
            <a:rect l="l" t="t" r="r" b="b"/>
            <a:pathLst>
              <a:path w="7560309" h="10692130">
                <a:moveTo>
                  <a:pt x="7559999" y="10691999"/>
                </a:moveTo>
                <a:lnTo>
                  <a:pt x="0" y="10691999"/>
                </a:lnTo>
                <a:lnTo>
                  <a:pt x="0" y="0"/>
                </a:lnTo>
                <a:lnTo>
                  <a:pt x="7559999" y="0"/>
                </a:lnTo>
                <a:lnTo>
                  <a:pt x="7559999" y="10691999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636875" y="3784800"/>
            <a:ext cx="4286250" cy="1524000"/>
          </a:xfrm>
          <a:custGeom>
            <a:avLst/>
            <a:gdLst/>
            <a:ahLst/>
            <a:cxnLst/>
            <a:rect l="l" t="t" r="r" b="b"/>
            <a:pathLst>
              <a:path w="4286250" h="1524000">
                <a:moveTo>
                  <a:pt x="4210050" y="1524000"/>
                </a:moveTo>
                <a:lnTo>
                  <a:pt x="76200" y="1524000"/>
                </a:lnTo>
                <a:lnTo>
                  <a:pt x="46612" y="1517987"/>
                </a:lnTo>
                <a:lnTo>
                  <a:pt x="22383" y="1501616"/>
                </a:lnTo>
                <a:lnTo>
                  <a:pt x="6012" y="1477387"/>
                </a:lnTo>
                <a:lnTo>
                  <a:pt x="0" y="1447800"/>
                </a:lnTo>
                <a:lnTo>
                  <a:pt x="0" y="76200"/>
                </a:lnTo>
                <a:lnTo>
                  <a:pt x="6012" y="46612"/>
                </a:lnTo>
                <a:lnTo>
                  <a:pt x="22383" y="22383"/>
                </a:lnTo>
                <a:lnTo>
                  <a:pt x="46612" y="6012"/>
                </a:lnTo>
                <a:lnTo>
                  <a:pt x="76200" y="0"/>
                </a:lnTo>
                <a:lnTo>
                  <a:pt x="4210050" y="0"/>
                </a:lnTo>
                <a:lnTo>
                  <a:pt x="4239637" y="6012"/>
                </a:lnTo>
                <a:lnTo>
                  <a:pt x="4263866" y="22383"/>
                </a:lnTo>
                <a:lnTo>
                  <a:pt x="4280237" y="46612"/>
                </a:lnTo>
                <a:lnTo>
                  <a:pt x="4286250" y="76200"/>
                </a:lnTo>
                <a:lnTo>
                  <a:pt x="4286250" y="1447800"/>
                </a:lnTo>
                <a:lnTo>
                  <a:pt x="4280237" y="1477387"/>
                </a:lnTo>
                <a:lnTo>
                  <a:pt x="4263866" y="1501616"/>
                </a:lnTo>
                <a:lnTo>
                  <a:pt x="4239637" y="1517987"/>
                </a:lnTo>
                <a:lnTo>
                  <a:pt x="4210050" y="1524000"/>
                </a:lnTo>
                <a:close/>
              </a:path>
            </a:pathLst>
          </a:custGeom>
          <a:solidFill>
            <a:srgbClr val="1D28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636865" y="3807189"/>
            <a:ext cx="4286250" cy="1501775"/>
          </a:xfrm>
          <a:custGeom>
            <a:avLst/>
            <a:gdLst/>
            <a:ahLst/>
            <a:cxnLst/>
            <a:rect l="l" t="t" r="r" b="b"/>
            <a:pathLst>
              <a:path w="4286250" h="1501775">
                <a:moveTo>
                  <a:pt x="4286250" y="53822"/>
                </a:moveTo>
                <a:lnTo>
                  <a:pt x="4280243" y="24231"/>
                </a:lnTo>
                <a:lnTo>
                  <a:pt x="4263872" y="0"/>
                </a:lnTo>
                <a:lnTo>
                  <a:pt x="4248074" y="15798"/>
                </a:lnTo>
                <a:lnTo>
                  <a:pt x="4257141" y="20180"/>
                </a:lnTo>
                <a:lnTo>
                  <a:pt x="4271467" y="35318"/>
                </a:lnTo>
                <a:lnTo>
                  <a:pt x="4276725" y="53822"/>
                </a:lnTo>
                <a:lnTo>
                  <a:pt x="4276725" y="1425422"/>
                </a:lnTo>
                <a:lnTo>
                  <a:pt x="4271467" y="1451305"/>
                </a:lnTo>
                <a:lnTo>
                  <a:pt x="4257141" y="1472501"/>
                </a:lnTo>
                <a:lnTo>
                  <a:pt x="4235945" y="1486827"/>
                </a:lnTo>
                <a:lnTo>
                  <a:pt x="4210050" y="1492097"/>
                </a:lnTo>
                <a:lnTo>
                  <a:pt x="76200" y="1492097"/>
                </a:lnTo>
                <a:lnTo>
                  <a:pt x="50317" y="1486827"/>
                </a:lnTo>
                <a:lnTo>
                  <a:pt x="29108" y="1472501"/>
                </a:lnTo>
                <a:lnTo>
                  <a:pt x="14795" y="1451305"/>
                </a:lnTo>
                <a:lnTo>
                  <a:pt x="9525" y="1425422"/>
                </a:lnTo>
                <a:lnTo>
                  <a:pt x="9525" y="53822"/>
                </a:lnTo>
                <a:lnTo>
                  <a:pt x="14795" y="35318"/>
                </a:lnTo>
                <a:lnTo>
                  <a:pt x="29108" y="20180"/>
                </a:lnTo>
                <a:lnTo>
                  <a:pt x="38188" y="15798"/>
                </a:lnTo>
                <a:lnTo>
                  <a:pt x="22390" y="0"/>
                </a:lnTo>
                <a:lnTo>
                  <a:pt x="6019" y="24231"/>
                </a:lnTo>
                <a:lnTo>
                  <a:pt x="0" y="53822"/>
                </a:lnTo>
                <a:lnTo>
                  <a:pt x="0" y="1425422"/>
                </a:lnTo>
                <a:lnTo>
                  <a:pt x="6019" y="1455000"/>
                </a:lnTo>
                <a:lnTo>
                  <a:pt x="22390" y="1479232"/>
                </a:lnTo>
                <a:lnTo>
                  <a:pt x="46621" y="1495602"/>
                </a:lnTo>
                <a:lnTo>
                  <a:pt x="76200" y="1501622"/>
                </a:lnTo>
                <a:lnTo>
                  <a:pt x="4210050" y="1501622"/>
                </a:lnTo>
                <a:lnTo>
                  <a:pt x="4263872" y="1479232"/>
                </a:lnTo>
                <a:lnTo>
                  <a:pt x="4286250" y="1425422"/>
                </a:lnTo>
                <a:lnTo>
                  <a:pt x="4286250" y="53822"/>
                </a:lnTo>
                <a:close/>
              </a:path>
            </a:pathLst>
          </a:custGeom>
          <a:solidFill>
            <a:srgbClr val="3341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659258" y="3784800"/>
            <a:ext cx="4241800" cy="38735"/>
          </a:xfrm>
          <a:custGeom>
            <a:avLst/>
            <a:gdLst/>
            <a:ahLst/>
            <a:cxnLst/>
            <a:rect l="l" t="t" r="r" b="b"/>
            <a:pathLst>
              <a:path w="4241800" h="38735">
                <a:moveTo>
                  <a:pt x="15801" y="38185"/>
                </a:moveTo>
                <a:lnTo>
                  <a:pt x="0" y="22383"/>
                </a:lnTo>
                <a:lnTo>
                  <a:pt x="24229" y="6012"/>
                </a:lnTo>
                <a:lnTo>
                  <a:pt x="53816" y="0"/>
                </a:lnTo>
                <a:lnTo>
                  <a:pt x="4187666" y="0"/>
                </a:lnTo>
                <a:lnTo>
                  <a:pt x="4217253" y="6012"/>
                </a:lnTo>
                <a:lnTo>
                  <a:pt x="4241482" y="22383"/>
                </a:lnTo>
                <a:lnTo>
                  <a:pt x="4235291" y="28575"/>
                </a:lnTo>
                <a:lnTo>
                  <a:pt x="53816" y="28575"/>
                </a:lnTo>
                <a:lnTo>
                  <a:pt x="27927" y="32332"/>
                </a:lnTo>
                <a:lnTo>
                  <a:pt x="15801" y="38185"/>
                </a:lnTo>
                <a:close/>
              </a:path>
              <a:path w="4241800" h="38735">
                <a:moveTo>
                  <a:pt x="4225681" y="38185"/>
                </a:moveTo>
                <a:lnTo>
                  <a:pt x="4213555" y="32332"/>
                </a:lnTo>
                <a:lnTo>
                  <a:pt x="4187666" y="28575"/>
                </a:lnTo>
                <a:lnTo>
                  <a:pt x="4235291" y="28575"/>
                </a:lnTo>
                <a:lnTo>
                  <a:pt x="4225681" y="38185"/>
                </a:lnTo>
                <a:close/>
              </a:path>
            </a:pathLst>
          </a:custGeom>
          <a:solidFill>
            <a:srgbClr val="F49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779750" y="4213425"/>
            <a:ext cx="4000500" cy="9525"/>
          </a:xfrm>
          <a:custGeom>
            <a:avLst/>
            <a:gdLst/>
            <a:ahLst/>
            <a:cxnLst/>
            <a:rect l="l" t="t" r="r" b="b"/>
            <a:pathLst>
              <a:path w="4000500" h="9525">
                <a:moveTo>
                  <a:pt x="4000500" y="9525"/>
                </a:moveTo>
                <a:lnTo>
                  <a:pt x="0" y="9525"/>
                </a:lnTo>
                <a:lnTo>
                  <a:pt x="0" y="0"/>
                </a:lnTo>
                <a:lnTo>
                  <a:pt x="4000500" y="0"/>
                </a:lnTo>
                <a:lnTo>
                  <a:pt x="4000500" y="9525"/>
                </a:lnTo>
                <a:close/>
              </a:path>
            </a:pathLst>
          </a:custGeom>
          <a:solidFill>
            <a:srgbClr val="3341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540000" y="5880300"/>
            <a:ext cx="6480175" cy="9525"/>
          </a:xfrm>
          <a:custGeom>
            <a:avLst/>
            <a:gdLst/>
            <a:ahLst/>
            <a:cxnLst/>
            <a:rect l="l" t="t" r="r" b="b"/>
            <a:pathLst>
              <a:path w="6480175" h="9525">
                <a:moveTo>
                  <a:pt x="6480000" y="9525"/>
                </a:moveTo>
                <a:lnTo>
                  <a:pt x="0" y="9525"/>
                </a:lnTo>
                <a:lnTo>
                  <a:pt x="0" y="0"/>
                </a:lnTo>
                <a:lnTo>
                  <a:pt x="6480000" y="0"/>
                </a:lnTo>
                <a:lnTo>
                  <a:pt x="6480000" y="9525"/>
                </a:lnTo>
                <a:close/>
              </a:path>
            </a:pathLst>
          </a:custGeom>
          <a:solidFill>
            <a:srgbClr val="3341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F49E0A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F49E0A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F49E0A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7560309" cy="10692130"/>
          </a:xfrm>
          <a:custGeom>
            <a:avLst/>
            <a:gdLst/>
            <a:ahLst/>
            <a:cxnLst/>
            <a:rect l="l" t="t" r="r" b="b"/>
            <a:pathLst>
              <a:path w="7560309" h="10692130">
                <a:moveTo>
                  <a:pt x="7559999" y="10691999"/>
                </a:moveTo>
                <a:lnTo>
                  <a:pt x="0" y="10691999"/>
                </a:lnTo>
                <a:lnTo>
                  <a:pt x="0" y="0"/>
                </a:lnTo>
                <a:lnTo>
                  <a:pt x="7559999" y="0"/>
                </a:lnTo>
                <a:lnTo>
                  <a:pt x="7559999" y="10691999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40000" y="432000"/>
            <a:ext cx="6480000" cy="68580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540000" y="432000"/>
            <a:ext cx="47625" cy="685800"/>
          </a:xfrm>
          <a:custGeom>
            <a:avLst/>
            <a:gdLst/>
            <a:ahLst/>
            <a:cxnLst/>
            <a:rect l="l" t="t" r="r" b="b"/>
            <a:pathLst>
              <a:path w="47625" h="685800">
                <a:moveTo>
                  <a:pt x="47625" y="685800"/>
                </a:moveTo>
                <a:lnTo>
                  <a:pt x="0" y="685800"/>
                </a:lnTo>
                <a:lnTo>
                  <a:pt x="0" y="0"/>
                </a:lnTo>
                <a:lnTo>
                  <a:pt x="47625" y="0"/>
                </a:lnTo>
                <a:lnTo>
                  <a:pt x="47625" y="685800"/>
                </a:lnTo>
                <a:close/>
              </a:path>
            </a:pathLst>
          </a:custGeom>
          <a:solidFill>
            <a:srgbClr val="F49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11024" y="1165375"/>
            <a:ext cx="594080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F49E0A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05363" y="797100"/>
            <a:ext cx="25285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105" dirty="0">
                <a:solidFill>
                  <a:srgbClr val="93A3B8"/>
                </a:solidFill>
                <a:latin typeface="Microsoft Sans Serif"/>
                <a:cs typeface="Microsoft Sans Serif"/>
              </a:rPr>
              <a:t>PETUNJ</a:t>
            </a:r>
            <a:r>
              <a:rPr sz="1200" spc="-170" dirty="0">
                <a:solidFill>
                  <a:srgbClr val="93A3B8"/>
                </a:solidFill>
                <a:latin typeface="Microsoft Sans Serif"/>
                <a:cs typeface="Microsoft Sans Serif"/>
              </a:rPr>
              <a:t> </a:t>
            </a:r>
            <a:r>
              <a:rPr sz="1200" spc="70" dirty="0">
                <a:solidFill>
                  <a:srgbClr val="93A3B8"/>
                </a:solidFill>
                <a:latin typeface="Microsoft Sans Serif"/>
                <a:cs typeface="Microsoft Sans Serif"/>
              </a:rPr>
              <a:t>UK</a:t>
            </a:r>
            <a:r>
              <a:rPr sz="1200" spc="335" dirty="0">
                <a:solidFill>
                  <a:srgbClr val="93A3B8"/>
                </a:solidFill>
                <a:latin typeface="Microsoft Sans Serif"/>
                <a:cs typeface="Microsoft Sans Serif"/>
              </a:rPr>
              <a:t> </a:t>
            </a:r>
            <a:r>
              <a:rPr sz="1200" spc="105" dirty="0">
                <a:solidFill>
                  <a:srgbClr val="93A3B8"/>
                </a:solidFill>
                <a:latin typeface="Microsoft Sans Serif"/>
                <a:cs typeface="Microsoft Sans Serif"/>
              </a:rPr>
              <a:t>TEKNI</a:t>
            </a:r>
            <a:r>
              <a:rPr sz="1200" spc="-165" dirty="0">
                <a:solidFill>
                  <a:srgbClr val="93A3B8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93A3B8"/>
                </a:solidFill>
                <a:latin typeface="Microsoft Sans Serif"/>
                <a:cs typeface="Microsoft Sans Serif"/>
              </a:rPr>
              <a:t>S</a:t>
            </a:r>
            <a:r>
              <a:rPr sz="1200" spc="335" dirty="0">
                <a:solidFill>
                  <a:srgbClr val="93A3B8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93A3B8"/>
                </a:solidFill>
                <a:latin typeface="Microsoft Sans Serif"/>
                <a:cs typeface="Microsoft Sans Serif"/>
              </a:rPr>
              <a:t>(</a:t>
            </a:r>
            <a:r>
              <a:rPr sz="1200" spc="-195" dirty="0">
                <a:solidFill>
                  <a:srgbClr val="93A3B8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93A3B8"/>
                </a:solidFill>
                <a:latin typeface="Microsoft Sans Serif"/>
                <a:cs typeface="Microsoft Sans Serif"/>
              </a:rPr>
              <a:t>J</a:t>
            </a:r>
            <a:r>
              <a:rPr sz="1200" spc="-165" dirty="0">
                <a:solidFill>
                  <a:srgbClr val="93A3B8"/>
                </a:solidFill>
                <a:latin typeface="Microsoft Sans Serif"/>
                <a:cs typeface="Microsoft Sans Serif"/>
              </a:rPr>
              <a:t> </a:t>
            </a:r>
            <a:r>
              <a:rPr sz="1200" spc="105" dirty="0">
                <a:solidFill>
                  <a:srgbClr val="93A3B8"/>
                </a:solidFill>
                <a:latin typeface="Microsoft Sans Serif"/>
                <a:cs typeface="Microsoft Sans Serif"/>
              </a:rPr>
              <a:t>UKNI</a:t>
            </a:r>
            <a:r>
              <a:rPr sz="1200" spc="45" dirty="0">
                <a:solidFill>
                  <a:srgbClr val="93A3B8"/>
                </a:solidFill>
                <a:latin typeface="Microsoft Sans Serif"/>
                <a:cs typeface="Microsoft Sans Serif"/>
              </a:rPr>
              <a:t>S)</a:t>
            </a:r>
            <a:endParaRPr sz="1200" dirty="0">
              <a:latin typeface="Microsoft Sans Serif"/>
              <a:cs typeface="Microsoft Sans Serif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BDA</a:t>
            </a:r>
            <a:r>
              <a:rPr spc="300" dirty="0"/>
              <a:t> </a:t>
            </a:r>
            <a:r>
              <a:rPr spc="70" dirty="0"/>
              <a:t>SHOOTING</a:t>
            </a:r>
            <a:r>
              <a:rPr spc="300" dirty="0"/>
              <a:t> </a:t>
            </a:r>
            <a:r>
              <a:rPr spc="75" dirty="0"/>
              <a:t>CHAMPIONSHIP</a:t>
            </a:r>
            <a:r>
              <a:rPr spc="300" dirty="0"/>
              <a:t> </a:t>
            </a:r>
            <a:r>
              <a:rPr spc="45" dirty="0"/>
              <a:t>2026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36738" y="1672868"/>
            <a:ext cx="448818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E2E8EF"/>
                </a:solidFill>
                <a:latin typeface="Microsoft Sans Serif"/>
                <a:cs typeface="Microsoft Sans Serif"/>
              </a:rPr>
              <a:t>KEJUARAAN</a:t>
            </a:r>
            <a:r>
              <a:rPr sz="1400" spc="-20" dirty="0">
                <a:solidFill>
                  <a:srgbClr val="E2E8EF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E2E8EF"/>
                </a:solidFill>
                <a:latin typeface="Microsoft Sans Serif"/>
                <a:cs typeface="Microsoft Sans Serif"/>
              </a:rPr>
              <a:t>MENEMBAK</a:t>
            </a:r>
            <a:r>
              <a:rPr sz="1400" spc="-20" dirty="0">
                <a:solidFill>
                  <a:srgbClr val="E2E8EF"/>
                </a:solidFill>
                <a:latin typeface="Microsoft Sans Serif"/>
                <a:cs typeface="Microsoft Sans Serif"/>
              </a:rPr>
              <a:t> PRESISI </a:t>
            </a:r>
            <a:r>
              <a:rPr sz="1400" dirty="0">
                <a:solidFill>
                  <a:srgbClr val="E2E8EF"/>
                </a:solidFill>
                <a:latin typeface="Microsoft Sans Serif"/>
                <a:cs typeface="Microsoft Sans Serif"/>
              </a:rPr>
              <a:t>&amp;</a:t>
            </a:r>
            <a:r>
              <a:rPr sz="1400" spc="-20" dirty="0">
                <a:solidFill>
                  <a:srgbClr val="E2E8EF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E2E8EF"/>
                </a:solidFill>
                <a:latin typeface="Microsoft Sans Serif"/>
                <a:cs typeface="Microsoft Sans Serif"/>
              </a:rPr>
              <a:t>DUELING</a:t>
            </a:r>
            <a:r>
              <a:rPr sz="1400" spc="-20" dirty="0">
                <a:solidFill>
                  <a:srgbClr val="E2E8EF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E2E8EF"/>
                </a:solidFill>
                <a:latin typeface="Microsoft Sans Serif"/>
                <a:cs typeface="Microsoft Sans Serif"/>
              </a:rPr>
              <a:t>PLAT</a:t>
            </a:r>
            <a:endParaRPr sz="1400" dirty="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157754" y="2337000"/>
            <a:ext cx="3244850" cy="685800"/>
            <a:chOff x="2157754" y="2337000"/>
            <a:chExt cx="3244850" cy="685800"/>
          </a:xfrm>
        </p:grpSpPr>
        <p:sp>
          <p:nvSpPr>
            <p:cNvPr id="6" name="object 6"/>
            <p:cNvSpPr/>
            <p:nvPr/>
          </p:nvSpPr>
          <p:spPr>
            <a:xfrm>
              <a:off x="2157754" y="2337000"/>
              <a:ext cx="3244850" cy="685800"/>
            </a:xfrm>
            <a:custGeom>
              <a:avLst/>
              <a:gdLst/>
              <a:ahLst/>
              <a:cxnLst/>
              <a:rect l="l" t="t" r="r" b="b"/>
              <a:pathLst>
                <a:path w="3244850" h="685800">
                  <a:moveTo>
                    <a:pt x="2958740" y="685800"/>
                  </a:moveTo>
                  <a:lnTo>
                    <a:pt x="285750" y="685800"/>
                  </a:lnTo>
                  <a:lnTo>
                    <a:pt x="239558" y="682042"/>
                  </a:lnTo>
                  <a:lnTo>
                    <a:pt x="195681" y="671169"/>
                  </a:lnTo>
                  <a:lnTo>
                    <a:pt x="154719" y="653781"/>
                  </a:lnTo>
                  <a:lnTo>
                    <a:pt x="117271" y="630478"/>
                  </a:lnTo>
                  <a:lnTo>
                    <a:pt x="83939" y="601860"/>
                  </a:lnTo>
                  <a:lnTo>
                    <a:pt x="55321" y="568528"/>
                  </a:lnTo>
                  <a:lnTo>
                    <a:pt x="32018" y="531080"/>
                  </a:lnTo>
                  <a:lnTo>
                    <a:pt x="14630" y="490118"/>
                  </a:lnTo>
                  <a:lnTo>
                    <a:pt x="3757" y="446241"/>
                  </a:lnTo>
                  <a:lnTo>
                    <a:pt x="0" y="400050"/>
                  </a:lnTo>
                  <a:lnTo>
                    <a:pt x="0" y="285750"/>
                  </a:lnTo>
                  <a:lnTo>
                    <a:pt x="3757" y="239558"/>
                  </a:lnTo>
                  <a:lnTo>
                    <a:pt x="14630" y="195681"/>
                  </a:lnTo>
                  <a:lnTo>
                    <a:pt x="32018" y="154719"/>
                  </a:lnTo>
                  <a:lnTo>
                    <a:pt x="55321" y="117271"/>
                  </a:lnTo>
                  <a:lnTo>
                    <a:pt x="83939" y="83939"/>
                  </a:lnTo>
                  <a:lnTo>
                    <a:pt x="117271" y="55321"/>
                  </a:lnTo>
                  <a:lnTo>
                    <a:pt x="154719" y="32018"/>
                  </a:lnTo>
                  <a:lnTo>
                    <a:pt x="195681" y="14630"/>
                  </a:lnTo>
                  <a:lnTo>
                    <a:pt x="239558" y="3757"/>
                  </a:lnTo>
                  <a:lnTo>
                    <a:pt x="285750" y="0"/>
                  </a:lnTo>
                  <a:lnTo>
                    <a:pt x="2958740" y="0"/>
                  </a:lnTo>
                  <a:lnTo>
                    <a:pt x="3004931" y="3757"/>
                  </a:lnTo>
                  <a:lnTo>
                    <a:pt x="3048808" y="14630"/>
                  </a:lnTo>
                  <a:lnTo>
                    <a:pt x="3089771" y="32018"/>
                  </a:lnTo>
                  <a:lnTo>
                    <a:pt x="3127218" y="55321"/>
                  </a:lnTo>
                  <a:lnTo>
                    <a:pt x="3160551" y="83939"/>
                  </a:lnTo>
                  <a:lnTo>
                    <a:pt x="3189169" y="117271"/>
                  </a:lnTo>
                  <a:lnTo>
                    <a:pt x="3212472" y="154719"/>
                  </a:lnTo>
                  <a:lnTo>
                    <a:pt x="3229860" y="195681"/>
                  </a:lnTo>
                  <a:lnTo>
                    <a:pt x="3240732" y="239558"/>
                  </a:lnTo>
                  <a:lnTo>
                    <a:pt x="3244490" y="285750"/>
                  </a:lnTo>
                  <a:lnTo>
                    <a:pt x="3244490" y="400050"/>
                  </a:lnTo>
                  <a:lnTo>
                    <a:pt x="3240732" y="446241"/>
                  </a:lnTo>
                  <a:lnTo>
                    <a:pt x="3229860" y="490118"/>
                  </a:lnTo>
                  <a:lnTo>
                    <a:pt x="3212472" y="531080"/>
                  </a:lnTo>
                  <a:lnTo>
                    <a:pt x="3189169" y="568528"/>
                  </a:lnTo>
                  <a:lnTo>
                    <a:pt x="3160551" y="601860"/>
                  </a:lnTo>
                  <a:lnTo>
                    <a:pt x="3127218" y="630478"/>
                  </a:lnTo>
                  <a:lnTo>
                    <a:pt x="3089771" y="653781"/>
                  </a:lnTo>
                  <a:lnTo>
                    <a:pt x="3048808" y="671169"/>
                  </a:lnTo>
                  <a:lnTo>
                    <a:pt x="3004931" y="682042"/>
                  </a:lnTo>
                  <a:lnTo>
                    <a:pt x="2958740" y="685800"/>
                  </a:lnTo>
                  <a:close/>
                </a:path>
              </a:pathLst>
            </a:custGeom>
            <a:solidFill>
              <a:srgbClr val="1D28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57754" y="2337000"/>
              <a:ext cx="3244850" cy="685800"/>
            </a:xfrm>
            <a:custGeom>
              <a:avLst/>
              <a:gdLst/>
              <a:ahLst/>
              <a:cxnLst/>
              <a:rect l="l" t="t" r="r" b="b"/>
              <a:pathLst>
                <a:path w="3244850" h="685800">
                  <a:moveTo>
                    <a:pt x="2958740" y="685800"/>
                  </a:moveTo>
                  <a:lnTo>
                    <a:pt x="285750" y="685800"/>
                  </a:lnTo>
                  <a:lnTo>
                    <a:pt x="239558" y="682042"/>
                  </a:lnTo>
                  <a:lnTo>
                    <a:pt x="195681" y="671169"/>
                  </a:lnTo>
                  <a:lnTo>
                    <a:pt x="154719" y="653781"/>
                  </a:lnTo>
                  <a:lnTo>
                    <a:pt x="117271" y="630478"/>
                  </a:lnTo>
                  <a:lnTo>
                    <a:pt x="83939" y="601860"/>
                  </a:lnTo>
                  <a:lnTo>
                    <a:pt x="55321" y="568528"/>
                  </a:lnTo>
                  <a:lnTo>
                    <a:pt x="32018" y="531080"/>
                  </a:lnTo>
                  <a:lnTo>
                    <a:pt x="14630" y="490118"/>
                  </a:lnTo>
                  <a:lnTo>
                    <a:pt x="3757" y="446241"/>
                  </a:lnTo>
                  <a:lnTo>
                    <a:pt x="0" y="400050"/>
                  </a:lnTo>
                  <a:lnTo>
                    <a:pt x="0" y="285750"/>
                  </a:lnTo>
                  <a:lnTo>
                    <a:pt x="3757" y="239558"/>
                  </a:lnTo>
                  <a:lnTo>
                    <a:pt x="14630" y="195681"/>
                  </a:lnTo>
                  <a:lnTo>
                    <a:pt x="32018" y="154719"/>
                  </a:lnTo>
                  <a:lnTo>
                    <a:pt x="55321" y="117271"/>
                  </a:lnTo>
                  <a:lnTo>
                    <a:pt x="83939" y="83939"/>
                  </a:lnTo>
                  <a:lnTo>
                    <a:pt x="117271" y="55321"/>
                  </a:lnTo>
                  <a:lnTo>
                    <a:pt x="154719" y="32018"/>
                  </a:lnTo>
                  <a:lnTo>
                    <a:pt x="195681" y="14630"/>
                  </a:lnTo>
                  <a:lnTo>
                    <a:pt x="239558" y="3757"/>
                  </a:lnTo>
                  <a:lnTo>
                    <a:pt x="285750" y="0"/>
                  </a:lnTo>
                  <a:lnTo>
                    <a:pt x="2958740" y="0"/>
                  </a:lnTo>
                  <a:lnTo>
                    <a:pt x="3004931" y="3757"/>
                  </a:lnTo>
                  <a:lnTo>
                    <a:pt x="3048808" y="14630"/>
                  </a:lnTo>
                  <a:lnTo>
                    <a:pt x="3059220" y="19050"/>
                  </a:lnTo>
                  <a:lnTo>
                    <a:pt x="285750" y="19050"/>
                  </a:lnTo>
                  <a:lnTo>
                    <a:pt x="237970" y="23366"/>
                  </a:lnTo>
                  <a:lnTo>
                    <a:pt x="192935" y="35805"/>
                  </a:lnTo>
                  <a:lnTo>
                    <a:pt x="151412" y="55597"/>
                  </a:lnTo>
                  <a:lnTo>
                    <a:pt x="114169" y="81975"/>
                  </a:lnTo>
                  <a:lnTo>
                    <a:pt x="81975" y="114169"/>
                  </a:lnTo>
                  <a:lnTo>
                    <a:pt x="55597" y="151412"/>
                  </a:lnTo>
                  <a:lnTo>
                    <a:pt x="35805" y="192935"/>
                  </a:lnTo>
                  <a:lnTo>
                    <a:pt x="23366" y="237970"/>
                  </a:lnTo>
                  <a:lnTo>
                    <a:pt x="19050" y="285750"/>
                  </a:lnTo>
                  <a:lnTo>
                    <a:pt x="19050" y="400050"/>
                  </a:lnTo>
                  <a:lnTo>
                    <a:pt x="23366" y="447829"/>
                  </a:lnTo>
                  <a:lnTo>
                    <a:pt x="35805" y="492864"/>
                  </a:lnTo>
                  <a:lnTo>
                    <a:pt x="55597" y="534387"/>
                  </a:lnTo>
                  <a:lnTo>
                    <a:pt x="81975" y="571630"/>
                  </a:lnTo>
                  <a:lnTo>
                    <a:pt x="114169" y="603824"/>
                  </a:lnTo>
                  <a:lnTo>
                    <a:pt x="151412" y="630202"/>
                  </a:lnTo>
                  <a:lnTo>
                    <a:pt x="192935" y="649994"/>
                  </a:lnTo>
                  <a:lnTo>
                    <a:pt x="237970" y="662433"/>
                  </a:lnTo>
                  <a:lnTo>
                    <a:pt x="285750" y="666750"/>
                  </a:lnTo>
                  <a:lnTo>
                    <a:pt x="3059220" y="666750"/>
                  </a:lnTo>
                  <a:lnTo>
                    <a:pt x="3048808" y="671169"/>
                  </a:lnTo>
                  <a:lnTo>
                    <a:pt x="3004931" y="682042"/>
                  </a:lnTo>
                  <a:lnTo>
                    <a:pt x="2958740" y="685800"/>
                  </a:lnTo>
                  <a:close/>
                </a:path>
                <a:path w="3244850" h="685800">
                  <a:moveTo>
                    <a:pt x="3059220" y="666750"/>
                  </a:moveTo>
                  <a:lnTo>
                    <a:pt x="2958740" y="666750"/>
                  </a:lnTo>
                  <a:lnTo>
                    <a:pt x="3006519" y="662433"/>
                  </a:lnTo>
                  <a:lnTo>
                    <a:pt x="3051554" y="649994"/>
                  </a:lnTo>
                  <a:lnTo>
                    <a:pt x="3093078" y="630202"/>
                  </a:lnTo>
                  <a:lnTo>
                    <a:pt x="3130321" y="603824"/>
                  </a:lnTo>
                  <a:lnTo>
                    <a:pt x="3162515" y="571630"/>
                  </a:lnTo>
                  <a:lnTo>
                    <a:pt x="3188892" y="534387"/>
                  </a:lnTo>
                  <a:lnTo>
                    <a:pt x="3208684" y="492864"/>
                  </a:lnTo>
                  <a:lnTo>
                    <a:pt x="3221123" y="447829"/>
                  </a:lnTo>
                  <a:lnTo>
                    <a:pt x="3225440" y="400050"/>
                  </a:lnTo>
                  <a:lnTo>
                    <a:pt x="3225440" y="285750"/>
                  </a:lnTo>
                  <a:lnTo>
                    <a:pt x="3221123" y="237970"/>
                  </a:lnTo>
                  <a:lnTo>
                    <a:pt x="3208684" y="192935"/>
                  </a:lnTo>
                  <a:lnTo>
                    <a:pt x="3188892" y="151412"/>
                  </a:lnTo>
                  <a:lnTo>
                    <a:pt x="3162515" y="114169"/>
                  </a:lnTo>
                  <a:lnTo>
                    <a:pt x="3130321" y="81975"/>
                  </a:lnTo>
                  <a:lnTo>
                    <a:pt x="3093078" y="55597"/>
                  </a:lnTo>
                  <a:lnTo>
                    <a:pt x="3051554" y="35805"/>
                  </a:lnTo>
                  <a:lnTo>
                    <a:pt x="3006519" y="23366"/>
                  </a:lnTo>
                  <a:lnTo>
                    <a:pt x="2958740" y="19050"/>
                  </a:lnTo>
                  <a:lnTo>
                    <a:pt x="3059220" y="19050"/>
                  </a:lnTo>
                  <a:lnTo>
                    <a:pt x="3127218" y="55321"/>
                  </a:lnTo>
                  <a:lnTo>
                    <a:pt x="3160551" y="83939"/>
                  </a:lnTo>
                  <a:lnTo>
                    <a:pt x="3189169" y="117271"/>
                  </a:lnTo>
                  <a:lnTo>
                    <a:pt x="3212472" y="154719"/>
                  </a:lnTo>
                  <a:lnTo>
                    <a:pt x="3229860" y="195681"/>
                  </a:lnTo>
                  <a:lnTo>
                    <a:pt x="3240732" y="239558"/>
                  </a:lnTo>
                  <a:lnTo>
                    <a:pt x="3244490" y="285750"/>
                  </a:lnTo>
                  <a:lnTo>
                    <a:pt x="3244490" y="400050"/>
                  </a:lnTo>
                  <a:lnTo>
                    <a:pt x="3240732" y="446241"/>
                  </a:lnTo>
                  <a:lnTo>
                    <a:pt x="3229860" y="490118"/>
                  </a:lnTo>
                  <a:lnTo>
                    <a:pt x="3212472" y="531080"/>
                  </a:lnTo>
                  <a:lnTo>
                    <a:pt x="3189169" y="568528"/>
                  </a:lnTo>
                  <a:lnTo>
                    <a:pt x="3160551" y="601860"/>
                  </a:lnTo>
                  <a:lnTo>
                    <a:pt x="3127218" y="630478"/>
                  </a:lnTo>
                  <a:lnTo>
                    <a:pt x="3089771" y="653781"/>
                  </a:lnTo>
                  <a:lnTo>
                    <a:pt x="3059220" y="666750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402229" y="2573379"/>
            <a:ext cx="3000375" cy="1862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3530" marR="5080" indent="-291465">
              <a:lnSpc>
                <a:spcPct val="125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7F9FB"/>
                </a:solidFill>
                <a:latin typeface="Arial"/>
                <a:cs typeface="Arial"/>
              </a:rPr>
              <a:t>LAPANGAN</a:t>
            </a:r>
            <a:r>
              <a:rPr sz="1000" b="1" spc="-45" dirty="0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7F9FB"/>
                </a:solidFill>
                <a:latin typeface="Arial"/>
                <a:cs typeface="Arial"/>
              </a:rPr>
              <a:t>RESIMEN</a:t>
            </a:r>
            <a:r>
              <a:rPr sz="1000" b="1" spc="-45" dirty="0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7F9FB"/>
                </a:solidFill>
                <a:latin typeface="Arial"/>
                <a:cs typeface="Arial"/>
              </a:rPr>
              <a:t>I</a:t>
            </a:r>
            <a:r>
              <a:rPr sz="1000" b="1" spc="-40" dirty="0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7F9FB"/>
                </a:solidFill>
                <a:latin typeface="Arial"/>
                <a:cs typeface="Arial"/>
              </a:rPr>
              <a:t>PASUKAN</a:t>
            </a:r>
            <a:r>
              <a:rPr sz="1000" b="1" spc="-40" dirty="0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7F9FB"/>
                </a:solidFill>
                <a:latin typeface="Arial"/>
                <a:cs typeface="Arial"/>
              </a:rPr>
              <a:t>PELOPOR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58024" y="3931093"/>
            <a:ext cx="125730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F49E0A"/>
                </a:solidFill>
                <a:latin typeface="Microsoft Sans Serif"/>
                <a:cs typeface="Microsoft Sans Serif"/>
              </a:rPr>
              <a:t>PENYELENGGARA</a:t>
            </a:r>
            <a:endParaRPr sz="1100" dirty="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36900" y="4360118"/>
            <a:ext cx="64198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50" b="1" spc="-10" dirty="0">
                <a:solidFill>
                  <a:srgbClr val="CAD4E1"/>
                </a:solidFill>
                <a:latin typeface="Arial"/>
                <a:cs typeface="Arial"/>
              </a:rPr>
              <a:t>Pelaksana:</a:t>
            </a:r>
            <a:endParaRPr sz="95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01811" y="4360118"/>
            <a:ext cx="2171700" cy="3052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50" b="1" spc="-10" dirty="0">
                <a:solidFill>
                  <a:srgbClr val="CAD4E1"/>
                </a:solidFill>
                <a:latin typeface="Microsoft Sans Serif"/>
                <a:cs typeface="Microsoft Sans Serif"/>
              </a:rPr>
              <a:t>BRIGADE</a:t>
            </a:r>
            <a:r>
              <a:rPr sz="950" b="1" spc="-20" dirty="0">
                <a:solidFill>
                  <a:srgbClr val="CAD4E1"/>
                </a:solidFill>
                <a:latin typeface="Microsoft Sans Serif"/>
                <a:cs typeface="Microsoft Sans Serif"/>
              </a:rPr>
              <a:t> </a:t>
            </a:r>
            <a:r>
              <a:rPr sz="950" b="1" spc="-30" dirty="0">
                <a:solidFill>
                  <a:srgbClr val="CAD4E1"/>
                </a:solidFill>
                <a:latin typeface="Microsoft Sans Serif"/>
                <a:cs typeface="Microsoft Sans Serif"/>
              </a:rPr>
              <a:t>DIRAYA</a:t>
            </a:r>
            <a:r>
              <a:rPr sz="950" b="1" spc="-20" dirty="0">
                <a:solidFill>
                  <a:srgbClr val="CAD4E1"/>
                </a:solidFill>
                <a:latin typeface="Microsoft Sans Serif"/>
                <a:cs typeface="Microsoft Sans Serif"/>
              </a:rPr>
              <a:t> </a:t>
            </a:r>
            <a:r>
              <a:rPr sz="950" b="1" dirty="0">
                <a:solidFill>
                  <a:srgbClr val="CAD4E1"/>
                </a:solidFill>
                <a:latin typeface="Microsoft Sans Serif"/>
                <a:cs typeface="Microsoft Sans Serif"/>
              </a:rPr>
              <a:t>ADIKARA</a:t>
            </a:r>
            <a:r>
              <a:rPr sz="950" b="1" spc="-20" dirty="0">
                <a:solidFill>
                  <a:srgbClr val="CAD4E1"/>
                </a:solidFill>
                <a:latin typeface="Microsoft Sans Serif"/>
                <a:cs typeface="Microsoft Sans Serif"/>
              </a:rPr>
              <a:t> </a:t>
            </a:r>
            <a:r>
              <a:rPr sz="950" b="1" dirty="0">
                <a:solidFill>
                  <a:srgbClr val="CAD4E1"/>
                </a:solidFill>
                <a:latin typeface="Microsoft Sans Serif"/>
                <a:cs typeface="Microsoft Sans Serif"/>
              </a:rPr>
              <a:t>(BDA</a:t>
            </a:r>
            <a:r>
              <a:rPr sz="950" b="1" spc="-20" dirty="0">
                <a:solidFill>
                  <a:srgbClr val="CAD4E1"/>
                </a:solidFill>
                <a:latin typeface="Microsoft Sans Serif"/>
                <a:cs typeface="Microsoft Sans Serif"/>
              </a:rPr>
              <a:t> 750 KEDUNG HALANG BOGOR)</a:t>
            </a:r>
            <a:endParaRPr sz="950" b="1" dirty="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36900" y="4636343"/>
            <a:ext cx="43434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50" b="1" spc="-10" dirty="0">
                <a:solidFill>
                  <a:srgbClr val="CAD4E1"/>
                </a:solidFill>
                <a:latin typeface="Arial"/>
                <a:cs typeface="Arial"/>
              </a:rPr>
              <a:t>Lokasi:</a:t>
            </a:r>
            <a:endParaRPr sz="9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01811" y="4636343"/>
            <a:ext cx="149923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CAD4E1"/>
                </a:solidFill>
                <a:latin typeface="Microsoft Sans Serif"/>
                <a:cs typeface="Microsoft Sans Serif"/>
              </a:rPr>
              <a:t>Resimen</a:t>
            </a:r>
            <a:r>
              <a:rPr sz="950" spc="-10" dirty="0">
                <a:solidFill>
                  <a:srgbClr val="CAD4E1"/>
                </a:solidFill>
                <a:latin typeface="Microsoft Sans Serif"/>
                <a:cs typeface="Microsoft Sans Serif"/>
              </a:rPr>
              <a:t> </a:t>
            </a:r>
            <a:r>
              <a:rPr sz="950" dirty="0">
                <a:solidFill>
                  <a:srgbClr val="CAD4E1"/>
                </a:solidFill>
                <a:latin typeface="Microsoft Sans Serif"/>
                <a:cs typeface="Microsoft Sans Serif"/>
              </a:rPr>
              <a:t>I</a:t>
            </a:r>
            <a:r>
              <a:rPr sz="950" spc="-10" dirty="0">
                <a:solidFill>
                  <a:srgbClr val="CAD4E1"/>
                </a:solidFill>
                <a:latin typeface="Microsoft Sans Serif"/>
                <a:cs typeface="Microsoft Sans Serif"/>
              </a:rPr>
              <a:t> </a:t>
            </a:r>
            <a:r>
              <a:rPr sz="950" dirty="0">
                <a:solidFill>
                  <a:srgbClr val="CAD4E1"/>
                </a:solidFill>
                <a:latin typeface="Microsoft Sans Serif"/>
                <a:cs typeface="Microsoft Sans Serif"/>
              </a:rPr>
              <a:t>Pasukan</a:t>
            </a:r>
            <a:r>
              <a:rPr sz="950" spc="-10" dirty="0">
                <a:solidFill>
                  <a:srgbClr val="CAD4E1"/>
                </a:solidFill>
                <a:latin typeface="Microsoft Sans Serif"/>
                <a:cs typeface="Microsoft Sans Serif"/>
              </a:rPr>
              <a:t> Pelopor</a:t>
            </a:r>
            <a:endParaRPr sz="950" dirty="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36900" y="4912568"/>
            <a:ext cx="40640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50" b="1" spc="-10" dirty="0">
                <a:solidFill>
                  <a:srgbClr val="CAD4E1"/>
                </a:solidFill>
                <a:latin typeface="Arial"/>
                <a:cs typeface="Arial"/>
              </a:rPr>
              <a:t>Tahun:</a:t>
            </a:r>
            <a:endParaRPr sz="9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01811" y="4912568"/>
            <a:ext cx="28130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CAD4E1"/>
                </a:solidFill>
                <a:latin typeface="Microsoft Sans Serif"/>
                <a:cs typeface="Microsoft Sans Serif"/>
              </a:rPr>
              <a:t>2026</a:t>
            </a:r>
            <a:endParaRPr sz="950">
              <a:latin typeface="Microsoft Sans Serif"/>
              <a:cs typeface="Microsoft Sans Serif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C369A3E-E376-4476-8450-C1F1923EAFF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11" b="93388" l="9936" r="89904">
                        <a14:foregroundMark x1="31571" y1="18595" x2="31571" y2="18595"/>
                        <a14:foregroundMark x1="38622" y1="19215" x2="38622" y2="19215"/>
                        <a14:foregroundMark x1="61218" y1="20041" x2="61218" y2="20041"/>
                        <a14:foregroundMark x1="56571" y1="14876" x2="56571" y2="14876"/>
                        <a14:foregroundMark x1="66026" y1="19835" x2="66026" y2="19835"/>
                        <a14:foregroundMark x1="76603" y1="36570" x2="76603" y2="36570"/>
                        <a14:foregroundMark x1="54647" y1="91942" x2="54647" y2="91942"/>
                        <a14:foregroundMark x1="48718" y1="92562" x2="45833" y2="90909"/>
                        <a14:foregroundMark x1="45833" y1="91942" x2="43429" y2="89669"/>
                        <a14:foregroundMark x1="45833" y1="91322" x2="45833" y2="91322"/>
                        <a14:foregroundMark x1="45833" y1="91322" x2="45833" y2="91322"/>
                        <a14:foregroundMark x1="45833" y1="91322" x2="45833" y2="91322"/>
                        <a14:foregroundMark x1="46314" y1="92355" x2="44231" y2="90083"/>
                        <a14:foregroundMark x1="48397" y1="92355" x2="52885" y2="92355"/>
                        <a14:foregroundMark x1="48397" y1="91322" x2="50160" y2="92355"/>
                        <a14:foregroundMark x1="51923" y1="92975" x2="52083" y2="93182"/>
                        <a14:foregroundMark x1="52244" y1="93388" x2="52244" y2="93388"/>
                        <a14:foregroundMark x1="53045" y1="93182" x2="50801" y2="92562"/>
                        <a14:foregroundMark x1="39583" y1="15496" x2="38622" y2="14050"/>
                        <a14:foregroundMark x1="39583" y1="17355" x2="39103" y2="14876"/>
                        <a14:foregroundMark x1="39744" y1="17355" x2="39744" y2="15909"/>
                        <a14:foregroundMark x1="40064" y1="15702" x2="37821" y2="13430"/>
                        <a14:foregroundMark x1="30609" y1="38017" x2="30609" y2="38017"/>
                        <a14:foregroundMark x1="32853" y1="20248" x2="32853" y2="20248"/>
                        <a14:foregroundMark x1="32853" y1="20248" x2="32853" y2="20248"/>
                        <a14:foregroundMark x1="32853" y1="20248" x2="32853" y2="20248"/>
                        <a14:foregroundMark x1="32853" y1="20248" x2="32853" y2="20248"/>
                        <a14:foregroundMark x1="31891" y1="16736" x2="31891" y2="16736"/>
                        <a14:foregroundMark x1="32372" y1="17355" x2="32372" y2="17355"/>
                        <a14:foregroundMark x1="32372" y1="17355" x2="31090" y2="18182"/>
                        <a14:foregroundMark x1="32372" y1="16942" x2="31891" y2="17355"/>
                        <a14:foregroundMark x1="32212" y1="17355" x2="30929" y2="17562"/>
                        <a14:backgroundMark x1="53586" y1="94425" x2="58494" y2="9628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4708" y="6402475"/>
            <a:ext cx="3268232" cy="2536252"/>
          </a:xfrm>
          <a:prstGeom prst="rect">
            <a:avLst/>
          </a:prstGeom>
        </p:spPr>
      </p:pic>
      <p:grpSp>
        <p:nvGrpSpPr>
          <p:cNvPr id="18" name="object 5">
            <a:extLst>
              <a:ext uri="{FF2B5EF4-FFF2-40B4-BE49-F238E27FC236}">
                <a16:creationId xmlns:a16="http://schemas.microsoft.com/office/drawing/2014/main" id="{E10E73F3-264D-4DB5-8BC5-7158F7397F60}"/>
              </a:ext>
            </a:extLst>
          </p:cNvPr>
          <p:cNvGrpSpPr/>
          <p:nvPr/>
        </p:nvGrpSpPr>
        <p:grpSpPr>
          <a:xfrm>
            <a:off x="2146416" y="5683678"/>
            <a:ext cx="3259561" cy="582573"/>
            <a:chOff x="2143043" y="2337000"/>
            <a:chExt cx="3259561" cy="762880"/>
          </a:xfrm>
        </p:grpSpPr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6A9A48BA-D051-431E-8826-914B52736B03}"/>
                </a:ext>
              </a:extLst>
            </p:cNvPr>
            <p:cNvSpPr/>
            <p:nvPr/>
          </p:nvSpPr>
          <p:spPr>
            <a:xfrm>
              <a:off x="2143043" y="2414080"/>
              <a:ext cx="3244850" cy="685800"/>
            </a:xfrm>
            <a:custGeom>
              <a:avLst/>
              <a:gdLst/>
              <a:ahLst/>
              <a:cxnLst/>
              <a:rect l="l" t="t" r="r" b="b"/>
              <a:pathLst>
                <a:path w="3244850" h="685800">
                  <a:moveTo>
                    <a:pt x="2958740" y="685800"/>
                  </a:moveTo>
                  <a:lnTo>
                    <a:pt x="285750" y="685800"/>
                  </a:lnTo>
                  <a:lnTo>
                    <a:pt x="239558" y="682042"/>
                  </a:lnTo>
                  <a:lnTo>
                    <a:pt x="195681" y="671169"/>
                  </a:lnTo>
                  <a:lnTo>
                    <a:pt x="154719" y="653781"/>
                  </a:lnTo>
                  <a:lnTo>
                    <a:pt x="117271" y="630478"/>
                  </a:lnTo>
                  <a:lnTo>
                    <a:pt x="83939" y="601860"/>
                  </a:lnTo>
                  <a:lnTo>
                    <a:pt x="55321" y="568528"/>
                  </a:lnTo>
                  <a:lnTo>
                    <a:pt x="32018" y="531080"/>
                  </a:lnTo>
                  <a:lnTo>
                    <a:pt x="14630" y="490118"/>
                  </a:lnTo>
                  <a:lnTo>
                    <a:pt x="3757" y="446241"/>
                  </a:lnTo>
                  <a:lnTo>
                    <a:pt x="0" y="400050"/>
                  </a:lnTo>
                  <a:lnTo>
                    <a:pt x="0" y="285750"/>
                  </a:lnTo>
                  <a:lnTo>
                    <a:pt x="3757" y="239558"/>
                  </a:lnTo>
                  <a:lnTo>
                    <a:pt x="14630" y="195681"/>
                  </a:lnTo>
                  <a:lnTo>
                    <a:pt x="32018" y="154719"/>
                  </a:lnTo>
                  <a:lnTo>
                    <a:pt x="55321" y="117271"/>
                  </a:lnTo>
                  <a:lnTo>
                    <a:pt x="83939" y="83939"/>
                  </a:lnTo>
                  <a:lnTo>
                    <a:pt x="117271" y="55321"/>
                  </a:lnTo>
                  <a:lnTo>
                    <a:pt x="154719" y="32018"/>
                  </a:lnTo>
                  <a:lnTo>
                    <a:pt x="195681" y="14630"/>
                  </a:lnTo>
                  <a:lnTo>
                    <a:pt x="239558" y="3757"/>
                  </a:lnTo>
                  <a:lnTo>
                    <a:pt x="285750" y="0"/>
                  </a:lnTo>
                  <a:lnTo>
                    <a:pt x="2958740" y="0"/>
                  </a:lnTo>
                  <a:lnTo>
                    <a:pt x="3004931" y="3757"/>
                  </a:lnTo>
                  <a:lnTo>
                    <a:pt x="3048808" y="14630"/>
                  </a:lnTo>
                  <a:lnTo>
                    <a:pt x="3089771" y="32018"/>
                  </a:lnTo>
                  <a:lnTo>
                    <a:pt x="3127218" y="55321"/>
                  </a:lnTo>
                  <a:lnTo>
                    <a:pt x="3160551" y="83939"/>
                  </a:lnTo>
                  <a:lnTo>
                    <a:pt x="3189169" y="117271"/>
                  </a:lnTo>
                  <a:lnTo>
                    <a:pt x="3212472" y="154719"/>
                  </a:lnTo>
                  <a:lnTo>
                    <a:pt x="3229860" y="195681"/>
                  </a:lnTo>
                  <a:lnTo>
                    <a:pt x="3240732" y="239558"/>
                  </a:lnTo>
                  <a:lnTo>
                    <a:pt x="3244490" y="285750"/>
                  </a:lnTo>
                  <a:lnTo>
                    <a:pt x="3244490" y="400050"/>
                  </a:lnTo>
                  <a:lnTo>
                    <a:pt x="3240732" y="446241"/>
                  </a:lnTo>
                  <a:lnTo>
                    <a:pt x="3229860" y="490118"/>
                  </a:lnTo>
                  <a:lnTo>
                    <a:pt x="3212472" y="531080"/>
                  </a:lnTo>
                  <a:lnTo>
                    <a:pt x="3189169" y="568528"/>
                  </a:lnTo>
                  <a:lnTo>
                    <a:pt x="3160551" y="601860"/>
                  </a:lnTo>
                  <a:lnTo>
                    <a:pt x="3127218" y="630478"/>
                  </a:lnTo>
                  <a:lnTo>
                    <a:pt x="3089771" y="653781"/>
                  </a:lnTo>
                  <a:lnTo>
                    <a:pt x="3048808" y="671169"/>
                  </a:lnTo>
                  <a:lnTo>
                    <a:pt x="3004931" y="682042"/>
                  </a:lnTo>
                  <a:lnTo>
                    <a:pt x="2958740" y="685800"/>
                  </a:lnTo>
                  <a:close/>
                </a:path>
              </a:pathLst>
            </a:custGeom>
            <a:solidFill>
              <a:srgbClr val="1D283B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ID" sz="1200" b="1" dirty="0">
                  <a:solidFill>
                    <a:schemeClr val="bg1"/>
                  </a:solidFill>
                </a:rPr>
                <a:t>MAJU</a:t>
              </a:r>
              <a:endParaRPr lang="id-ID" sz="1200" b="1" dirty="0">
                <a:solidFill>
                  <a:schemeClr val="bg1"/>
                </a:solidFill>
              </a:endParaRPr>
            </a:p>
            <a:p>
              <a:pPr algn="ctr"/>
              <a:r>
                <a:rPr lang="id-ID" sz="1200" b="1" i="1" dirty="0">
                  <a:solidFill>
                    <a:schemeClr val="bg1"/>
                  </a:solidFill>
                </a:rPr>
                <a:t>Melangkah, Aktif, Jelas, Unggul</a:t>
              </a:r>
              <a:endParaRPr lang="en-ID" sz="1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21" name="object 7">
              <a:extLst>
                <a:ext uri="{FF2B5EF4-FFF2-40B4-BE49-F238E27FC236}">
                  <a16:creationId xmlns:a16="http://schemas.microsoft.com/office/drawing/2014/main" id="{BD833512-D434-4544-8ADE-FB17ED0E8708}"/>
                </a:ext>
              </a:extLst>
            </p:cNvPr>
            <p:cNvSpPr/>
            <p:nvPr/>
          </p:nvSpPr>
          <p:spPr>
            <a:xfrm>
              <a:off x="2157754" y="2337000"/>
              <a:ext cx="3244850" cy="685800"/>
            </a:xfrm>
            <a:custGeom>
              <a:avLst/>
              <a:gdLst/>
              <a:ahLst/>
              <a:cxnLst/>
              <a:rect l="l" t="t" r="r" b="b"/>
              <a:pathLst>
                <a:path w="3244850" h="685800">
                  <a:moveTo>
                    <a:pt x="2958740" y="685800"/>
                  </a:moveTo>
                  <a:lnTo>
                    <a:pt x="285750" y="685800"/>
                  </a:lnTo>
                  <a:lnTo>
                    <a:pt x="239558" y="682042"/>
                  </a:lnTo>
                  <a:lnTo>
                    <a:pt x="195681" y="671169"/>
                  </a:lnTo>
                  <a:lnTo>
                    <a:pt x="154719" y="653781"/>
                  </a:lnTo>
                  <a:lnTo>
                    <a:pt x="117271" y="630478"/>
                  </a:lnTo>
                  <a:lnTo>
                    <a:pt x="83939" y="601860"/>
                  </a:lnTo>
                  <a:lnTo>
                    <a:pt x="55321" y="568528"/>
                  </a:lnTo>
                  <a:lnTo>
                    <a:pt x="32018" y="531080"/>
                  </a:lnTo>
                  <a:lnTo>
                    <a:pt x="14630" y="490118"/>
                  </a:lnTo>
                  <a:lnTo>
                    <a:pt x="3757" y="446241"/>
                  </a:lnTo>
                  <a:lnTo>
                    <a:pt x="0" y="400050"/>
                  </a:lnTo>
                  <a:lnTo>
                    <a:pt x="0" y="285750"/>
                  </a:lnTo>
                  <a:lnTo>
                    <a:pt x="3757" y="239558"/>
                  </a:lnTo>
                  <a:lnTo>
                    <a:pt x="14630" y="195681"/>
                  </a:lnTo>
                  <a:lnTo>
                    <a:pt x="32018" y="154719"/>
                  </a:lnTo>
                  <a:lnTo>
                    <a:pt x="55321" y="117271"/>
                  </a:lnTo>
                  <a:lnTo>
                    <a:pt x="83939" y="83939"/>
                  </a:lnTo>
                  <a:lnTo>
                    <a:pt x="117271" y="55321"/>
                  </a:lnTo>
                  <a:lnTo>
                    <a:pt x="154719" y="32018"/>
                  </a:lnTo>
                  <a:lnTo>
                    <a:pt x="195681" y="14630"/>
                  </a:lnTo>
                  <a:lnTo>
                    <a:pt x="239558" y="3757"/>
                  </a:lnTo>
                  <a:lnTo>
                    <a:pt x="285750" y="0"/>
                  </a:lnTo>
                  <a:lnTo>
                    <a:pt x="2958740" y="0"/>
                  </a:lnTo>
                  <a:lnTo>
                    <a:pt x="3004931" y="3757"/>
                  </a:lnTo>
                  <a:lnTo>
                    <a:pt x="3048808" y="14630"/>
                  </a:lnTo>
                  <a:lnTo>
                    <a:pt x="3059220" y="19050"/>
                  </a:lnTo>
                  <a:lnTo>
                    <a:pt x="285750" y="19050"/>
                  </a:lnTo>
                  <a:lnTo>
                    <a:pt x="237970" y="23366"/>
                  </a:lnTo>
                  <a:lnTo>
                    <a:pt x="192935" y="35805"/>
                  </a:lnTo>
                  <a:lnTo>
                    <a:pt x="151412" y="55597"/>
                  </a:lnTo>
                  <a:lnTo>
                    <a:pt x="114169" y="81975"/>
                  </a:lnTo>
                  <a:lnTo>
                    <a:pt x="81975" y="114169"/>
                  </a:lnTo>
                  <a:lnTo>
                    <a:pt x="55597" y="151412"/>
                  </a:lnTo>
                  <a:lnTo>
                    <a:pt x="35805" y="192935"/>
                  </a:lnTo>
                  <a:lnTo>
                    <a:pt x="23366" y="237970"/>
                  </a:lnTo>
                  <a:lnTo>
                    <a:pt x="19050" y="285750"/>
                  </a:lnTo>
                  <a:lnTo>
                    <a:pt x="19050" y="400050"/>
                  </a:lnTo>
                  <a:lnTo>
                    <a:pt x="23366" y="447829"/>
                  </a:lnTo>
                  <a:lnTo>
                    <a:pt x="35805" y="492864"/>
                  </a:lnTo>
                  <a:lnTo>
                    <a:pt x="55597" y="534387"/>
                  </a:lnTo>
                  <a:lnTo>
                    <a:pt x="81975" y="571630"/>
                  </a:lnTo>
                  <a:lnTo>
                    <a:pt x="114169" y="603824"/>
                  </a:lnTo>
                  <a:lnTo>
                    <a:pt x="151412" y="630202"/>
                  </a:lnTo>
                  <a:lnTo>
                    <a:pt x="192935" y="649994"/>
                  </a:lnTo>
                  <a:lnTo>
                    <a:pt x="237970" y="662433"/>
                  </a:lnTo>
                  <a:lnTo>
                    <a:pt x="285750" y="666750"/>
                  </a:lnTo>
                  <a:lnTo>
                    <a:pt x="3059220" y="666750"/>
                  </a:lnTo>
                  <a:lnTo>
                    <a:pt x="3048808" y="671169"/>
                  </a:lnTo>
                  <a:lnTo>
                    <a:pt x="3004931" y="682042"/>
                  </a:lnTo>
                  <a:lnTo>
                    <a:pt x="2958740" y="685800"/>
                  </a:lnTo>
                  <a:close/>
                </a:path>
                <a:path w="3244850" h="685800">
                  <a:moveTo>
                    <a:pt x="3059220" y="666750"/>
                  </a:moveTo>
                  <a:lnTo>
                    <a:pt x="2958740" y="666750"/>
                  </a:lnTo>
                  <a:lnTo>
                    <a:pt x="3006519" y="662433"/>
                  </a:lnTo>
                  <a:lnTo>
                    <a:pt x="3051554" y="649994"/>
                  </a:lnTo>
                  <a:lnTo>
                    <a:pt x="3093078" y="630202"/>
                  </a:lnTo>
                  <a:lnTo>
                    <a:pt x="3130321" y="603824"/>
                  </a:lnTo>
                  <a:lnTo>
                    <a:pt x="3162515" y="571630"/>
                  </a:lnTo>
                  <a:lnTo>
                    <a:pt x="3188892" y="534387"/>
                  </a:lnTo>
                  <a:lnTo>
                    <a:pt x="3208684" y="492864"/>
                  </a:lnTo>
                  <a:lnTo>
                    <a:pt x="3221123" y="447829"/>
                  </a:lnTo>
                  <a:lnTo>
                    <a:pt x="3225440" y="400050"/>
                  </a:lnTo>
                  <a:lnTo>
                    <a:pt x="3225440" y="285750"/>
                  </a:lnTo>
                  <a:lnTo>
                    <a:pt x="3221123" y="237970"/>
                  </a:lnTo>
                  <a:lnTo>
                    <a:pt x="3208684" y="192935"/>
                  </a:lnTo>
                  <a:lnTo>
                    <a:pt x="3188892" y="151412"/>
                  </a:lnTo>
                  <a:lnTo>
                    <a:pt x="3162515" y="114169"/>
                  </a:lnTo>
                  <a:lnTo>
                    <a:pt x="3130321" y="81975"/>
                  </a:lnTo>
                  <a:lnTo>
                    <a:pt x="3093078" y="55597"/>
                  </a:lnTo>
                  <a:lnTo>
                    <a:pt x="3051554" y="35805"/>
                  </a:lnTo>
                  <a:lnTo>
                    <a:pt x="3006519" y="23366"/>
                  </a:lnTo>
                  <a:lnTo>
                    <a:pt x="2958740" y="19050"/>
                  </a:lnTo>
                  <a:lnTo>
                    <a:pt x="3059220" y="19050"/>
                  </a:lnTo>
                  <a:lnTo>
                    <a:pt x="3127218" y="55321"/>
                  </a:lnTo>
                  <a:lnTo>
                    <a:pt x="3160551" y="83939"/>
                  </a:lnTo>
                  <a:lnTo>
                    <a:pt x="3189169" y="117271"/>
                  </a:lnTo>
                  <a:lnTo>
                    <a:pt x="3212472" y="154719"/>
                  </a:lnTo>
                  <a:lnTo>
                    <a:pt x="3229860" y="195681"/>
                  </a:lnTo>
                  <a:lnTo>
                    <a:pt x="3240732" y="239558"/>
                  </a:lnTo>
                  <a:lnTo>
                    <a:pt x="3244490" y="285750"/>
                  </a:lnTo>
                  <a:lnTo>
                    <a:pt x="3244490" y="400050"/>
                  </a:lnTo>
                  <a:lnTo>
                    <a:pt x="3240732" y="446241"/>
                  </a:lnTo>
                  <a:lnTo>
                    <a:pt x="3229860" y="490118"/>
                  </a:lnTo>
                  <a:lnTo>
                    <a:pt x="3212472" y="531080"/>
                  </a:lnTo>
                  <a:lnTo>
                    <a:pt x="3189169" y="568528"/>
                  </a:lnTo>
                  <a:lnTo>
                    <a:pt x="3160551" y="601860"/>
                  </a:lnTo>
                  <a:lnTo>
                    <a:pt x="3127218" y="630478"/>
                  </a:lnTo>
                  <a:lnTo>
                    <a:pt x="3089771" y="653781"/>
                  </a:lnTo>
                  <a:lnTo>
                    <a:pt x="3059220" y="666750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341059-11C5-4B4B-97FF-6364C8F7FC65}"/>
              </a:ext>
            </a:extLst>
          </p:cNvPr>
          <p:cNvSpPr txBox="1"/>
          <p:nvPr/>
        </p:nvSpPr>
        <p:spPr>
          <a:xfrm>
            <a:off x="654050" y="546100"/>
            <a:ext cx="37791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D" sz="1800" dirty="0">
                <a:solidFill>
                  <a:schemeClr val="bg1"/>
                </a:solidFill>
                <a:latin typeface="Microsoft Sans Serif"/>
                <a:cs typeface="Microsoft Sans Serif"/>
              </a:rPr>
              <a:t>PENDAHULUAN</a:t>
            </a:r>
          </a:p>
        </p:txBody>
      </p:sp>
      <p:grpSp>
        <p:nvGrpSpPr>
          <p:cNvPr id="5" name="object 2">
            <a:extLst>
              <a:ext uri="{FF2B5EF4-FFF2-40B4-BE49-F238E27FC236}">
                <a16:creationId xmlns:a16="http://schemas.microsoft.com/office/drawing/2014/main" id="{059B1E6D-6907-4806-8CBC-02A834F9650D}"/>
              </a:ext>
            </a:extLst>
          </p:cNvPr>
          <p:cNvGrpSpPr/>
          <p:nvPr/>
        </p:nvGrpSpPr>
        <p:grpSpPr>
          <a:xfrm>
            <a:off x="577517" y="1436233"/>
            <a:ext cx="6442075" cy="1757347"/>
            <a:chOff x="578100" y="1346400"/>
            <a:chExt cx="3164205" cy="1571625"/>
          </a:xfrm>
        </p:grpSpPr>
        <p:sp>
          <p:nvSpPr>
            <p:cNvPr id="6" name="object 3">
              <a:extLst>
                <a:ext uri="{FF2B5EF4-FFF2-40B4-BE49-F238E27FC236}">
                  <a16:creationId xmlns:a16="http://schemas.microsoft.com/office/drawing/2014/main" id="{6CC39727-A31B-4DD4-94A0-D870257B7F9D}"/>
                </a:ext>
              </a:extLst>
            </p:cNvPr>
            <p:cNvSpPr/>
            <p:nvPr/>
          </p:nvSpPr>
          <p:spPr>
            <a:xfrm>
              <a:off x="578100" y="1346400"/>
              <a:ext cx="3164205" cy="1571625"/>
            </a:xfrm>
            <a:custGeom>
              <a:avLst/>
              <a:gdLst/>
              <a:ahLst/>
              <a:cxnLst/>
              <a:rect l="l" t="t" r="r" b="b"/>
              <a:pathLst>
                <a:path w="3164204" h="1571625">
                  <a:moveTo>
                    <a:pt x="3087600" y="1571625"/>
                  </a:moveTo>
                  <a:lnTo>
                    <a:pt x="76200" y="1571625"/>
                  </a:lnTo>
                  <a:lnTo>
                    <a:pt x="46612" y="1565612"/>
                  </a:lnTo>
                  <a:lnTo>
                    <a:pt x="22383" y="1549241"/>
                  </a:lnTo>
                  <a:lnTo>
                    <a:pt x="6012" y="1525012"/>
                  </a:lnTo>
                  <a:lnTo>
                    <a:pt x="0" y="1495425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3087600" y="0"/>
                  </a:lnTo>
                  <a:lnTo>
                    <a:pt x="3117187" y="6012"/>
                  </a:lnTo>
                  <a:lnTo>
                    <a:pt x="3141416" y="22383"/>
                  </a:lnTo>
                  <a:lnTo>
                    <a:pt x="3157787" y="46612"/>
                  </a:lnTo>
                  <a:lnTo>
                    <a:pt x="3163800" y="76200"/>
                  </a:lnTo>
                  <a:lnTo>
                    <a:pt x="3163800" y="1495425"/>
                  </a:lnTo>
                  <a:lnTo>
                    <a:pt x="3157787" y="1525012"/>
                  </a:lnTo>
                  <a:lnTo>
                    <a:pt x="3141416" y="1549241"/>
                  </a:lnTo>
                  <a:lnTo>
                    <a:pt x="3117187" y="1565612"/>
                  </a:lnTo>
                  <a:lnTo>
                    <a:pt x="3087600" y="1571625"/>
                  </a:lnTo>
                  <a:close/>
                </a:path>
              </a:pathLst>
            </a:custGeom>
            <a:solidFill>
              <a:srgbClr val="1D28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4">
              <a:extLst>
                <a:ext uri="{FF2B5EF4-FFF2-40B4-BE49-F238E27FC236}">
                  <a16:creationId xmlns:a16="http://schemas.microsoft.com/office/drawing/2014/main" id="{21AE0D5B-6958-4764-8950-61EC7421A680}"/>
                </a:ext>
              </a:extLst>
            </p:cNvPr>
            <p:cNvSpPr/>
            <p:nvPr/>
          </p:nvSpPr>
          <p:spPr>
            <a:xfrm>
              <a:off x="578091" y="1368789"/>
              <a:ext cx="3164205" cy="1549400"/>
            </a:xfrm>
            <a:custGeom>
              <a:avLst/>
              <a:gdLst/>
              <a:ahLst/>
              <a:cxnLst/>
              <a:rect l="l" t="t" r="r" b="b"/>
              <a:pathLst>
                <a:path w="3164204" h="1549400">
                  <a:moveTo>
                    <a:pt x="3163798" y="53822"/>
                  </a:moveTo>
                  <a:lnTo>
                    <a:pt x="3157791" y="24231"/>
                  </a:lnTo>
                  <a:lnTo>
                    <a:pt x="3141421" y="0"/>
                  </a:lnTo>
                  <a:lnTo>
                    <a:pt x="3125622" y="15798"/>
                  </a:lnTo>
                  <a:lnTo>
                    <a:pt x="3134690" y="20180"/>
                  </a:lnTo>
                  <a:lnTo>
                    <a:pt x="3149015" y="35318"/>
                  </a:lnTo>
                  <a:lnTo>
                    <a:pt x="3154273" y="53822"/>
                  </a:lnTo>
                  <a:lnTo>
                    <a:pt x="3154273" y="1473047"/>
                  </a:lnTo>
                  <a:lnTo>
                    <a:pt x="3149015" y="1498930"/>
                  </a:lnTo>
                  <a:lnTo>
                    <a:pt x="3134690" y="1520126"/>
                  </a:lnTo>
                  <a:lnTo>
                    <a:pt x="3113494" y="1534452"/>
                  </a:lnTo>
                  <a:lnTo>
                    <a:pt x="3087598" y="1539722"/>
                  </a:lnTo>
                  <a:lnTo>
                    <a:pt x="76200" y="1539722"/>
                  </a:lnTo>
                  <a:lnTo>
                    <a:pt x="50317" y="1534452"/>
                  </a:lnTo>
                  <a:lnTo>
                    <a:pt x="29108" y="1520126"/>
                  </a:lnTo>
                  <a:lnTo>
                    <a:pt x="14782" y="1498930"/>
                  </a:lnTo>
                  <a:lnTo>
                    <a:pt x="9525" y="1473047"/>
                  </a:lnTo>
                  <a:lnTo>
                    <a:pt x="9525" y="53822"/>
                  </a:lnTo>
                  <a:lnTo>
                    <a:pt x="14782" y="35318"/>
                  </a:lnTo>
                  <a:lnTo>
                    <a:pt x="29108" y="20180"/>
                  </a:lnTo>
                  <a:lnTo>
                    <a:pt x="38188" y="15798"/>
                  </a:lnTo>
                  <a:lnTo>
                    <a:pt x="22390" y="0"/>
                  </a:lnTo>
                  <a:lnTo>
                    <a:pt x="6019" y="24231"/>
                  </a:lnTo>
                  <a:lnTo>
                    <a:pt x="0" y="53822"/>
                  </a:lnTo>
                  <a:lnTo>
                    <a:pt x="0" y="1473047"/>
                  </a:lnTo>
                  <a:lnTo>
                    <a:pt x="6019" y="1502625"/>
                  </a:lnTo>
                  <a:lnTo>
                    <a:pt x="22390" y="1526857"/>
                  </a:lnTo>
                  <a:lnTo>
                    <a:pt x="46621" y="1543227"/>
                  </a:lnTo>
                  <a:lnTo>
                    <a:pt x="76200" y="1549247"/>
                  </a:lnTo>
                  <a:lnTo>
                    <a:pt x="3087598" y="1549247"/>
                  </a:lnTo>
                  <a:lnTo>
                    <a:pt x="3141421" y="1526857"/>
                  </a:lnTo>
                  <a:lnTo>
                    <a:pt x="3163798" y="1473047"/>
                  </a:lnTo>
                  <a:lnTo>
                    <a:pt x="3163798" y="53822"/>
                  </a:lnTo>
                  <a:close/>
                </a:path>
              </a:pathLst>
            </a:custGeom>
            <a:solidFill>
              <a:srgbClr val="334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5">
              <a:extLst>
                <a:ext uri="{FF2B5EF4-FFF2-40B4-BE49-F238E27FC236}">
                  <a16:creationId xmlns:a16="http://schemas.microsoft.com/office/drawing/2014/main" id="{C2F9EF1C-A760-42F8-AA2B-FD04CC27C1E3}"/>
                </a:ext>
              </a:extLst>
            </p:cNvPr>
            <p:cNvSpPr/>
            <p:nvPr/>
          </p:nvSpPr>
          <p:spPr>
            <a:xfrm>
              <a:off x="600483" y="1346400"/>
              <a:ext cx="3119120" cy="38735"/>
            </a:xfrm>
            <a:custGeom>
              <a:avLst/>
              <a:gdLst/>
              <a:ahLst/>
              <a:cxnLst/>
              <a:rect l="l" t="t" r="r" b="b"/>
              <a:pathLst>
                <a:path w="3119120" h="38734">
                  <a:moveTo>
                    <a:pt x="15801" y="38185"/>
                  </a:moveTo>
                  <a:lnTo>
                    <a:pt x="0" y="22383"/>
                  </a:lnTo>
                  <a:lnTo>
                    <a:pt x="24229" y="6012"/>
                  </a:lnTo>
                  <a:lnTo>
                    <a:pt x="53816" y="0"/>
                  </a:lnTo>
                  <a:lnTo>
                    <a:pt x="3065216" y="0"/>
                  </a:lnTo>
                  <a:lnTo>
                    <a:pt x="3094803" y="6012"/>
                  </a:lnTo>
                  <a:lnTo>
                    <a:pt x="3119032" y="22383"/>
                  </a:lnTo>
                  <a:lnTo>
                    <a:pt x="3112841" y="28575"/>
                  </a:lnTo>
                  <a:lnTo>
                    <a:pt x="53816" y="28575"/>
                  </a:lnTo>
                  <a:lnTo>
                    <a:pt x="27927" y="32332"/>
                  </a:lnTo>
                  <a:lnTo>
                    <a:pt x="15801" y="38185"/>
                  </a:lnTo>
                  <a:close/>
                </a:path>
                <a:path w="3119120" h="38734">
                  <a:moveTo>
                    <a:pt x="3103231" y="38185"/>
                  </a:moveTo>
                  <a:lnTo>
                    <a:pt x="3091105" y="32332"/>
                  </a:lnTo>
                  <a:lnTo>
                    <a:pt x="3065216" y="28575"/>
                  </a:lnTo>
                  <a:lnTo>
                    <a:pt x="3112841" y="28575"/>
                  </a:lnTo>
                  <a:lnTo>
                    <a:pt x="3103231" y="38185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6">
              <a:extLst>
                <a:ext uri="{FF2B5EF4-FFF2-40B4-BE49-F238E27FC236}">
                  <a16:creationId xmlns:a16="http://schemas.microsoft.com/office/drawing/2014/main" id="{C3A8F1DE-4550-451A-8D63-ECFE10E350DA}"/>
                </a:ext>
              </a:extLst>
            </p:cNvPr>
            <p:cNvSpPr/>
            <p:nvPr/>
          </p:nvSpPr>
          <p:spPr>
            <a:xfrm>
              <a:off x="720975" y="1775025"/>
              <a:ext cx="2878455" cy="9525"/>
            </a:xfrm>
            <a:custGeom>
              <a:avLst/>
              <a:gdLst/>
              <a:ahLst/>
              <a:cxnLst/>
              <a:rect l="l" t="t" r="r" b="b"/>
              <a:pathLst>
                <a:path w="2878454" h="9525">
                  <a:moveTo>
                    <a:pt x="2878050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2878050" y="0"/>
                  </a:lnTo>
                  <a:lnTo>
                    <a:pt x="2878050" y="9525"/>
                  </a:lnTo>
                  <a:close/>
                </a:path>
              </a:pathLst>
            </a:custGeom>
            <a:solidFill>
              <a:srgbClr val="334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40">
            <a:extLst>
              <a:ext uri="{FF2B5EF4-FFF2-40B4-BE49-F238E27FC236}">
                <a16:creationId xmlns:a16="http://schemas.microsoft.com/office/drawing/2014/main" id="{0BB0145D-D94D-4F44-BA54-603680C5DEB7}"/>
              </a:ext>
            </a:extLst>
          </p:cNvPr>
          <p:cNvSpPr txBox="1"/>
          <p:nvPr/>
        </p:nvSpPr>
        <p:spPr>
          <a:xfrm>
            <a:off x="634547" y="1505437"/>
            <a:ext cx="6041776" cy="1769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139" algn="just">
              <a:lnSpc>
                <a:spcPct val="100000"/>
              </a:lnSpc>
              <a:spcBef>
                <a:spcPts val="100"/>
              </a:spcBef>
            </a:pPr>
            <a:r>
              <a:rPr lang="id-ID" sz="1400" spc="-25" dirty="0">
                <a:solidFill>
                  <a:schemeClr val="bg1"/>
                </a:solidFill>
                <a:latin typeface="Microsoft Sans Serif"/>
                <a:ea typeface="Arial" panose="020B0604020202020204" pitchFamily="34" charset="0"/>
                <a:cs typeface="Microsoft Sans Serif"/>
              </a:rPr>
              <a:t>LATAR BELAKANG</a:t>
            </a:r>
          </a:p>
          <a:p>
            <a:pPr marL="104139" algn="just">
              <a:lnSpc>
                <a:spcPct val="100000"/>
              </a:lnSpc>
              <a:spcBef>
                <a:spcPts val="100"/>
              </a:spcBef>
            </a:pPr>
            <a:r>
              <a:rPr lang="id-ID" sz="12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	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Menembak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merupakan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salah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satu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cabang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keterampilan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yang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wajib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dikuasai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dan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terus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diasah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oleh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setiap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anggota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Polri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khususnya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anggota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Resimen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I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Pasukan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Pelopor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karena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berkaitan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langsung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dengan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kesiapsiagaan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operasional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. Guna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memelihara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dan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meningkatkan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kemampuan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tersebut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sekaligus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mempererat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kebersamaan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antar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anggota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Pengurus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Letting BDA 750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memandang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perlu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menyelenggarakan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sebuah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kejuaraan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menembak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internal yang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sekaligus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menjadi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rangkaian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peringatan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Anniversary Letting BDA 750 yang ke-7 (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tujuh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).</a:t>
            </a:r>
          </a:p>
          <a:p>
            <a:pPr algn="just">
              <a:lnSpc>
                <a:spcPct val="100000"/>
              </a:lnSpc>
              <a:spcBef>
                <a:spcPts val="360"/>
              </a:spcBef>
            </a:pPr>
            <a:endParaRPr sz="1200" dirty="0">
              <a:solidFill>
                <a:schemeClr val="bg1"/>
              </a:solidFill>
              <a:latin typeface="Microsoft Sans Serif"/>
              <a:cs typeface="Microsoft Sans Serif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085FBC9-D179-4B1B-9CC7-80753F147A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1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11" b="93388" l="9936" r="89904">
                        <a14:foregroundMark x1="31571" y1="18595" x2="31571" y2="18595"/>
                        <a14:foregroundMark x1="38622" y1="19215" x2="38622" y2="19215"/>
                        <a14:foregroundMark x1="61218" y1="20041" x2="61218" y2="20041"/>
                        <a14:foregroundMark x1="56571" y1="14876" x2="56571" y2="14876"/>
                        <a14:foregroundMark x1="66026" y1="19835" x2="66026" y2="19835"/>
                        <a14:foregroundMark x1="76603" y1="36570" x2="76603" y2="36570"/>
                        <a14:foregroundMark x1="54647" y1="91942" x2="54647" y2="91942"/>
                        <a14:foregroundMark x1="48718" y1="92562" x2="45833" y2="90909"/>
                        <a14:foregroundMark x1="45833" y1="91942" x2="43429" y2="89669"/>
                        <a14:foregroundMark x1="45833" y1="91322" x2="45833" y2="91322"/>
                        <a14:foregroundMark x1="45833" y1="91322" x2="45833" y2="91322"/>
                        <a14:foregroundMark x1="45833" y1="91322" x2="45833" y2="91322"/>
                        <a14:foregroundMark x1="46314" y1="92355" x2="44231" y2="90083"/>
                        <a14:foregroundMark x1="48397" y1="92355" x2="52885" y2="92355"/>
                        <a14:foregroundMark x1="48397" y1="91322" x2="50160" y2="92355"/>
                        <a14:foregroundMark x1="51923" y1="92975" x2="52083" y2="93182"/>
                        <a14:foregroundMark x1="52244" y1="93388" x2="52244" y2="93388"/>
                        <a14:foregroundMark x1="53045" y1="93182" x2="50801" y2="92562"/>
                        <a14:foregroundMark x1="39583" y1="15496" x2="38622" y2="14050"/>
                        <a14:foregroundMark x1="39583" y1="17355" x2="39103" y2="14876"/>
                        <a14:foregroundMark x1="39744" y1="17355" x2="39744" y2="15909"/>
                        <a14:foregroundMark x1="40064" y1="15702" x2="37821" y2="13430"/>
                        <a14:foregroundMark x1="30609" y1="38017" x2="30609" y2="38017"/>
                        <a14:foregroundMark x1="32853" y1="20248" x2="32853" y2="20248"/>
                        <a14:foregroundMark x1="32853" y1="20248" x2="32853" y2="20248"/>
                        <a14:foregroundMark x1="32853" y1="20248" x2="32853" y2="20248"/>
                        <a14:foregroundMark x1="32853" y1="20248" x2="32853" y2="20248"/>
                        <a14:foregroundMark x1="31891" y1="16736" x2="31891" y2="16736"/>
                        <a14:foregroundMark x1="32372" y1="17355" x2="32372" y2="17355"/>
                        <a14:foregroundMark x1="32372" y1="17355" x2="31090" y2="18182"/>
                        <a14:foregroundMark x1="32372" y1="16942" x2="31891" y2="17355"/>
                        <a14:foregroundMark x1="32212" y1="17355" x2="30929" y2="17562"/>
                        <a14:backgroundMark x1="53586" y1="94425" x2="58494" y2="9628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08045" y="743486"/>
            <a:ext cx="9612548" cy="7459643"/>
          </a:xfrm>
          <a:prstGeom prst="rect">
            <a:avLst/>
          </a:prstGeom>
          <a:noFill/>
        </p:spPr>
      </p:pic>
      <p:grpSp>
        <p:nvGrpSpPr>
          <p:cNvPr id="12" name="object 2">
            <a:extLst>
              <a:ext uri="{FF2B5EF4-FFF2-40B4-BE49-F238E27FC236}">
                <a16:creationId xmlns:a16="http://schemas.microsoft.com/office/drawing/2014/main" id="{539B33F7-75A1-4115-A388-D6A12782606E}"/>
              </a:ext>
            </a:extLst>
          </p:cNvPr>
          <p:cNvGrpSpPr/>
          <p:nvPr/>
        </p:nvGrpSpPr>
        <p:grpSpPr>
          <a:xfrm>
            <a:off x="569484" y="3498550"/>
            <a:ext cx="6442075" cy="1949516"/>
            <a:chOff x="578100" y="1346400"/>
            <a:chExt cx="3164205" cy="1571625"/>
          </a:xfrm>
        </p:grpSpPr>
        <p:sp>
          <p:nvSpPr>
            <p:cNvPr id="13" name="object 3">
              <a:extLst>
                <a:ext uri="{FF2B5EF4-FFF2-40B4-BE49-F238E27FC236}">
                  <a16:creationId xmlns:a16="http://schemas.microsoft.com/office/drawing/2014/main" id="{8BB5CB5A-AD18-43FB-970D-173C618554C9}"/>
                </a:ext>
              </a:extLst>
            </p:cNvPr>
            <p:cNvSpPr/>
            <p:nvPr/>
          </p:nvSpPr>
          <p:spPr>
            <a:xfrm>
              <a:off x="578100" y="1346400"/>
              <a:ext cx="3164205" cy="1571625"/>
            </a:xfrm>
            <a:custGeom>
              <a:avLst/>
              <a:gdLst/>
              <a:ahLst/>
              <a:cxnLst/>
              <a:rect l="l" t="t" r="r" b="b"/>
              <a:pathLst>
                <a:path w="3164204" h="1571625">
                  <a:moveTo>
                    <a:pt x="3087600" y="1571625"/>
                  </a:moveTo>
                  <a:lnTo>
                    <a:pt x="76200" y="1571625"/>
                  </a:lnTo>
                  <a:lnTo>
                    <a:pt x="46612" y="1565612"/>
                  </a:lnTo>
                  <a:lnTo>
                    <a:pt x="22383" y="1549241"/>
                  </a:lnTo>
                  <a:lnTo>
                    <a:pt x="6012" y="1525012"/>
                  </a:lnTo>
                  <a:lnTo>
                    <a:pt x="0" y="1495425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3087600" y="0"/>
                  </a:lnTo>
                  <a:lnTo>
                    <a:pt x="3117187" y="6012"/>
                  </a:lnTo>
                  <a:lnTo>
                    <a:pt x="3141416" y="22383"/>
                  </a:lnTo>
                  <a:lnTo>
                    <a:pt x="3157787" y="46612"/>
                  </a:lnTo>
                  <a:lnTo>
                    <a:pt x="3163800" y="76200"/>
                  </a:lnTo>
                  <a:lnTo>
                    <a:pt x="3163800" y="1495425"/>
                  </a:lnTo>
                  <a:lnTo>
                    <a:pt x="3157787" y="1525012"/>
                  </a:lnTo>
                  <a:lnTo>
                    <a:pt x="3141416" y="1549241"/>
                  </a:lnTo>
                  <a:lnTo>
                    <a:pt x="3117187" y="1565612"/>
                  </a:lnTo>
                  <a:lnTo>
                    <a:pt x="3087600" y="1571625"/>
                  </a:lnTo>
                  <a:close/>
                </a:path>
              </a:pathLst>
            </a:custGeom>
            <a:solidFill>
              <a:srgbClr val="1D283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8A75C987-4415-4C7F-84BF-276F6451A23B}"/>
                </a:ext>
              </a:extLst>
            </p:cNvPr>
            <p:cNvSpPr/>
            <p:nvPr/>
          </p:nvSpPr>
          <p:spPr>
            <a:xfrm>
              <a:off x="578091" y="1368789"/>
              <a:ext cx="3164205" cy="1549400"/>
            </a:xfrm>
            <a:custGeom>
              <a:avLst/>
              <a:gdLst/>
              <a:ahLst/>
              <a:cxnLst/>
              <a:rect l="l" t="t" r="r" b="b"/>
              <a:pathLst>
                <a:path w="3164204" h="1549400">
                  <a:moveTo>
                    <a:pt x="3163798" y="53822"/>
                  </a:moveTo>
                  <a:lnTo>
                    <a:pt x="3157791" y="24231"/>
                  </a:lnTo>
                  <a:lnTo>
                    <a:pt x="3141421" y="0"/>
                  </a:lnTo>
                  <a:lnTo>
                    <a:pt x="3125622" y="15798"/>
                  </a:lnTo>
                  <a:lnTo>
                    <a:pt x="3134690" y="20180"/>
                  </a:lnTo>
                  <a:lnTo>
                    <a:pt x="3149015" y="35318"/>
                  </a:lnTo>
                  <a:lnTo>
                    <a:pt x="3154273" y="53822"/>
                  </a:lnTo>
                  <a:lnTo>
                    <a:pt x="3154273" y="1473047"/>
                  </a:lnTo>
                  <a:lnTo>
                    <a:pt x="3149015" y="1498930"/>
                  </a:lnTo>
                  <a:lnTo>
                    <a:pt x="3134690" y="1520126"/>
                  </a:lnTo>
                  <a:lnTo>
                    <a:pt x="3113494" y="1534452"/>
                  </a:lnTo>
                  <a:lnTo>
                    <a:pt x="3087598" y="1539722"/>
                  </a:lnTo>
                  <a:lnTo>
                    <a:pt x="76200" y="1539722"/>
                  </a:lnTo>
                  <a:lnTo>
                    <a:pt x="50317" y="1534452"/>
                  </a:lnTo>
                  <a:lnTo>
                    <a:pt x="29108" y="1520126"/>
                  </a:lnTo>
                  <a:lnTo>
                    <a:pt x="14782" y="1498930"/>
                  </a:lnTo>
                  <a:lnTo>
                    <a:pt x="9525" y="1473047"/>
                  </a:lnTo>
                  <a:lnTo>
                    <a:pt x="9525" y="53822"/>
                  </a:lnTo>
                  <a:lnTo>
                    <a:pt x="14782" y="35318"/>
                  </a:lnTo>
                  <a:lnTo>
                    <a:pt x="29108" y="20180"/>
                  </a:lnTo>
                  <a:lnTo>
                    <a:pt x="38188" y="15798"/>
                  </a:lnTo>
                  <a:lnTo>
                    <a:pt x="22390" y="0"/>
                  </a:lnTo>
                  <a:lnTo>
                    <a:pt x="6019" y="24231"/>
                  </a:lnTo>
                  <a:lnTo>
                    <a:pt x="0" y="53822"/>
                  </a:lnTo>
                  <a:lnTo>
                    <a:pt x="0" y="1473047"/>
                  </a:lnTo>
                  <a:lnTo>
                    <a:pt x="6019" y="1502625"/>
                  </a:lnTo>
                  <a:lnTo>
                    <a:pt x="22390" y="1526857"/>
                  </a:lnTo>
                  <a:lnTo>
                    <a:pt x="46621" y="1543227"/>
                  </a:lnTo>
                  <a:lnTo>
                    <a:pt x="76200" y="1549247"/>
                  </a:lnTo>
                  <a:lnTo>
                    <a:pt x="3087598" y="1549247"/>
                  </a:lnTo>
                  <a:lnTo>
                    <a:pt x="3141421" y="1526857"/>
                  </a:lnTo>
                  <a:lnTo>
                    <a:pt x="3163798" y="1473047"/>
                  </a:lnTo>
                  <a:lnTo>
                    <a:pt x="3163798" y="53822"/>
                  </a:lnTo>
                  <a:close/>
                </a:path>
              </a:pathLst>
            </a:custGeom>
            <a:solidFill>
              <a:srgbClr val="334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2DA855F7-8747-4F73-A152-DD12626B2C17}"/>
                </a:ext>
              </a:extLst>
            </p:cNvPr>
            <p:cNvSpPr/>
            <p:nvPr/>
          </p:nvSpPr>
          <p:spPr>
            <a:xfrm>
              <a:off x="600483" y="1346400"/>
              <a:ext cx="3119120" cy="38735"/>
            </a:xfrm>
            <a:custGeom>
              <a:avLst/>
              <a:gdLst/>
              <a:ahLst/>
              <a:cxnLst/>
              <a:rect l="l" t="t" r="r" b="b"/>
              <a:pathLst>
                <a:path w="3119120" h="38734">
                  <a:moveTo>
                    <a:pt x="15801" y="38185"/>
                  </a:moveTo>
                  <a:lnTo>
                    <a:pt x="0" y="22383"/>
                  </a:lnTo>
                  <a:lnTo>
                    <a:pt x="24229" y="6012"/>
                  </a:lnTo>
                  <a:lnTo>
                    <a:pt x="53816" y="0"/>
                  </a:lnTo>
                  <a:lnTo>
                    <a:pt x="3065216" y="0"/>
                  </a:lnTo>
                  <a:lnTo>
                    <a:pt x="3094803" y="6012"/>
                  </a:lnTo>
                  <a:lnTo>
                    <a:pt x="3119032" y="22383"/>
                  </a:lnTo>
                  <a:lnTo>
                    <a:pt x="3112841" y="28575"/>
                  </a:lnTo>
                  <a:lnTo>
                    <a:pt x="53816" y="28575"/>
                  </a:lnTo>
                  <a:lnTo>
                    <a:pt x="27927" y="32332"/>
                  </a:lnTo>
                  <a:lnTo>
                    <a:pt x="15801" y="38185"/>
                  </a:lnTo>
                  <a:close/>
                </a:path>
                <a:path w="3119120" h="38734">
                  <a:moveTo>
                    <a:pt x="3103231" y="38185"/>
                  </a:moveTo>
                  <a:lnTo>
                    <a:pt x="3091105" y="32332"/>
                  </a:lnTo>
                  <a:lnTo>
                    <a:pt x="3065216" y="28575"/>
                  </a:lnTo>
                  <a:lnTo>
                    <a:pt x="3112841" y="28575"/>
                  </a:lnTo>
                  <a:lnTo>
                    <a:pt x="3103231" y="38185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6">
              <a:extLst>
                <a:ext uri="{FF2B5EF4-FFF2-40B4-BE49-F238E27FC236}">
                  <a16:creationId xmlns:a16="http://schemas.microsoft.com/office/drawing/2014/main" id="{C59E4091-7179-416B-AC28-51CBECD31C14}"/>
                </a:ext>
              </a:extLst>
            </p:cNvPr>
            <p:cNvSpPr/>
            <p:nvPr/>
          </p:nvSpPr>
          <p:spPr>
            <a:xfrm>
              <a:off x="720975" y="1775025"/>
              <a:ext cx="2878455" cy="9525"/>
            </a:xfrm>
            <a:custGeom>
              <a:avLst/>
              <a:gdLst/>
              <a:ahLst/>
              <a:cxnLst/>
              <a:rect l="l" t="t" r="r" b="b"/>
              <a:pathLst>
                <a:path w="2878454" h="9525">
                  <a:moveTo>
                    <a:pt x="2878050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2878050" y="0"/>
                  </a:lnTo>
                  <a:lnTo>
                    <a:pt x="2878050" y="9525"/>
                  </a:lnTo>
                  <a:close/>
                </a:path>
              </a:pathLst>
            </a:custGeom>
            <a:solidFill>
              <a:srgbClr val="334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868F1080-E8B5-4CB2-BD6A-6EBB1B193363}"/>
              </a:ext>
            </a:extLst>
          </p:cNvPr>
          <p:cNvSpPr txBox="1"/>
          <p:nvPr/>
        </p:nvSpPr>
        <p:spPr>
          <a:xfrm>
            <a:off x="747481" y="3598228"/>
            <a:ext cx="5992688" cy="1789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15000"/>
              </a:lnSpc>
              <a:spcAft>
                <a:spcPts val="600"/>
              </a:spcAft>
              <a:tabLst>
                <a:tab pos="457200" algn="l"/>
              </a:tabLst>
            </a:pPr>
            <a:r>
              <a:rPr lang="en-ID" sz="1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DASAR PELAKSANAAN</a:t>
            </a:r>
            <a:r>
              <a:rPr lang="en-ID" sz="1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	</a:t>
            </a:r>
            <a:endParaRPr lang="en-ID" sz="1200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228600" lvl="0" indent="-228600" algn="just">
              <a:lnSpc>
                <a:spcPct val="115000"/>
              </a:lnSpc>
              <a:spcAft>
                <a:spcPts val="600"/>
              </a:spcAft>
              <a:buFont typeface="+mj-lt"/>
              <a:buAutoNum type="alphaLcParenR"/>
              <a:tabLst>
                <a:tab pos="457200" algn="l"/>
              </a:tabLst>
            </a:pPr>
            <a:r>
              <a:rPr lang="id-ID" sz="12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P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rogram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Kerja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Pengurus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Letting BDA 750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Resimen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I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Pasukan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Pelopor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Tahun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2026;</a:t>
            </a:r>
          </a:p>
          <a:p>
            <a:pPr marL="228600" lvl="0" indent="-228600" algn="just">
              <a:lnSpc>
                <a:spcPct val="115000"/>
              </a:lnSpc>
              <a:spcAft>
                <a:spcPts val="600"/>
              </a:spcAft>
              <a:buFont typeface="+mj-lt"/>
              <a:buAutoNum type="alphaLcParenR"/>
              <a:tabLst>
                <a:tab pos="457200" algn="l"/>
              </a:tabLst>
            </a:pPr>
            <a:r>
              <a:rPr lang="id-ID" sz="12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H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asil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rapat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Pengurus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Letting BDA 750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mengenai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rencana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pelaksanaan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Kejuaraan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Menembak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BDA </a:t>
            </a:r>
            <a:r>
              <a:rPr lang="id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Shooting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Championship 2026; dan</a:t>
            </a:r>
          </a:p>
          <a:p>
            <a:pPr marL="228600" indent="-228600" algn="just">
              <a:buFont typeface="+mj-lt"/>
              <a:buAutoNum type="alphaLcParenR"/>
            </a:pPr>
            <a:r>
              <a:rPr lang="id-ID" sz="12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I</a:t>
            </a:r>
            <a:r>
              <a:rPr lang="en-ID" sz="1200" kern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zin dan </a:t>
            </a:r>
            <a:r>
              <a:rPr lang="en-ID" sz="1200" kern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persetujuan</a:t>
            </a:r>
            <a:r>
              <a:rPr lang="en-ID" sz="1200" kern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kern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Komandan</a:t>
            </a:r>
            <a:r>
              <a:rPr lang="en-ID" sz="1200" kern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kern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Resimen</a:t>
            </a:r>
            <a:r>
              <a:rPr lang="en-ID" sz="1200" kern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I </a:t>
            </a:r>
            <a:r>
              <a:rPr lang="en-ID" sz="1200" kern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Pasukan</a:t>
            </a:r>
            <a:r>
              <a:rPr lang="en-ID" sz="1200" kern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kern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Pelopor</a:t>
            </a:r>
            <a:r>
              <a:rPr lang="en-ID" sz="1200" kern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kern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selaku</a:t>
            </a:r>
            <a:r>
              <a:rPr lang="en-ID" sz="1200" kern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kern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Pelindung</a:t>
            </a:r>
            <a:r>
              <a:rPr lang="en-ID" sz="1200" kern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dan </a:t>
            </a:r>
            <a:r>
              <a:rPr lang="en-ID" sz="1200" kern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penanggung</a:t>
            </a:r>
            <a:r>
              <a:rPr lang="en-ID" sz="1200" kern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kern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jawab</a:t>
            </a:r>
            <a:r>
              <a:rPr lang="en-ID" sz="1200" kern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kern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kegiatan</a:t>
            </a:r>
            <a:endParaRPr lang="en-ID" sz="1200" dirty="0">
              <a:solidFill>
                <a:schemeClr val="bg1"/>
              </a:solidFill>
            </a:endParaRPr>
          </a:p>
        </p:txBody>
      </p:sp>
      <p:grpSp>
        <p:nvGrpSpPr>
          <p:cNvPr id="18" name="object 2">
            <a:extLst>
              <a:ext uri="{FF2B5EF4-FFF2-40B4-BE49-F238E27FC236}">
                <a16:creationId xmlns:a16="http://schemas.microsoft.com/office/drawing/2014/main" id="{C45B6E2E-0BA7-444A-BBC7-BAF74C6A139A}"/>
              </a:ext>
            </a:extLst>
          </p:cNvPr>
          <p:cNvGrpSpPr/>
          <p:nvPr/>
        </p:nvGrpSpPr>
        <p:grpSpPr>
          <a:xfrm>
            <a:off x="569158" y="5792033"/>
            <a:ext cx="6442075" cy="3415207"/>
            <a:chOff x="578100" y="1346400"/>
            <a:chExt cx="3164205" cy="1571625"/>
          </a:xfrm>
        </p:grpSpPr>
        <p:sp>
          <p:nvSpPr>
            <p:cNvPr id="19" name="object 3">
              <a:extLst>
                <a:ext uri="{FF2B5EF4-FFF2-40B4-BE49-F238E27FC236}">
                  <a16:creationId xmlns:a16="http://schemas.microsoft.com/office/drawing/2014/main" id="{0EE5BAEB-3A69-428A-BC39-98A3FC7477BF}"/>
                </a:ext>
              </a:extLst>
            </p:cNvPr>
            <p:cNvSpPr/>
            <p:nvPr/>
          </p:nvSpPr>
          <p:spPr>
            <a:xfrm>
              <a:off x="578100" y="1346400"/>
              <a:ext cx="3164205" cy="1571625"/>
            </a:xfrm>
            <a:custGeom>
              <a:avLst/>
              <a:gdLst/>
              <a:ahLst/>
              <a:cxnLst/>
              <a:rect l="l" t="t" r="r" b="b"/>
              <a:pathLst>
                <a:path w="3164204" h="1571625">
                  <a:moveTo>
                    <a:pt x="3087600" y="1571625"/>
                  </a:moveTo>
                  <a:lnTo>
                    <a:pt x="76200" y="1571625"/>
                  </a:lnTo>
                  <a:lnTo>
                    <a:pt x="46612" y="1565612"/>
                  </a:lnTo>
                  <a:lnTo>
                    <a:pt x="22383" y="1549241"/>
                  </a:lnTo>
                  <a:lnTo>
                    <a:pt x="6012" y="1525012"/>
                  </a:lnTo>
                  <a:lnTo>
                    <a:pt x="0" y="1495425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3087600" y="0"/>
                  </a:lnTo>
                  <a:lnTo>
                    <a:pt x="3117187" y="6012"/>
                  </a:lnTo>
                  <a:lnTo>
                    <a:pt x="3141416" y="22383"/>
                  </a:lnTo>
                  <a:lnTo>
                    <a:pt x="3157787" y="46612"/>
                  </a:lnTo>
                  <a:lnTo>
                    <a:pt x="3163800" y="76200"/>
                  </a:lnTo>
                  <a:lnTo>
                    <a:pt x="3163800" y="1495425"/>
                  </a:lnTo>
                  <a:lnTo>
                    <a:pt x="3157787" y="1525012"/>
                  </a:lnTo>
                  <a:lnTo>
                    <a:pt x="3141416" y="1549241"/>
                  </a:lnTo>
                  <a:lnTo>
                    <a:pt x="3117187" y="1565612"/>
                  </a:lnTo>
                  <a:lnTo>
                    <a:pt x="3087600" y="1571625"/>
                  </a:lnTo>
                  <a:close/>
                </a:path>
              </a:pathLst>
            </a:custGeom>
            <a:solidFill>
              <a:srgbClr val="1D283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0" name="object 4">
              <a:extLst>
                <a:ext uri="{FF2B5EF4-FFF2-40B4-BE49-F238E27FC236}">
                  <a16:creationId xmlns:a16="http://schemas.microsoft.com/office/drawing/2014/main" id="{AE88FFAC-074E-4F16-80DD-526B9238E8C8}"/>
                </a:ext>
              </a:extLst>
            </p:cNvPr>
            <p:cNvSpPr/>
            <p:nvPr/>
          </p:nvSpPr>
          <p:spPr>
            <a:xfrm>
              <a:off x="578091" y="1368789"/>
              <a:ext cx="3164205" cy="1549400"/>
            </a:xfrm>
            <a:custGeom>
              <a:avLst/>
              <a:gdLst/>
              <a:ahLst/>
              <a:cxnLst/>
              <a:rect l="l" t="t" r="r" b="b"/>
              <a:pathLst>
                <a:path w="3164204" h="1549400">
                  <a:moveTo>
                    <a:pt x="3163798" y="53822"/>
                  </a:moveTo>
                  <a:lnTo>
                    <a:pt x="3157791" y="24231"/>
                  </a:lnTo>
                  <a:lnTo>
                    <a:pt x="3141421" y="0"/>
                  </a:lnTo>
                  <a:lnTo>
                    <a:pt x="3125622" y="15798"/>
                  </a:lnTo>
                  <a:lnTo>
                    <a:pt x="3134690" y="20180"/>
                  </a:lnTo>
                  <a:lnTo>
                    <a:pt x="3149015" y="35318"/>
                  </a:lnTo>
                  <a:lnTo>
                    <a:pt x="3154273" y="53822"/>
                  </a:lnTo>
                  <a:lnTo>
                    <a:pt x="3154273" y="1473047"/>
                  </a:lnTo>
                  <a:lnTo>
                    <a:pt x="3149015" y="1498930"/>
                  </a:lnTo>
                  <a:lnTo>
                    <a:pt x="3134690" y="1520126"/>
                  </a:lnTo>
                  <a:lnTo>
                    <a:pt x="3113494" y="1534452"/>
                  </a:lnTo>
                  <a:lnTo>
                    <a:pt x="3087598" y="1539722"/>
                  </a:lnTo>
                  <a:lnTo>
                    <a:pt x="76200" y="1539722"/>
                  </a:lnTo>
                  <a:lnTo>
                    <a:pt x="50317" y="1534452"/>
                  </a:lnTo>
                  <a:lnTo>
                    <a:pt x="29108" y="1520126"/>
                  </a:lnTo>
                  <a:lnTo>
                    <a:pt x="14782" y="1498930"/>
                  </a:lnTo>
                  <a:lnTo>
                    <a:pt x="9525" y="1473047"/>
                  </a:lnTo>
                  <a:lnTo>
                    <a:pt x="9525" y="53822"/>
                  </a:lnTo>
                  <a:lnTo>
                    <a:pt x="14782" y="35318"/>
                  </a:lnTo>
                  <a:lnTo>
                    <a:pt x="29108" y="20180"/>
                  </a:lnTo>
                  <a:lnTo>
                    <a:pt x="38188" y="15798"/>
                  </a:lnTo>
                  <a:lnTo>
                    <a:pt x="22390" y="0"/>
                  </a:lnTo>
                  <a:lnTo>
                    <a:pt x="6019" y="24231"/>
                  </a:lnTo>
                  <a:lnTo>
                    <a:pt x="0" y="53822"/>
                  </a:lnTo>
                  <a:lnTo>
                    <a:pt x="0" y="1473047"/>
                  </a:lnTo>
                  <a:lnTo>
                    <a:pt x="6019" y="1502625"/>
                  </a:lnTo>
                  <a:lnTo>
                    <a:pt x="22390" y="1526857"/>
                  </a:lnTo>
                  <a:lnTo>
                    <a:pt x="46621" y="1543227"/>
                  </a:lnTo>
                  <a:lnTo>
                    <a:pt x="76200" y="1549247"/>
                  </a:lnTo>
                  <a:lnTo>
                    <a:pt x="3087598" y="1549247"/>
                  </a:lnTo>
                  <a:lnTo>
                    <a:pt x="3141421" y="1526857"/>
                  </a:lnTo>
                  <a:lnTo>
                    <a:pt x="3163798" y="1473047"/>
                  </a:lnTo>
                  <a:lnTo>
                    <a:pt x="3163798" y="53822"/>
                  </a:lnTo>
                  <a:close/>
                </a:path>
              </a:pathLst>
            </a:custGeom>
            <a:solidFill>
              <a:srgbClr val="334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5">
              <a:extLst>
                <a:ext uri="{FF2B5EF4-FFF2-40B4-BE49-F238E27FC236}">
                  <a16:creationId xmlns:a16="http://schemas.microsoft.com/office/drawing/2014/main" id="{E043D913-E7C1-4B42-B553-35E0A3C64161}"/>
                </a:ext>
              </a:extLst>
            </p:cNvPr>
            <p:cNvSpPr/>
            <p:nvPr/>
          </p:nvSpPr>
          <p:spPr>
            <a:xfrm>
              <a:off x="600483" y="1346400"/>
              <a:ext cx="3119120" cy="38735"/>
            </a:xfrm>
            <a:custGeom>
              <a:avLst/>
              <a:gdLst/>
              <a:ahLst/>
              <a:cxnLst/>
              <a:rect l="l" t="t" r="r" b="b"/>
              <a:pathLst>
                <a:path w="3119120" h="38734">
                  <a:moveTo>
                    <a:pt x="15801" y="38185"/>
                  </a:moveTo>
                  <a:lnTo>
                    <a:pt x="0" y="22383"/>
                  </a:lnTo>
                  <a:lnTo>
                    <a:pt x="24229" y="6012"/>
                  </a:lnTo>
                  <a:lnTo>
                    <a:pt x="53816" y="0"/>
                  </a:lnTo>
                  <a:lnTo>
                    <a:pt x="3065216" y="0"/>
                  </a:lnTo>
                  <a:lnTo>
                    <a:pt x="3094803" y="6012"/>
                  </a:lnTo>
                  <a:lnTo>
                    <a:pt x="3119032" y="22383"/>
                  </a:lnTo>
                  <a:lnTo>
                    <a:pt x="3112841" y="28575"/>
                  </a:lnTo>
                  <a:lnTo>
                    <a:pt x="53816" y="28575"/>
                  </a:lnTo>
                  <a:lnTo>
                    <a:pt x="27927" y="32332"/>
                  </a:lnTo>
                  <a:lnTo>
                    <a:pt x="15801" y="38185"/>
                  </a:lnTo>
                  <a:close/>
                </a:path>
                <a:path w="3119120" h="38734">
                  <a:moveTo>
                    <a:pt x="3103231" y="38185"/>
                  </a:moveTo>
                  <a:lnTo>
                    <a:pt x="3091105" y="32332"/>
                  </a:lnTo>
                  <a:lnTo>
                    <a:pt x="3065216" y="28575"/>
                  </a:lnTo>
                  <a:lnTo>
                    <a:pt x="3112841" y="28575"/>
                  </a:lnTo>
                  <a:lnTo>
                    <a:pt x="3103231" y="38185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6">
              <a:extLst>
                <a:ext uri="{FF2B5EF4-FFF2-40B4-BE49-F238E27FC236}">
                  <a16:creationId xmlns:a16="http://schemas.microsoft.com/office/drawing/2014/main" id="{823B997F-D7DE-4477-BE57-B275CD0458D2}"/>
                </a:ext>
              </a:extLst>
            </p:cNvPr>
            <p:cNvSpPr/>
            <p:nvPr/>
          </p:nvSpPr>
          <p:spPr>
            <a:xfrm>
              <a:off x="720975" y="1775025"/>
              <a:ext cx="2878455" cy="9525"/>
            </a:xfrm>
            <a:custGeom>
              <a:avLst/>
              <a:gdLst/>
              <a:ahLst/>
              <a:cxnLst/>
              <a:rect l="l" t="t" r="r" b="b"/>
              <a:pathLst>
                <a:path w="2878454" h="9525">
                  <a:moveTo>
                    <a:pt x="2878050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2878050" y="0"/>
                  </a:lnTo>
                  <a:lnTo>
                    <a:pt x="2878050" y="9525"/>
                  </a:lnTo>
                  <a:close/>
                </a:path>
              </a:pathLst>
            </a:custGeom>
            <a:solidFill>
              <a:srgbClr val="334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8299C0B5-2AE8-44BF-8632-0C694A26948F}"/>
              </a:ext>
            </a:extLst>
          </p:cNvPr>
          <p:cNvSpPr txBox="1"/>
          <p:nvPr/>
        </p:nvSpPr>
        <p:spPr>
          <a:xfrm>
            <a:off x="781906" y="5841487"/>
            <a:ext cx="6017232" cy="3178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15000"/>
              </a:lnSpc>
              <a:spcAft>
                <a:spcPts val="600"/>
              </a:spcAft>
              <a:tabLst>
                <a:tab pos="457200" algn="l"/>
              </a:tabLst>
            </a:pPr>
            <a:r>
              <a:rPr lang="id-ID" sz="14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MAKSUD DAN TUJUAN</a:t>
            </a:r>
          </a:p>
          <a:p>
            <a:pPr marL="228600" lvl="0" indent="-228600" algn="just">
              <a:lnSpc>
                <a:spcPct val="115000"/>
              </a:lnSpc>
              <a:spcAft>
                <a:spcPts val="600"/>
              </a:spcAft>
              <a:buFont typeface="+mj-lt"/>
              <a:buAutoNum type="alphaLcParenR"/>
              <a:tabLst>
                <a:tab pos="457200" algn="l"/>
              </a:tabLst>
            </a:pPr>
            <a:r>
              <a:rPr lang="en-ID" sz="1200" b="1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Maksud</a:t>
            </a:r>
            <a:r>
              <a:rPr lang="en-ID" sz="1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	</a:t>
            </a:r>
            <a:endParaRPr lang="en-ID" sz="1200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600"/>
              </a:spcAft>
              <a:tabLst>
                <a:tab pos="457200" algn="l"/>
              </a:tabLst>
            </a:pPr>
            <a:r>
              <a:rPr lang="id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	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Menyelenggarakan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wadah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kompetisi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menembak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yang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tertib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aman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dan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terukur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bagi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anggota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Resimen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I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Pasukan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Pelopor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sebagai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sarana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untuk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mengasah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dan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menjaga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kemampuan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menembak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sekaligus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mendukung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program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kerja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Komandan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Resimen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I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Pasukan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Pelopor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dalam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mewujudkan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anggota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yang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profesional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dan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siap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tugas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.</a:t>
            </a:r>
          </a:p>
          <a:p>
            <a:pPr lvl="0" algn="just">
              <a:lnSpc>
                <a:spcPct val="115000"/>
              </a:lnSpc>
              <a:spcAft>
                <a:spcPts val="600"/>
              </a:spcAft>
              <a:tabLst>
                <a:tab pos="457200" algn="l"/>
              </a:tabLst>
            </a:pPr>
            <a:r>
              <a:rPr lang="id-ID" sz="1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b). </a:t>
            </a:r>
            <a:r>
              <a:rPr lang="en-ID" sz="1200" b="1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Tujuan</a:t>
            </a:r>
            <a:r>
              <a:rPr lang="en-ID" sz="1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	</a:t>
            </a:r>
            <a:endParaRPr lang="en-ID" sz="1200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1200"/>
              </a:spcAft>
              <a:tabLst>
                <a:tab pos="457200" algn="l"/>
              </a:tabLst>
            </a:pPr>
            <a:r>
              <a:rPr lang="id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	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Mempererat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tali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silaturahmi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dan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kebersamaan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antar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anggota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Resimen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I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Pasukan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Pelopor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meningkatkan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semangat</a:t>
            </a:r>
            <a:r>
              <a:rPr lang="id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anggota untuk bisa menciptakan P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restasi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di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cabang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olahraga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enembak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serta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enjaring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etembak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-</a:t>
            </a:r>
            <a:r>
              <a:rPr lang="id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etembak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terbaik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Kesatuan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sebagai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bagian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dari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persiapan untuk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menghadapi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Kejuaraan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nasional</a:t>
            </a:r>
            <a:r>
              <a:rPr lang="en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dan </a:t>
            </a:r>
            <a:r>
              <a:rPr lang="id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Tugas Tugas kedepan.</a:t>
            </a:r>
            <a:endParaRPr lang="en-ID" sz="1200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1942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 26"/>
          <p:cNvSpPr txBox="1"/>
          <p:nvPr/>
        </p:nvSpPr>
        <p:spPr>
          <a:xfrm>
            <a:off x="717799" y="510282"/>
            <a:ext cx="4521835" cy="488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INFORMASI</a:t>
            </a:r>
            <a:r>
              <a:rPr sz="1600" spc="-1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F7F9FB"/>
                </a:solidFill>
                <a:latin typeface="Microsoft Sans Serif"/>
                <a:cs typeface="Microsoft Sans Serif"/>
              </a:rPr>
              <a:t>UMUM</a:t>
            </a:r>
            <a:r>
              <a:rPr sz="16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F7F9FB"/>
                </a:solidFill>
                <a:latin typeface="Microsoft Sans Serif"/>
                <a:cs typeface="Microsoft Sans Serif"/>
              </a:rPr>
              <a:t>&amp;</a:t>
            </a:r>
            <a:r>
              <a:rPr sz="1600" spc="-1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60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JADWAL</a:t>
            </a:r>
            <a:r>
              <a:rPr sz="16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 PERTANDINGAN</a:t>
            </a:r>
            <a:endParaRPr sz="16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900" dirty="0">
                <a:solidFill>
                  <a:srgbClr val="93A3B8"/>
                </a:solidFill>
                <a:latin typeface="Microsoft Sans Serif"/>
                <a:cs typeface="Microsoft Sans Serif"/>
              </a:rPr>
              <a:t>BDA</a:t>
            </a:r>
            <a:r>
              <a:rPr sz="900" spc="-15" dirty="0">
                <a:solidFill>
                  <a:srgbClr val="93A3B8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93A3B8"/>
                </a:solidFill>
                <a:latin typeface="Microsoft Sans Serif"/>
                <a:cs typeface="Microsoft Sans Serif"/>
              </a:rPr>
              <a:t>SHOOTING</a:t>
            </a:r>
            <a:r>
              <a:rPr sz="900" spc="-10" dirty="0">
                <a:solidFill>
                  <a:srgbClr val="93A3B8"/>
                </a:solidFill>
                <a:latin typeface="Microsoft Sans Serif"/>
                <a:cs typeface="Microsoft Sans Serif"/>
              </a:rPr>
              <a:t> CHAMPIONSHIP </a:t>
            </a:r>
            <a:r>
              <a:rPr sz="900" spc="-20" dirty="0">
                <a:solidFill>
                  <a:srgbClr val="93A3B8"/>
                </a:solidFill>
                <a:latin typeface="Microsoft Sans Serif"/>
                <a:cs typeface="Microsoft Sans Serif"/>
              </a:rPr>
              <a:t>2026</a:t>
            </a:r>
            <a:endParaRPr sz="900" dirty="0">
              <a:latin typeface="Microsoft Sans Serif"/>
              <a:cs typeface="Microsoft Sans Serif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578100" y="1346400"/>
            <a:ext cx="3164205" cy="1571625"/>
            <a:chOff x="578100" y="1346400"/>
            <a:chExt cx="3164205" cy="1571625"/>
          </a:xfrm>
        </p:grpSpPr>
        <p:sp>
          <p:nvSpPr>
            <p:cNvPr id="3" name="object 3"/>
            <p:cNvSpPr/>
            <p:nvPr/>
          </p:nvSpPr>
          <p:spPr>
            <a:xfrm>
              <a:off x="578100" y="1346400"/>
              <a:ext cx="3164205" cy="1571625"/>
            </a:xfrm>
            <a:custGeom>
              <a:avLst/>
              <a:gdLst/>
              <a:ahLst/>
              <a:cxnLst/>
              <a:rect l="l" t="t" r="r" b="b"/>
              <a:pathLst>
                <a:path w="3164204" h="1571625">
                  <a:moveTo>
                    <a:pt x="3087600" y="1571625"/>
                  </a:moveTo>
                  <a:lnTo>
                    <a:pt x="76200" y="1571625"/>
                  </a:lnTo>
                  <a:lnTo>
                    <a:pt x="46612" y="1565612"/>
                  </a:lnTo>
                  <a:lnTo>
                    <a:pt x="22383" y="1549241"/>
                  </a:lnTo>
                  <a:lnTo>
                    <a:pt x="6012" y="1525012"/>
                  </a:lnTo>
                  <a:lnTo>
                    <a:pt x="0" y="1495425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3087600" y="0"/>
                  </a:lnTo>
                  <a:lnTo>
                    <a:pt x="3117187" y="6012"/>
                  </a:lnTo>
                  <a:lnTo>
                    <a:pt x="3141416" y="22383"/>
                  </a:lnTo>
                  <a:lnTo>
                    <a:pt x="3157787" y="46612"/>
                  </a:lnTo>
                  <a:lnTo>
                    <a:pt x="3163800" y="76200"/>
                  </a:lnTo>
                  <a:lnTo>
                    <a:pt x="3163800" y="1495425"/>
                  </a:lnTo>
                  <a:lnTo>
                    <a:pt x="3157787" y="1525012"/>
                  </a:lnTo>
                  <a:lnTo>
                    <a:pt x="3141416" y="1549241"/>
                  </a:lnTo>
                  <a:lnTo>
                    <a:pt x="3117187" y="1565612"/>
                  </a:lnTo>
                  <a:lnTo>
                    <a:pt x="3087600" y="1571625"/>
                  </a:lnTo>
                  <a:close/>
                </a:path>
              </a:pathLst>
            </a:custGeom>
            <a:solidFill>
              <a:srgbClr val="1D28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78091" y="1368789"/>
              <a:ext cx="3164205" cy="1549400"/>
            </a:xfrm>
            <a:custGeom>
              <a:avLst/>
              <a:gdLst/>
              <a:ahLst/>
              <a:cxnLst/>
              <a:rect l="l" t="t" r="r" b="b"/>
              <a:pathLst>
                <a:path w="3164204" h="1549400">
                  <a:moveTo>
                    <a:pt x="3163798" y="53822"/>
                  </a:moveTo>
                  <a:lnTo>
                    <a:pt x="3157791" y="24231"/>
                  </a:lnTo>
                  <a:lnTo>
                    <a:pt x="3141421" y="0"/>
                  </a:lnTo>
                  <a:lnTo>
                    <a:pt x="3125622" y="15798"/>
                  </a:lnTo>
                  <a:lnTo>
                    <a:pt x="3134690" y="20180"/>
                  </a:lnTo>
                  <a:lnTo>
                    <a:pt x="3149015" y="35318"/>
                  </a:lnTo>
                  <a:lnTo>
                    <a:pt x="3154273" y="53822"/>
                  </a:lnTo>
                  <a:lnTo>
                    <a:pt x="3154273" y="1473047"/>
                  </a:lnTo>
                  <a:lnTo>
                    <a:pt x="3149015" y="1498930"/>
                  </a:lnTo>
                  <a:lnTo>
                    <a:pt x="3134690" y="1520126"/>
                  </a:lnTo>
                  <a:lnTo>
                    <a:pt x="3113494" y="1534452"/>
                  </a:lnTo>
                  <a:lnTo>
                    <a:pt x="3087598" y="1539722"/>
                  </a:lnTo>
                  <a:lnTo>
                    <a:pt x="76200" y="1539722"/>
                  </a:lnTo>
                  <a:lnTo>
                    <a:pt x="50317" y="1534452"/>
                  </a:lnTo>
                  <a:lnTo>
                    <a:pt x="29108" y="1520126"/>
                  </a:lnTo>
                  <a:lnTo>
                    <a:pt x="14782" y="1498930"/>
                  </a:lnTo>
                  <a:lnTo>
                    <a:pt x="9525" y="1473047"/>
                  </a:lnTo>
                  <a:lnTo>
                    <a:pt x="9525" y="53822"/>
                  </a:lnTo>
                  <a:lnTo>
                    <a:pt x="14782" y="35318"/>
                  </a:lnTo>
                  <a:lnTo>
                    <a:pt x="29108" y="20180"/>
                  </a:lnTo>
                  <a:lnTo>
                    <a:pt x="38188" y="15798"/>
                  </a:lnTo>
                  <a:lnTo>
                    <a:pt x="22390" y="0"/>
                  </a:lnTo>
                  <a:lnTo>
                    <a:pt x="6019" y="24231"/>
                  </a:lnTo>
                  <a:lnTo>
                    <a:pt x="0" y="53822"/>
                  </a:lnTo>
                  <a:lnTo>
                    <a:pt x="0" y="1473047"/>
                  </a:lnTo>
                  <a:lnTo>
                    <a:pt x="6019" y="1502625"/>
                  </a:lnTo>
                  <a:lnTo>
                    <a:pt x="22390" y="1526857"/>
                  </a:lnTo>
                  <a:lnTo>
                    <a:pt x="46621" y="1543227"/>
                  </a:lnTo>
                  <a:lnTo>
                    <a:pt x="76200" y="1549247"/>
                  </a:lnTo>
                  <a:lnTo>
                    <a:pt x="3087598" y="1549247"/>
                  </a:lnTo>
                  <a:lnTo>
                    <a:pt x="3141421" y="1526857"/>
                  </a:lnTo>
                  <a:lnTo>
                    <a:pt x="3163798" y="1473047"/>
                  </a:lnTo>
                  <a:lnTo>
                    <a:pt x="3163798" y="53822"/>
                  </a:lnTo>
                  <a:close/>
                </a:path>
              </a:pathLst>
            </a:custGeom>
            <a:solidFill>
              <a:srgbClr val="334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0483" y="1346400"/>
              <a:ext cx="3119120" cy="38735"/>
            </a:xfrm>
            <a:custGeom>
              <a:avLst/>
              <a:gdLst/>
              <a:ahLst/>
              <a:cxnLst/>
              <a:rect l="l" t="t" r="r" b="b"/>
              <a:pathLst>
                <a:path w="3119120" h="38734">
                  <a:moveTo>
                    <a:pt x="15801" y="38185"/>
                  </a:moveTo>
                  <a:lnTo>
                    <a:pt x="0" y="22383"/>
                  </a:lnTo>
                  <a:lnTo>
                    <a:pt x="24229" y="6012"/>
                  </a:lnTo>
                  <a:lnTo>
                    <a:pt x="53816" y="0"/>
                  </a:lnTo>
                  <a:lnTo>
                    <a:pt x="3065216" y="0"/>
                  </a:lnTo>
                  <a:lnTo>
                    <a:pt x="3094803" y="6012"/>
                  </a:lnTo>
                  <a:lnTo>
                    <a:pt x="3119032" y="22383"/>
                  </a:lnTo>
                  <a:lnTo>
                    <a:pt x="3112841" y="28575"/>
                  </a:lnTo>
                  <a:lnTo>
                    <a:pt x="53816" y="28575"/>
                  </a:lnTo>
                  <a:lnTo>
                    <a:pt x="27927" y="32332"/>
                  </a:lnTo>
                  <a:lnTo>
                    <a:pt x="15801" y="38185"/>
                  </a:lnTo>
                  <a:close/>
                </a:path>
                <a:path w="3119120" h="38734">
                  <a:moveTo>
                    <a:pt x="3103231" y="38185"/>
                  </a:moveTo>
                  <a:lnTo>
                    <a:pt x="3091105" y="32332"/>
                  </a:lnTo>
                  <a:lnTo>
                    <a:pt x="3065216" y="28575"/>
                  </a:lnTo>
                  <a:lnTo>
                    <a:pt x="3112841" y="28575"/>
                  </a:lnTo>
                  <a:lnTo>
                    <a:pt x="3103231" y="38185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20975" y="1775025"/>
              <a:ext cx="2878455" cy="9525"/>
            </a:xfrm>
            <a:custGeom>
              <a:avLst/>
              <a:gdLst/>
              <a:ahLst/>
              <a:cxnLst/>
              <a:rect l="l" t="t" r="r" b="b"/>
              <a:pathLst>
                <a:path w="2878454" h="9525">
                  <a:moveTo>
                    <a:pt x="2878050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2878050" y="0"/>
                  </a:lnTo>
                  <a:lnTo>
                    <a:pt x="2878050" y="9525"/>
                  </a:lnTo>
                  <a:close/>
                </a:path>
              </a:pathLst>
            </a:custGeom>
            <a:solidFill>
              <a:srgbClr val="334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616285" y="1492693"/>
            <a:ext cx="3088005" cy="12105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solidFill>
                  <a:srgbClr val="F49E0A"/>
                </a:solidFill>
                <a:latin typeface="Microsoft Sans Serif"/>
                <a:cs typeface="Microsoft Sans Serif"/>
              </a:rPr>
              <a:t>MATERI </a:t>
            </a:r>
            <a:r>
              <a:rPr sz="1100" spc="-10" dirty="0">
                <a:solidFill>
                  <a:srgbClr val="F49E0A"/>
                </a:solidFill>
                <a:latin typeface="Microsoft Sans Serif"/>
                <a:cs typeface="Microsoft Sans Serif"/>
              </a:rPr>
              <a:t>PERTANDINGAN</a:t>
            </a:r>
            <a:endParaRPr sz="11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1100" dirty="0">
              <a:latin typeface="Microsoft Sans Serif"/>
              <a:cs typeface="Microsoft Sans Serif"/>
            </a:endParaRPr>
          </a:p>
          <a:p>
            <a:pPr marL="274955" indent="-79375">
              <a:lnSpc>
                <a:spcPct val="100000"/>
              </a:lnSpc>
              <a:buFont typeface="Microsoft Sans Serif"/>
              <a:buChar char="▪"/>
              <a:tabLst>
                <a:tab pos="274955" algn="l"/>
              </a:tabLst>
            </a:pPr>
            <a:r>
              <a:rPr sz="1000" b="1" dirty="0">
                <a:solidFill>
                  <a:srgbClr val="F7F9FB"/>
                </a:solidFill>
                <a:latin typeface="Arial"/>
                <a:cs typeface="Arial"/>
              </a:rPr>
              <a:t>DUELING</a:t>
            </a:r>
            <a:r>
              <a:rPr sz="1000" b="1" spc="-40" dirty="0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sz="1000" b="1" spc="-20" dirty="0">
                <a:solidFill>
                  <a:srgbClr val="F7F9FB"/>
                </a:solidFill>
                <a:latin typeface="Arial"/>
                <a:cs typeface="Arial"/>
              </a:rPr>
              <a:t>PLAT</a:t>
            </a:r>
            <a:endParaRPr sz="1000" dirty="0">
              <a:latin typeface="Arial"/>
              <a:cs typeface="Arial"/>
            </a:endParaRPr>
          </a:p>
          <a:p>
            <a:pPr marL="275590">
              <a:lnSpc>
                <a:spcPct val="100000"/>
              </a:lnSpc>
              <a:spcBef>
                <a:spcPts val="300"/>
              </a:spcBef>
            </a:pPr>
            <a:r>
              <a:rPr sz="1000" dirty="0">
                <a:solidFill>
                  <a:srgbClr val="93A3B8"/>
                </a:solidFill>
                <a:latin typeface="Microsoft Sans Serif"/>
                <a:cs typeface="Microsoft Sans Serif"/>
              </a:rPr>
              <a:t>Kelas</a:t>
            </a:r>
            <a:r>
              <a:rPr sz="1000" spc="-5" dirty="0">
                <a:solidFill>
                  <a:srgbClr val="93A3B8"/>
                </a:solidFill>
                <a:latin typeface="Microsoft Sans Serif"/>
                <a:cs typeface="Microsoft Sans Serif"/>
              </a:rPr>
              <a:t> </a:t>
            </a:r>
            <a:r>
              <a:rPr sz="1000" dirty="0" err="1">
                <a:solidFill>
                  <a:srgbClr val="93A3B8"/>
                </a:solidFill>
                <a:latin typeface="Microsoft Sans Serif"/>
                <a:cs typeface="Microsoft Sans Serif"/>
              </a:rPr>
              <a:t>Individu</a:t>
            </a:r>
            <a:r>
              <a:rPr sz="1000" spc="-5" dirty="0">
                <a:solidFill>
                  <a:srgbClr val="93A3B8"/>
                </a:solidFill>
                <a:latin typeface="Microsoft Sans Serif"/>
                <a:cs typeface="Microsoft Sans Serif"/>
              </a:rPr>
              <a:t> </a:t>
            </a:r>
            <a:endParaRPr sz="1000" dirty="0">
              <a:latin typeface="Microsoft Sans Serif"/>
              <a:cs typeface="Microsoft Sans Serif"/>
            </a:endParaRPr>
          </a:p>
          <a:p>
            <a:pPr marL="274955" indent="-79375">
              <a:lnSpc>
                <a:spcPct val="100000"/>
              </a:lnSpc>
              <a:spcBef>
                <a:spcPts val="900"/>
              </a:spcBef>
              <a:buFont typeface="Microsoft Sans Serif"/>
              <a:buChar char="▪"/>
              <a:tabLst>
                <a:tab pos="274955" algn="l"/>
              </a:tabLst>
            </a:pPr>
            <a:r>
              <a:rPr sz="1000" b="1" dirty="0">
                <a:solidFill>
                  <a:srgbClr val="F7F9FB"/>
                </a:solidFill>
                <a:latin typeface="Arial"/>
                <a:cs typeface="Arial"/>
              </a:rPr>
              <a:t>PISTOL</a:t>
            </a:r>
            <a:r>
              <a:rPr sz="1000" b="1" spc="-30" dirty="0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7F9FB"/>
                </a:solidFill>
                <a:latin typeface="Arial"/>
                <a:cs typeface="Arial"/>
              </a:rPr>
              <a:t>PRESISI</a:t>
            </a:r>
            <a:r>
              <a:rPr sz="1000" b="1" spc="-25" dirty="0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7F9FB"/>
                </a:solidFill>
                <a:latin typeface="Arial"/>
                <a:cs typeface="Arial"/>
              </a:rPr>
              <a:t>20</a:t>
            </a:r>
            <a:r>
              <a:rPr sz="1000" b="1" spc="-30" dirty="0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sz="1000" b="1" spc="-50" dirty="0">
                <a:solidFill>
                  <a:srgbClr val="F7F9FB"/>
                </a:solidFill>
                <a:latin typeface="Arial"/>
                <a:cs typeface="Arial"/>
              </a:rPr>
              <a:t>M</a:t>
            </a:r>
            <a:endParaRPr sz="1000" dirty="0">
              <a:latin typeface="Arial"/>
              <a:cs typeface="Arial"/>
            </a:endParaRPr>
          </a:p>
          <a:p>
            <a:pPr marL="275590">
              <a:lnSpc>
                <a:spcPct val="100000"/>
              </a:lnSpc>
              <a:spcBef>
                <a:spcPts val="300"/>
              </a:spcBef>
            </a:pPr>
            <a:r>
              <a:rPr sz="1000" dirty="0">
                <a:solidFill>
                  <a:srgbClr val="93A3B8"/>
                </a:solidFill>
                <a:latin typeface="Microsoft Sans Serif"/>
                <a:cs typeface="Microsoft Sans Serif"/>
              </a:rPr>
              <a:t>Kelas</a:t>
            </a:r>
            <a:r>
              <a:rPr sz="1000" spc="-20" dirty="0">
                <a:solidFill>
                  <a:srgbClr val="93A3B8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93A3B8"/>
                </a:solidFill>
                <a:latin typeface="Microsoft Sans Serif"/>
                <a:cs typeface="Microsoft Sans Serif"/>
              </a:rPr>
              <a:t>Individu</a:t>
            </a:r>
            <a:endParaRPr sz="1000" dirty="0">
              <a:latin typeface="Microsoft Sans Serif"/>
              <a:cs typeface="Microsoft Sans Serif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818100" y="1346400"/>
            <a:ext cx="3164205" cy="2581275"/>
            <a:chOff x="3818100" y="1346400"/>
            <a:chExt cx="3164205" cy="2581275"/>
          </a:xfrm>
        </p:grpSpPr>
        <p:sp>
          <p:nvSpPr>
            <p:cNvPr id="13" name="object 13"/>
            <p:cNvSpPr/>
            <p:nvPr/>
          </p:nvSpPr>
          <p:spPr>
            <a:xfrm>
              <a:off x="3818100" y="1346400"/>
              <a:ext cx="3164205" cy="2581275"/>
            </a:xfrm>
            <a:custGeom>
              <a:avLst/>
              <a:gdLst/>
              <a:ahLst/>
              <a:cxnLst/>
              <a:rect l="l" t="t" r="r" b="b"/>
              <a:pathLst>
                <a:path w="3164204" h="2581275">
                  <a:moveTo>
                    <a:pt x="3087600" y="2581275"/>
                  </a:moveTo>
                  <a:lnTo>
                    <a:pt x="76200" y="2581275"/>
                  </a:lnTo>
                  <a:lnTo>
                    <a:pt x="46612" y="2575262"/>
                  </a:lnTo>
                  <a:lnTo>
                    <a:pt x="22383" y="2558891"/>
                  </a:lnTo>
                  <a:lnTo>
                    <a:pt x="6012" y="2534662"/>
                  </a:lnTo>
                  <a:lnTo>
                    <a:pt x="0" y="2505075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3087600" y="0"/>
                  </a:lnTo>
                  <a:lnTo>
                    <a:pt x="3117187" y="6012"/>
                  </a:lnTo>
                  <a:lnTo>
                    <a:pt x="3141416" y="22383"/>
                  </a:lnTo>
                  <a:lnTo>
                    <a:pt x="3157787" y="46612"/>
                  </a:lnTo>
                  <a:lnTo>
                    <a:pt x="3163800" y="76200"/>
                  </a:lnTo>
                  <a:lnTo>
                    <a:pt x="3163800" y="2505075"/>
                  </a:lnTo>
                  <a:lnTo>
                    <a:pt x="3157787" y="2534662"/>
                  </a:lnTo>
                  <a:lnTo>
                    <a:pt x="3141416" y="2558891"/>
                  </a:lnTo>
                  <a:lnTo>
                    <a:pt x="3117187" y="2575262"/>
                  </a:lnTo>
                  <a:lnTo>
                    <a:pt x="3087600" y="2581275"/>
                  </a:lnTo>
                  <a:close/>
                </a:path>
              </a:pathLst>
            </a:custGeom>
            <a:solidFill>
              <a:srgbClr val="1D28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18090" y="1368789"/>
              <a:ext cx="3164205" cy="2559050"/>
            </a:xfrm>
            <a:custGeom>
              <a:avLst/>
              <a:gdLst/>
              <a:ahLst/>
              <a:cxnLst/>
              <a:rect l="l" t="t" r="r" b="b"/>
              <a:pathLst>
                <a:path w="3164204" h="2559050">
                  <a:moveTo>
                    <a:pt x="3163798" y="53822"/>
                  </a:moveTo>
                  <a:lnTo>
                    <a:pt x="3157791" y="24231"/>
                  </a:lnTo>
                  <a:lnTo>
                    <a:pt x="3141421" y="0"/>
                  </a:lnTo>
                  <a:lnTo>
                    <a:pt x="3125622" y="15798"/>
                  </a:lnTo>
                  <a:lnTo>
                    <a:pt x="3134690" y="20180"/>
                  </a:lnTo>
                  <a:lnTo>
                    <a:pt x="3149015" y="35318"/>
                  </a:lnTo>
                  <a:lnTo>
                    <a:pt x="3154273" y="53822"/>
                  </a:lnTo>
                  <a:lnTo>
                    <a:pt x="3154273" y="2482697"/>
                  </a:lnTo>
                  <a:lnTo>
                    <a:pt x="3149015" y="2508580"/>
                  </a:lnTo>
                  <a:lnTo>
                    <a:pt x="3134690" y="2529776"/>
                  </a:lnTo>
                  <a:lnTo>
                    <a:pt x="3113494" y="2544102"/>
                  </a:lnTo>
                  <a:lnTo>
                    <a:pt x="3087598" y="2549372"/>
                  </a:lnTo>
                  <a:lnTo>
                    <a:pt x="76200" y="2549372"/>
                  </a:lnTo>
                  <a:lnTo>
                    <a:pt x="50317" y="2544102"/>
                  </a:lnTo>
                  <a:lnTo>
                    <a:pt x="29121" y="2529776"/>
                  </a:lnTo>
                  <a:lnTo>
                    <a:pt x="14795" y="2508580"/>
                  </a:lnTo>
                  <a:lnTo>
                    <a:pt x="9525" y="2482697"/>
                  </a:lnTo>
                  <a:lnTo>
                    <a:pt x="9525" y="53822"/>
                  </a:lnTo>
                  <a:lnTo>
                    <a:pt x="14795" y="35318"/>
                  </a:lnTo>
                  <a:lnTo>
                    <a:pt x="29121" y="20180"/>
                  </a:lnTo>
                  <a:lnTo>
                    <a:pt x="38188" y="15798"/>
                  </a:lnTo>
                  <a:lnTo>
                    <a:pt x="22390" y="0"/>
                  </a:lnTo>
                  <a:lnTo>
                    <a:pt x="6019" y="24231"/>
                  </a:lnTo>
                  <a:lnTo>
                    <a:pt x="0" y="53822"/>
                  </a:lnTo>
                  <a:lnTo>
                    <a:pt x="0" y="2482697"/>
                  </a:lnTo>
                  <a:lnTo>
                    <a:pt x="6019" y="2512276"/>
                  </a:lnTo>
                  <a:lnTo>
                    <a:pt x="22390" y="2536507"/>
                  </a:lnTo>
                  <a:lnTo>
                    <a:pt x="46621" y="2552877"/>
                  </a:lnTo>
                  <a:lnTo>
                    <a:pt x="76200" y="2558897"/>
                  </a:lnTo>
                  <a:lnTo>
                    <a:pt x="3087598" y="2558897"/>
                  </a:lnTo>
                  <a:lnTo>
                    <a:pt x="3141421" y="2536507"/>
                  </a:lnTo>
                  <a:lnTo>
                    <a:pt x="3163798" y="2482697"/>
                  </a:lnTo>
                  <a:lnTo>
                    <a:pt x="3163798" y="53822"/>
                  </a:lnTo>
                  <a:close/>
                </a:path>
              </a:pathLst>
            </a:custGeom>
            <a:solidFill>
              <a:srgbClr val="334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40484" y="1346400"/>
              <a:ext cx="3119120" cy="38735"/>
            </a:xfrm>
            <a:custGeom>
              <a:avLst/>
              <a:gdLst/>
              <a:ahLst/>
              <a:cxnLst/>
              <a:rect l="l" t="t" r="r" b="b"/>
              <a:pathLst>
                <a:path w="3119120" h="38734">
                  <a:moveTo>
                    <a:pt x="15801" y="38185"/>
                  </a:moveTo>
                  <a:lnTo>
                    <a:pt x="0" y="22383"/>
                  </a:lnTo>
                  <a:lnTo>
                    <a:pt x="24229" y="6012"/>
                  </a:lnTo>
                  <a:lnTo>
                    <a:pt x="53816" y="0"/>
                  </a:lnTo>
                  <a:lnTo>
                    <a:pt x="3065216" y="0"/>
                  </a:lnTo>
                  <a:lnTo>
                    <a:pt x="3094803" y="6012"/>
                  </a:lnTo>
                  <a:lnTo>
                    <a:pt x="3119032" y="22383"/>
                  </a:lnTo>
                  <a:lnTo>
                    <a:pt x="3112841" y="28575"/>
                  </a:lnTo>
                  <a:lnTo>
                    <a:pt x="53816" y="28575"/>
                  </a:lnTo>
                  <a:lnTo>
                    <a:pt x="27927" y="32332"/>
                  </a:lnTo>
                  <a:lnTo>
                    <a:pt x="15801" y="38185"/>
                  </a:lnTo>
                  <a:close/>
                </a:path>
                <a:path w="3119120" h="38734">
                  <a:moveTo>
                    <a:pt x="3103231" y="38185"/>
                  </a:moveTo>
                  <a:lnTo>
                    <a:pt x="3091105" y="32332"/>
                  </a:lnTo>
                  <a:lnTo>
                    <a:pt x="3065216" y="28575"/>
                  </a:lnTo>
                  <a:lnTo>
                    <a:pt x="3112841" y="28575"/>
                  </a:lnTo>
                  <a:lnTo>
                    <a:pt x="3103231" y="38185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960975" y="1775025"/>
              <a:ext cx="2878455" cy="9525"/>
            </a:xfrm>
            <a:custGeom>
              <a:avLst/>
              <a:gdLst/>
              <a:ahLst/>
              <a:cxnLst/>
              <a:rect l="l" t="t" r="r" b="b"/>
              <a:pathLst>
                <a:path w="2878454" h="9525">
                  <a:moveTo>
                    <a:pt x="2878050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2878050" y="0"/>
                  </a:lnTo>
                  <a:lnTo>
                    <a:pt x="2878050" y="9525"/>
                  </a:lnTo>
                  <a:close/>
                </a:path>
              </a:pathLst>
            </a:custGeom>
            <a:solidFill>
              <a:srgbClr val="334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948274" y="1492693"/>
            <a:ext cx="13830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49E0A"/>
                </a:solidFill>
                <a:latin typeface="Microsoft Sans Serif"/>
                <a:cs typeface="Microsoft Sans Serif"/>
              </a:rPr>
              <a:t>HADIAH</a:t>
            </a:r>
            <a:r>
              <a:rPr sz="1100" spc="-65" dirty="0">
                <a:solidFill>
                  <a:srgbClr val="F49E0A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F49E0A"/>
                </a:solidFill>
                <a:latin typeface="Microsoft Sans Serif"/>
                <a:cs typeface="Microsoft Sans Serif"/>
              </a:rPr>
              <a:t>PEMENANG</a:t>
            </a:r>
            <a:endParaRPr sz="1100" dirty="0">
              <a:latin typeface="Microsoft Sans Serif"/>
              <a:cs typeface="Microsoft Sans Serif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948274" y="1832446"/>
            <a:ext cx="2495550" cy="3232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850" dirty="0">
                <a:solidFill>
                  <a:srgbClr val="93A3B8"/>
                </a:solidFill>
                <a:latin typeface="Microsoft Sans Serif"/>
                <a:cs typeface="Microsoft Sans Serif"/>
              </a:rPr>
              <a:t>Berlaku</a:t>
            </a:r>
            <a:r>
              <a:rPr sz="850" spc="-25" dirty="0">
                <a:solidFill>
                  <a:srgbClr val="93A3B8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93A3B8"/>
                </a:solidFill>
                <a:latin typeface="Microsoft Sans Serif"/>
                <a:cs typeface="Microsoft Sans Serif"/>
              </a:rPr>
              <a:t>untuk</a:t>
            </a:r>
            <a:r>
              <a:rPr sz="850" spc="-25" dirty="0">
                <a:solidFill>
                  <a:srgbClr val="93A3B8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93A3B8"/>
                </a:solidFill>
                <a:latin typeface="Microsoft Sans Serif"/>
                <a:cs typeface="Microsoft Sans Serif"/>
              </a:rPr>
              <a:t>Presisi</a:t>
            </a:r>
            <a:r>
              <a:rPr sz="850" spc="-25" dirty="0">
                <a:solidFill>
                  <a:srgbClr val="93A3B8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93A3B8"/>
                </a:solidFill>
                <a:latin typeface="Microsoft Sans Serif"/>
                <a:cs typeface="Microsoft Sans Serif"/>
              </a:rPr>
              <a:t>20M</a:t>
            </a:r>
            <a:r>
              <a:rPr sz="850" spc="-25" dirty="0">
                <a:solidFill>
                  <a:srgbClr val="93A3B8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93A3B8"/>
                </a:solidFill>
                <a:latin typeface="Microsoft Sans Serif"/>
                <a:cs typeface="Microsoft Sans Serif"/>
              </a:rPr>
              <a:t>&amp;</a:t>
            </a:r>
            <a:r>
              <a:rPr sz="850" spc="-25" dirty="0">
                <a:solidFill>
                  <a:srgbClr val="93A3B8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93A3B8"/>
                </a:solidFill>
                <a:latin typeface="Microsoft Sans Serif"/>
                <a:cs typeface="Microsoft Sans Serif"/>
              </a:rPr>
              <a:t>Dueling</a:t>
            </a:r>
            <a:r>
              <a:rPr sz="850" spc="-25" dirty="0">
                <a:solidFill>
                  <a:srgbClr val="93A3B8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93A3B8"/>
                </a:solidFill>
                <a:latin typeface="Microsoft Sans Serif"/>
                <a:cs typeface="Microsoft Sans Serif"/>
              </a:rPr>
              <a:t>Plat</a:t>
            </a:r>
            <a:r>
              <a:rPr sz="850" spc="-25" dirty="0">
                <a:solidFill>
                  <a:srgbClr val="93A3B8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93A3B8"/>
                </a:solidFill>
                <a:latin typeface="Microsoft Sans Serif"/>
                <a:cs typeface="Microsoft Sans Serif"/>
              </a:rPr>
              <a:t>(Masing-Masing): </a:t>
            </a:r>
            <a:r>
              <a:rPr lang="en-ID" sz="850" spc="-10" dirty="0" err="1">
                <a:solidFill>
                  <a:srgbClr val="93A3B8"/>
                </a:solidFill>
                <a:latin typeface="Microsoft Sans Serif"/>
                <a:cs typeface="Microsoft Sans Serif"/>
              </a:rPr>
              <a:t>Trofhy</a:t>
            </a:r>
            <a:r>
              <a:rPr lang="en-ID" sz="850" spc="-10" dirty="0">
                <a:solidFill>
                  <a:srgbClr val="93A3B8"/>
                </a:solidFill>
                <a:latin typeface="Microsoft Sans Serif"/>
                <a:cs typeface="Microsoft Sans Serif"/>
              </a:rPr>
              <a:t>, </a:t>
            </a:r>
            <a:r>
              <a:rPr lang="en-ID" sz="850" spc="-10" dirty="0" err="1">
                <a:solidFill>
                  <a:srgbClr val="93A3B8"/>
                </a:solidFill>
                <a:latin typeface="Microsoft Sans Serif"/>
                <a:cs typeface="Microsoft Sans Serif"/>
              </a:rPr>
              <a:t>Sertifikat</a:t>
            </a:r>
            <a:r>
              <a:rPr lang="en-ID" sz="850" spc="-10" dirty="0">
                <a:solidFill>
                  <a:srgbClr val="93A3B8"/>
                </a:solidFill>
                <a:latin typeface="Microsoft Sans Serif"/>
                <a:cs typeface="Microsoft Sans Serif"/>
              </a:rPr>
              <a:t>, </a:t>
            </a:r>
            <a:r>
              <a:rPr lang="en-ID" sz="850" spc="-10" dirty="0" err="1">
                <a:solidFill>
                  <a:srgbClr val="93A3B8"/>
                </a:solidFill>
                <a:latin typeface="Microsoft Sans Serif"/>
                <a:cs typeface="Microsoft Sans Serif"/>
              </a:rPr>
              <a:t>Piagam</a:t>
            </a:r>
            <a:r>
              <a:rPr lang="en-ID" sz="850" spc="-10" dirty="0">
                <a:solidFill>
                  <a:srgbClr val="93A3B8"/>
                </a:solidFill>
                <a:latin typeface="Microsoft Sans Serif"/>
                <a:cs typeface="Microsoft Sans Serif"/>
              </a:rPr>
              <a:t> Banner </a:t>
            </a:r>
            <a:r>
              <a:rPr lang="en-ID" sz="850" spc="-10" dirty="0" err="1">
                <a:solidFill>
                  <a:srgbClr val="93A3B8"/>
                </a:solidFill>
                <a:latin typeface="Microsoft Sans Serif"/>
                <a:cs typeface="Microsoft Sans Serif"/>
              </a:rPr>
              <a:t>Juara</a:t>
            </a:r>
            <a:r>
              <a:rPr lang="id-ID" sz="850" spc="-10" dirty="0">
                <a:solidFill>
                  <a:srgbClr val="93A3B8"/>
                </a:solidFill>
                <a:latin typeface="Microsoft Sans Serif"/>
                <a:cs typeface="Microsoft Sans Serif"/>
              </a:rPr>
              <a:t>.</a:t>
            </a:r>
            <a:endParaRPr sz="850" dirty="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960965" y="2613224"/>
            <a:ext cx="2878455" cy="1052830"/>
          </a:xfrm>
          <a:custGeom>
            <a:avLst/>
            <a:gdLst/>
            <a:ahLst/>
            <a:cxnLst/>
            <a:rect l="l" t="t" r="r" b="b"/>
            <a:pathLst>
              <a:path w="2878454" h="1052829">
                <a:moveTo>
                  <a:pt x="2878048" y="0"/>
                </a:moveTo>
                <a:lnTo>
                  <a:pt x="1021943" y="0"/>
                </a:lnTo>
                <a:lnTo>
                  <a:pt x="0" y="0"/>
                </a:lnTo>
                <a:lnTo>
                  <a:pt x="0" y="347662"/>
                </a:lnTo>
                <a:lnTo>
                  <a:pt x="0" y="700087"/>
                </a:lnTo>
                <a:lnTo>
                  <a:pt x="0" y="1052512"/>
                </a:lnTo>
                <a:lnTo>
                  <a:pt x="1021943" y="1052512"/>
                </a:lnTo>
                <a:lnTo>
                  <a:pt x="2878048" y="1052512"/>
                </a:lnTo>
                <a:lnTo>
                  <a:pt x="2878048" y="700087"/>
                </a:lnTo>
                <a:lnTo>
                  <a:pt x="2878048" y="347662"/>
                </a:lnTo>
                <a:lnTo>
                  <a:pt x="2878048" y="0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056225" y="2689425"/>
            <a:ext cx="509270" cy="190500"/>
          </a:xfrm>
          <a:custGeom>
            <a:avLst/>
            <a:gdLst/>
            <a:ahLst/>
            <a:cxnLst/>
            <a:rect l="l" t="t" r="r" b="b"/>
            <a:pathLst>
              <a:path w="509270" h="190500">
                <a:moveTo>
                  <a:pt x="470622" y="190500"/>
                </a:moveTo>
                <a:lnTo>
                  <a:pt x="38100" y="190500"/>
                </a:lnTo>
                <a:lnTo>
                  <a:pt x="23306" y="187493"/>
                </a:lnTo>
                <a:lnTo>
                  <a:pt x="11191" y="179308"/>
                </a:lnTo>
                <a:lnTo>
                  <a:pt x="3006" y="167193"/>
                </a:lnTo>
                <a:lnTo>
                  <a:pt x="0" y="152400"/>
                </a:lnTo>
                <a:lnTo>
                  <a:pt x="0" y="38100"/>
                </a:lnTo>
                <a:lnTo>
                  <a:pt x="3006" y="23306"/>
                </a:lnTo>
                <a:lnTo>
                  <a:pt x="11191" y="11191"/>
                </a:lnTo>
                <a:lnTo>
                  <a:pt x="23306" y="3006"/>
                </a:lnTo>
                <a:lnTo>
                  <a:pt x="38100" y="0"/>
                </a:lnTo>
                <a:lnTo>
                  <a:pt x="470622" y="0"/>
                </a:lnTo>
                <a:lnTo>
                  <a:pt x="485415" y="3006"/>
                </a:lnTo>
                <a:lnTo>
                  <a:pt x="497530" y="11191"/>
                </a:lnTo>
                <a:lnTo>
                  <a:pt x="505716" y="23306"/>
                </a:lnTo>
                <a:lnTo>
                  <a:pt x="508722" y="38100"/>
                </a:lnTo>
                <a:lnTo>
                  <a:pt x="508722" y="152400"/>
                </a:lnTo>
                <a:lnTo>
                  <a:pt x="505716" y="167193"/>
                </a:lnTo>
                <a:lnTo>
                  <a:pt x="497530" y="179308"/>
                </a:lnTo>
                <a:lnTo>
                  <a:pt x="485415" y="187493"/>
                </a:lnTo>
                <a:lnTo>
                  <a:pt x="470622" y="190500"/>
                </a:lnTo>
                <a:close/>
              </a:path>
            </a:pathLst>
          </a:custGeom>
          <a:solidFill>
            <a:srgbClr val="B3520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578100" y="3060900"/>
            <a:ext cx="3164205" cy="1790700"/>
            <a:chOff x="578100" y="3060900"/>
            <a:chExt cx="3164205" cy="1790700"/>
          </a:xfrm>
        </p:grpSpPr>
        <p:sp>
          <p:nvSpPr>
            <p:cNvPr id="8" name="object 8"/>
            <p:cNvSpPr/>
            <p:nvPr/>
          </p:nvSpPr>
          <p:spPr>
            <a:xfrm>
              <a:off x="578100" y="3060900"/>
              <a:ext cx="3164205" cy="1790700"/>
            </a:xfrm>
            <a:custGeom>
              <a:avLst/>
              <a:gdLst/>
              <a:ahLst/>
              <a:cxnLst/>
              <a:rect l="l" t="t" r="r" b="b"/>
              <a:pathLst>
                <a:path w="3164204" h="1790700">
                  <a:moveTo>
                    <a:pt x="3087600" y="1790700"/>
                  </a:moveTo>
                  <a:lnTo>
                    <a:pt x="76200" y="1790700"/>
                  </a:lnTo>
                  <a:lnTo>
                    <a:pt x="46612" y="1784687"/>
                  </a:lnTo>
                  <a:lnTo>
                    <a:pt x="22383" y="1768316"/>
                  </a:lnTo>
                  <a:lnTo>
                    <a:pt x="6012" y="1744087"/>
                  </a:lnTo>
                  <a:lnTo>
                    <a:pt x="0" y="171450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3087600" y="0"/>
                  </a:lnTo>
                  <a:lnTo>
                    <a:pt x="3117187" y="6012"/>
                  </a:lnTo>
                  <a:lnTo>
                    <a:pt x="3141416" y="22383"/>
                  </a:lnTo>
                  <a:lnTo>
                    <a:pt x="3157787" y="46612"/>
                  </a:lnTo>
                  <a:lnTo>
                    <a:pt x="3163800" y="76200"/>
                  </a:lnTo>
                  <a:lnTo>
                    <a:pt x="3163800" y="1714500"/>
                  </a:lnTo>
                  <a:lnTo>
                    <a:pt x="3157787" y="1744087"/>
                  </a:lnTo>
                  <a:lnTo>
                    <a:pt x="3141416" y="1768316"/>
                  </a:lnTo>
                  <a:lnTo>
                    <a:pt x="3117187" y="1784687"/>
                  </a:lnTo>
                  <a:lnTo>
                    <a:pt x="3087600" y="1790700"/>
                  </a:lnTo>
                  <a:close/>
                </a:path>
              </a:pathLst>
            </a:custGeom>
            <a:solidFill>
              <a:srgbClr val="1D28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8091" y="3083289"/>
              <a:ext cx="3164205" cy="1768475"/>
            </a:xfrm>
            <a:custGeom>
              <a:avLst/>
              <a:gdLst/>
              <a:ahLst/>
              <a:cxnLst/>
              <a:rect l="l" t="t" r="r" b="b"/>
              <a:pathLst>
                <a:path w="3164204" h="1768475">
                  <a:moveTo>
                    <a:pt x="3163798" y="53822"/>
                  </a:moveTo>
                  <a:lnTo>
                    <a:pt x="3157791" y="24231"/>
                  </a:lnTo>
                  <a:lnTo>
                    <a:pt x="3141421" y="0"/>
                  </a:lnTo>
                  <a:lnTo>
                    <a:pt x="3125622" y="15798"/>
                  </a:lnTo>
                  <a:lnTo>
                    <a:pt x="3134690" y="20180"/>
                  </a:lnTo>
                  <a:lnTo>
                    <a:pt x="3149015" y="35318"/>
                  </a:lnTo>
                  <a:lnTo>
                    <a:pt x="3154273" y="53822"/>
                  </a:lnTo>
                  <a:lnTo>
                    <a:pt x="3154273" y="1692122"/>
                  </a:lnTo>
                  <a:lnTo>
                    <a:pt x="3149015" y="1718005"/>
                  </a:lnTo>
                  <a:lnTo>
                    <a:pt x="3134690" y="1739201"/>
                  </a:lnTo>
                  <a:lnTo>
                    <a:pt x="3113494" y="1753527"/>
                  </a:lnTo>
                  <a:lnTo>
                    <a:pt x="3087598" y="1758797"/>
                  </a:lnTo>
                  <a:lnTo>
                    <a:pt x="76200" y="1758797"/>
                  </a:lnTo>
                  <a:lnTo>
                    <a:pt x="50317" y="1753527"/>
                  </a:lnTo>
                  <a:lnTo>
                    <a:pt x="29108" y="1739201"/>
                  </a:lnTo>
                  <a:lnTo>
                    <a:pt x="14782" y="1718005"/>
                  </a:lnTo>
                  <a:lnTo>
                    <a:pt x="9525" y="1692122"/>
                  </a:lnTo>
                  <a:lnTo>
                    <a:pt x="9525" y="53822"/>
                  </a:lnTo>
                  <a:lnTo>
                    <a:pt x="14782" y="35318"/>
                  </a:lnTo>
                  <a:lnTo>
                    <a:pt x="29108" y="20180"/>
                  </a:lnTo>
                  <a:lnTo>
                    <a:pt x="38188" y="15798"/>
                  </a:lnTo>
                  <a:lnTo>
                    <a:pt x="22390" y="0"/>
                  </a:lnTo>
                  <a:lnTo>
                    <a:pt x="6019" y="24231"/>
                  </a:lnTo>
                  <a:lnTo>
                    <a:pt x="0" y="53822"/>
                  </a:lnTo>
                  <a:lnTo>
                    <a:pt x="0" y="1692122"/>
                  </a:lnTo>
                  <a:lnTo>
                    <a:pt x="6019" y="1721700"/>
                  </a:lnTo>
                  <a:lnTo>
                    <a:pt x="22390" y="1745932"/>
                  </a:lnTo>
                  <a:lnTo>
                    <a:pt x="46621" y="1762302"/>
                  </a:lnTo>
                  <a:lnTo>
                    <a:pt x="76200" y="1768322"/>
                  </a:lnTo>
                  <a:lnTo>
                    <a:pt x="3087598" y="1768322"/>
                  </a:lnTo>
                  <a:lnTo>
                    <a:pt x="3141421" y="1745932"/>
                  </a:lnTo>
                  <a:lnTo>
                    <a:pt x="3163798" y="1692122"/>
                  </a:lnTo>
                  <a:lnTo>
                    <a:pt x="3163798" y="53822"/>
                  </a:lnTo>
                  <a:close/>
                </a:path>
              </a:pathLst>
            </a:custGeom>
            <a:solidFill>
              <a:srgbClr val="334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00483" y="3060900"/>
              <a:ext cx="3119120" cy="38735"/>
            </a:xfrm>
            <a:custGeom>
              <a:avLst/>
              <a:gdLst/>
              <a:ahLst/>
              <a:cxnLst/>
              <a:rect l="l" t="t" r="r" b="b"/>
              <a:pathLst>
                <a:path w="3119120" h="38735">
                  <a:moveTo>
                    <a:pt x="15801" y="38185"/>
                  </a:moveTo>
                  <a:lnTo>
                    <a:pt x="0" y="22383"/>
                  </a:lnTo>
                  <a:lnTo>
                    <a:pt x="24229" y="6012"/>
                  </a:lnTo>
                  <a:lnTo>
                    <a:pt x="53816" y="0"/>
                  </a:lnTo>
                  <a:lnTo>
                    <a:pt x="3065216" y="0"/>
                  </a:lnTo>
                  <a:lnTo>
                    <a:pt x="3094803" y="6012"/>
                  </a:lnTo>
                  <a:lnTo>
                    <a:pt x="3119032" y="22383"/>
                  </a:lnTo>
                  <a:lnTo>
                    <a:pt x="3112841" y="28575"/>
                  </a:lnTo>
                  <a:lnTo>
                    <a:pt x="53816" y="28575"/>
                  </a:lnTo>
                  <a:lnTo>
                    <a:pt x="27927" y="32332"/>
                  </a:lnTo>
                  <a:lnTo>
                    <a:pt x="15801" y="38185"/>
                  </a:lnTo>
                  <a:close/>
                </a:path>
                <a:path w="3119120" h="38735">
                  <a:moveTo>
                    <a:pt x="3103231" y="38185"/>
                  </a:moveTo>
                  <a:lnTo>
                    <a:pt x="3091105" y="32332"/>
                  </a:lnTo>
                  <a:lnTo>
                    <a:pt x="3065216" y="28575"/>
                  </a:lnTo>
                  <a:lnTo>
                    <a:pt x="3112841" y="28575"/>
                  </a:lnTo>
                  <a:lnTo>
                    <a:pt x="3103231" y="38185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0975" y="3489525"/>
              <a:ext cx="2878455" cy="9525"/>
            </a:xfrm>
            <a:custGeom>
              <a:avLst/>
              <a:gdLst/>
              <a:ahLst/>
              <a:cxnLst/>
              <a:rect l="l" t="t" r="r" b="b"/>
              <a:pathLst>
                <a:path w="2878454" h="9525">
                  <a:moveTo>
                    <a:pt x="2878050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2878050" y="0"/>
                  </a:lnTo>
                  <a:lnTo>
                    <a:pt x="2878050" y="9525"/>
                  </a:lnTo>
                  <a:close/>
                </a:path>
              </a:pathLst>
            </a:custGeom>
            <a:solidFill>
              <a:srgbClr val="334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/>
          <p:nvPr/>
        </p:nvSpPr>
        <p:spPr>
          <a:xfrm>
            <a:off x="4056225" y="3041850"/>
            <a:ext cx="509270" cy="190500"/>
          </a:xfrm>
          <a:custGeom>
            <a:avLst/>
            <a:gdLst/>
            <a:ahLst/>
            <a:cxnLst/>
            <a:rect l="l" t="t" r="r" b="b"/>
            <a:pathLst>
              <a:path w="509270" h="190500">
                <a:moveTo>
                  <a:pt x="470622" y="190500"/>
                </a:moveTo>
                <a:lnTo>
                  <a:pt x="38100" y="190500"/>
                </a:lnTo>
                <a:lnTo>
                  <a:pt x="23306" y="187493"/>
                </a:lnTo>
                <a:lnTo>
                  <a:pt x="11191" y="179308"/>
                </a:lnTo>
                <a:lnTo>
                  <a:pt x="3006" y="167193"/>
                </a:lnTo>
                <a:lnTo>
                  <a:pt x="0" y="152400"/>
                </a:lnTo>
                <a:lnTo>
                  <a:pt x="0" y="38100"/>
                </a:lnTo>
                <a:lnTo>
                  <a:pt x="3006" y="23306"/>
                </a:lnTo>
                <a:lnTo>
                  <a:pt x="11191" y="11191"/>
                </a:lnTo>
                <a:lnTo>
                  <a:pt x="23306" y="3006"/>
                </a:lnTo>
                <a:lnTo>
                  <a:pt x="38100" y="0"/>
                </a:lnTo>
                <a:lnTo>
                  <a:pt x="470622" y="0"/>
                </a:lnTo>
                <a:lnTo>
                  <a:pt x="485415" y="3006"/>
                </a:lnTo>
                <a:lnTo>
                  <a:pt x="497530" y="11191"/>
                </a:lnTo>
                <a:lnTo>
                  <a:pt x="505716" y="23306"/>
                </a:lnTo>
                <a:lnTo>
                  <a:pt x="508722" y="38100"/>
                </a:lnTo>
                <a:lnTo>
                  <a:pt x="508722" y="152400"/>
                </a:lnTo>
                <a:lnTo>
                  <a:pt x="505716" y="167193"/>
                </a:lnTo>
                <a:lnTo>
                  <a:pt x="497530" y="179308"/>
                </a:lnTo>
                <a:lnTo>
                  <a:pt x="485415" y="187493"/>
                </a:lnTo>
                <a:lnTo>
                  <a:pt x="470622" y="190500"/>
                </a:lnTo>
                <a:close/>
              </a:path>
            </a:pathLst>
          </a:custGeom>
          <a:solidFill>
            <a:srgbClr val="3341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08274" y="3207193"/>
            <a:ext cx="1468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solidFill>
                  <a:srgbClr val="F49E0A"/>
                </a:solidFill>
                <a:latin typeface="Microsoft Sans Serif"/>
                <a:cs typeface="Microsoft Sans Serif"/>
              </a:rPr>
              <a:t>BIAYA</a:t>
            </a:r>
            <a:r>
              <a:rPr sz="1100" spc="10" dirty="0">
                <a:solidFill>
                  <a:srgbClr val="F49E0A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F49E0A"/>
                </a:solidFill>
                <a:latin typeface="Microsoft Sans Serif"/>
                <a:cs typeface="Microsoft Sans Serif"/>
              </a:rPr>
              <a:t>PENDAFTARAN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056225" y="3394275"/>
            <a:ext cx="509270" cy="190500"/>
          </a:xfrm>
          <a:custGeom>
            <a:avLst/>
            <a:gdLst/>
            <a:ahLst/>
            <a:cxnLst/>
            <a:rect l="l" t="t" r="r" b="b"/>
            <a:pathLst>
              <a:path w="509270" h="190500">
                <a:moveTo>
                  <a:pt x="470622" y="190500"/>
                </a:moveTo>
                <a:lnTo>
                  <a:pt x="38100" y="190500"/>
                </a:lnTo>
                <a:lnTo>
                  <a:pt x="23306" y="187493"/>
                </a:lnTo>
                <a:lnTo>
                  <a:pt x="11191" y="179308"/>
                </a:lnTo>
                <a:lnTo>
                  <a:pt x="3006" y="167193"/>
                </a:lnTo>
                <a:lnTo>
                  <a:pt x="0" y="152400"/>
                </a:lnTo>
                <a:lnTo>
                  <a:pt x="0" y="38100"/>
                </a:lnTo>
                <a:lnTo>
                  <a:pt x="3006" y="23306"/>
                </a:lnTo>
                <a:lnTo>
                  <a:pt x="11191" y="11191"/>
                </a:lnTo>
                <a:lnTo>
                  <a:pt x="23306" y="3006"/>
                </a:lnTo>
                <a:lnTo>
                  <a:pt x="38100" y="0"/>
                </a:lnTo>
                <a:lnTo>
                  <a:pt x="470622" y="0"/>
                </a:lnTo>
                <a:lnTo>
                  <a:pt x="485415" y="3006"/>
                </a:lnTo>
                <a:lnTo>
                  <a:pt x="497530" y="11191"/>
                </a:lnTo>
                <a:lnTo>
                  <a:pt x="505716" y="23306"/>
                </a:lnTo>
                <a:lnTo>
                  <a:pt x="508722" y="38100"/>
                </a:lnTo>
                <a:lnTo>
                  <a:pt x="508722" y="152400"/>
                </a:lnTo>
                <a:lnTo>
                  <a:pt x="505716" y="167193"/>
                </a:lnTo>
                <a:lnTo>
                  <a:pt x="497530" y="179308"/>
                </a:lnTo>
                <a:lnTo>
                  <a:pt x="485415" y="187493"/>
                </a:lnTo>
                <a:lnTo>
                  <a:pt x="470622" y="190500"/>
                </a:lnTo>
                <a:close/>
              </a:path>
            </a:pathLst>
          </a:custGeom>
          <a:solidFill>
            <a:srgbClr val="33415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4" name="object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351602"/>
              </p:ext>
            </p:extLst>
          </p:nvPr>
        </p:nvGraphicFramePr>
        <p:xfrm>
          <a:off x="3948274" y="2291751"/>
          <a:ext cx="2877820" cy="13855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2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5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950" b="1" spc="-10" dirty="0">
                          <a:solidFill>
                            <a:srgbClr val="F49E0A"/>
                          </a:solidFill>
                          <a:latin typeface="Arial"/>
                          <a:cs typeface="Arial"/>
                        </a:rPr>
                        <a:t>Juara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3660" marB="0">
                    <a:solidFill>
                      <a:srgbClr val="334154"/>
                    </a:solidFill>
                  </a:tcPr>
                </a:tc>
                <a:tc>
                  <a:txBody>
                    <a:bodyPr/>
                    <a:lstStyle/>
                    <a:p>
                      <a:pPr marL="29464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950" b="1" dirty="0">
                          <a:solidFill>
                            <a:srgbClr val="F49E0A"/>
                          </a:solidFill>
                          <a:latin typeface="Arial"/>
                          <a:cs typeface="Arial"/>
                        </a:rPr>
                        <a:t>Hadiah</a:t>
                      </a:r>
                      <a:r>
                        <a:rPr sz="950" b="1" spc="-5" dirty="0">
                          <a:solidFill>
                            <a:srgbClr val="F49E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50" b="1" spc="-10" dirty="0">
                          <a:solidFill>
                            <a:srgbClr val="F49E0A"/>
                          </a:solidFill>
                          <a:latin typeface="Arial"/>
                          <a:cs typeface="Arial"/>
                        </a:rPr>
                        <a:t>Pembinaan</a:t>
                      </a:r>
                      <a:endParaRPr sz="950" dirty="0">
                        <a:latin typeface="Arial"/>
                        <a:cs typeface="Arial"/>
                      </a:endParaRPr>
                    </a:p>
                  </a:txBody>
                  <a:tcPr marL="0" marR="0" marT="73660" marB="0">
                    <a:solidFill>
                      <a:srgbClr val="3341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345">
                <a:tc>
                  <a:txBody>
                    <a:bodyPr/>
                    <a:lstStyle/>
                    <a:p>
                      <a:pPr marR="287020" algn="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Juara</a:t>
                      </a:r>
                      <a:r>
                        <a:rPr sz="8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92710" marB="0">
                    <a:lnB w="9525">
                      <a:solidFill>
                        <a:srgbClr val="1D283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464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900" b="1" dirty="0">
                          <a:solidFill>
                            <a:srgbClr val="F7F9FB"/>
                          </a:solidFill>
                          <a:latin typeface="Arial"/>
                          <a:cs typeface="Arial"/>
                        </a:rPr>
                        <a:t>Rp.</a:t>
                      </a:r>
                      <a:r>
                        <a:rPr sz="900" b="1" spc="-20" dirty="0">
                          <a:solidFill>
                            <a:srgbClr val="F7F9F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F7F9FB"/>
                          </a:solidFill>
                          <a:latin typeface="Arial"/>
                          <a:cs typeface="Arial"/>
                        </a:rPr>
                        <a:t>3.000.000</a:t>
                      </a:r>
                      <a:endParaRPr sz="900" dirty="0">
                        <a:latin typeface="Arial"/>
                        <a:cs typeface="Arial"/>
                      </a:endParaRPr>
                    </a:p>
                  </a:txBody>
                  <a:tcPr marL="0" marR="0" marT="73660" marB="0">
                    <a:lnB w="9525">
                      <a:solidFill>
                        <a:srgbClr val="1D283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marR="287020" algn="r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800" b="1" dirty="0">
                          <a:solidFill>
                            <a:srgbClr val="F7F9FB"/>
                          </a:solidFill>
                          <a:latin typeface="Arial"/>
                          <a:cs typeface="Arial"/>
                        </a:rPr>
                        <a:t>Juara</a:t>
                      </a:r>
                      <a:r>
                        <a:rPr sz="800" b="1" spc="-30" dirty="0">
                          <a:solidFill>
                            <a:srgbClr val="F7F9F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50" dirty="0">
                          <a:solidFill>
                            <a:srgbClr val="F7F9FB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97790" marB="0">
                    <a:lnT w="9525">
                      <a:solidFill>
                        <a:srgbClr val="1D283B"/>
                      </a:solidFill>
                      <a:prstDash val="solid"/>
                    </a:lnT>
                    <a:lnB w="9525">
                      <a:solidFill>
                        <a:srgbClr val="1D283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464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900" b="1" dirty="0">
                          <a:solidFill>
                            <a:srgbClr val="F7F9FB"/>
                          </a:solidFill>
                          <a:latin typeface="Arial"/>
                          <a:cs typeface="Arial"/>
                        </a:rPr>
                        <a:t>Rp.</a:t>
                      </a:r>
                      <a:r>
                        <a:rPr sz="900" b="1" spc="-20" dirty="0">
                          <a:solidFill>
                            <a:srgbClr val="F7F9F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F7F9FB"/>
                          </a:solidFill>
                          <a:latin typeface="Arial"/>
                          <a:cs typeface="Arial"/>
                        </a:rPr>
                        <a:t>3.000.000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T w="9525">
                      <a:solidFill>
                        <a:srgbClr val="1D283B"/>
                      </a:solidFill>
                      <a:prstDash val="solid"/>
                    </a:lnT>
                    <a:lnB w="9525">
                      <a:solidFill>
                        <a:srgbClr val="1D283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marR="287020" algn="r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800" b="1" dirty="0">
                          <a:solidFill>
                            <a:srgbClr val="F7F9FB"/>
                          </a:solidFill>
                          <a:latin typeface="Arial"/>
                          <a:cs typeface="Arial"/>
                        </a:rPr>
                        <a:t>Juara</a:t>
                      </a:r>
                      <a:r>
                        <a:rPr sz="800" b="1" spc="-30" dirty="0">
                          <a:solidFill>
                            <a:srgbClr val="F7F9F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50" dirty="0">
                          <a:solidFill>
                            <a:srgbClr val="F7F9FB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97790" marB="0">
                    <a:lnT w="9525">
                      <a:solidFill>
                        <a:srgbClr val="1D283B"/>
                      </a:solidFill>
                      <a:prstDash val="solid"/>
                    </a:lnT>
                    <a:lnB w="9525">
                      <a:solidFill>
                        <a:srgbClr val="1D283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464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900" b="1" dirty="0">
                          <a:solidFill>
                            <a:srgbClr val="F7F9FB"/>
                          </a:solidFill>
                          <a:latin typeface="Arial"/>
                          <a:cs typeface="Arial"/>
                        </a:rPr>
                        <a:t>Rp.</a:t>
                      </a:r>
                      <a:r>
                        <a:rPr sz="900" b="1" spc="-20" dirty="0">
                          <a:solidFill>
                            <a:srgbClr val="F7F9F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F7F9FB"/>
                          </a:solidFill>
                          <a:latin typeface="Arial"/>
                          <a:cs typeface="Arial"/>
                        </a:rPr>
                        <a:t>3.000.000</a:t>
                      </a:r>
                      <a:endParaRPr sz="900" dirty="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T w="9525">
                      <a:solidFill>
                        <a:srgbClr val="1D283B"/>
                      </a:solidFill>
                      <a:prstDash val="solid"/>
                    </a:lnT>
                    <a:lnB w="9525">
                      <a:solidFill>
                        <a:srgbClr val="1D283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8" name="object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8814078"/>
              </p:ext>
            </p:extLst>
          </p:nvPr>
        </p:nvGraphicFramePr>
        <p:xfrm>
          <a:off x="720974" y="3589537"/>
          <a:ext cx="2878453" cy="9950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170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950" b="1" spc="-10" dirty="0">
                          <a:solidFill>
                            <a:srgbClr val="F49E0A"/>
                          </a:solidFill>
                          <a:latin typeface="Arial"/>
                          <a:cs typeface="Arial"/>
                        </a:rPr>
                        <a:t>Kategori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3660" marB="0">
                    <a:solidFill>
                      <a:srgbClr val="334154"/>
                    </a:solidFill>
                  </a:tcPr>
                </a:tc>
                <a:tc>
                  <a:txBody>
                    <a:bodyPr/>
                    <a:lstStyle/>
                    <a:p>
                      <a:pPr marL="26098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950" b="1" spc="-10" dirty="0">
                          <a:solidFill>
                            <a:srgbClr val="F49E0A"/>
                          </a:solidFill>
                          <a:latin typeface="Arial"/>
                          <a:cs typeface="Arial"/>
                        </a:rPr>
                        <a:t>Biaya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3660" marB="0">
                    <a:solidFill>
                      <a:srgbClr val="3341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90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Pistol</a:t>
                      </a:r>
                      <a:r>
                        <a:rPr sz="900" spc="-1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Presisi</a:t>
                      </a:r>
                      <a:r>
                        <a:rPr sz="900" spc="-1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20</a:t>
                      </a:r>
                      <a:r>
                        <a:rPr sz="900" spc="-1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M</a:t>
                      </a:r>
                      <a:r>
                        <a:rPr sz="900" spc="-1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 Individu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3660" marB="0">
                    <a:lnB w="9525">
                      <a:solidFill>
                        <a:srgbClr val="1D283B"/>
                      </a:solidFill>
                      <a:prstDash val="solid"/>
                    </a:lnB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marL="26098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900" b="1" dirty="0">
                          <a:solidFill>
                            <a:srgbClr val="F49E0A"/>
                          </a:solidFill>
                          <a:latin typeface="Arial"/>
                          <a:cs typeface="Arial"/>
                        </a:rPr>
                        <a:t>Rp.</a:t>
                      </a:r>
                      <a:r>
                        <a:rPr sz="900" b="1" spc="-20" dirty="0">
                          <a:solidFill>
                            <a:srgbClr val="F49E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F49E0A"/>
                          </a:solidFill>
                          <a:latin typeface="Arial"/>
                          <a:cs typeface="Arial"/>
                        </a:rPr>
                        <a:t>200.000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73660" marB="0">
                    <a:lnB w="9525">
                      <a:solidFill>
                        <a:srgbClr val="1D283B"/>
                      </a:solidFill>
                      <a:prstDash val="solid"/>
                    </a:lnB>
                    <a:solidFill>
                      <a:srgbClr val="0F16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90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Dueling</a:t>
                      </a:r>
                      <a:r>
                        <a:rPr sz="900" spc="-15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Plat</a:t>
                      </a:r>
                      <a:r>
                        <a:rPr sz="900" spc="-15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Individu</a:t>
                      </a:r>
                      <a:endParaRPr sz="9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105" marB="0">
                    <a:lnT w="9525">
                      <a:solidFill>
                        <a:srgbClr val="1D283B"/>
                      </a:solidFill>
                      <a:prstDash val="solid"/>
                    </a:lnT>
                    <a:lnB w="9525">
                      <a:solidFill>
                        <a:srgbClr val="1D283B"/>
                      </a:solidFill>
                      <a:prstDash val="solid"/>
                    </a:lnB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marL="26098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900" b="1" dirty="0">
                          <a:solidFill>
                            <a:srgbClr val="F49E0A"/>
                          </a:solidFill>
                          <a:latin typeface="Arial"/>
                          <a:cs typeface="Arial"/>
                        </a:rPr>
                        <a:t>Rp.</a:t>
                      </a:r>
                      <a:r>
                        <a:rPr sz="900" b="1" spc="-20" dirty="0">
                          <a:solidFill>
                            <a:srgbClr val="F49E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F49E0A"/>
                          </a:solidFill>
                          <a:latin typeface="Arial"/>
                          <a:cs typeface="Arial"/>
                        </a:rPr>
                        <a:t>200.000</a:t>
                      </a:r>
                      <a:endParaRPr sz="900" dirty="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T w="9525">
                      <a:solidFill>
                        <a:srgbClr val="1D283B"/>
                      </a:solidFill>
                      <a:prstDash val="solid"/>
                    </a:lnT>
                    <a:lnB w="9525">
                      <a:solidFill>
                        <a:srgbClr val="1D283B"/>
                      </a:solidFill>
                      <a:prstDash val="solid"/>
                    </a:lnB>
                    <a:solidFill>
                      <a:srgbClr val="0F16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8" name="object 18"/>
          <p:cNvGrpSpPr/>
          <p:nvPr/>
        </p:nvGrpSpPr>
        <p:grpSpPr>
          <a:xfrm>
            <a:off x="540000" y="5127825"/>
            <a:ext cx="6480175" cy="2790825"/>
            <a:chOff x="540000" y="5127825"/>
            <a:chExt cx="6480175" cy="2790825"/>
          </a:xfrm>
        </p:grpSpPr>
        <p:sp>
          <p:nvSpPr>
            <p:cNvPr id="19" name="object 19"/>
            <p:cNvSpPr/>
            <p:nvPr/>
          </p:nvSpPr>
          <p:spPr>
            <a:xfrm>
              <a:off x="540000" y="5127825"/>
              <a:ext cx="6480175" cy="2790825"/>
            </a:xfrm>
            <a:custGeom>
              <a:avLst/>
              <a:gdLst/>
              <a:ahLst/>
              <a:cxnLst/>
              <a:rect l="l" t="t" r="r" b="b"/>
              <a:pathLst>
                <a:path w="6480175" h="2790825">
                  <a:moveTo>
                    <a:pt x="6403800" y="2790825"/>
                  </a:moveTo>
                  <a:lnTo>
                    <a:pt x="76200" y="2790825"/>
                  </a:lnTo>
                  <a:lnTo>
                    <a:pt x="46612" y="2784812"/>
                  </a:lnTo>
                  <a:lnTo>
                    <a:pt x="22383" y="2768441"/>
                  </a:lnTo>
                  <a:lnTo>
                    <a:pt x="6012" y="2744212"/>
                  </a:lnTo>
                  <a:lnTo>
                    <a:pt x="0" y="2714625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6403800" y="0"/>
                  </a:lnTo>
                  <a:lnTo>
                    <a:pt x="6433387" y="6012"/>
                  </a:lnTo>
                  <a:lnTo>
                    <a:pt x="6457616" y="22383"/>
                  </a:lnTo>
                  <a:lnTo>
                    <a:pt x="6473987" y="46612"/>
                  </a:lnTo>
                  <a:lnTo>
                    <a:pt x="6480000" y="76200"/>
                  </a:lnTo>
                  <a:lnTo>
                    <a:pt x="6480000" y="2714625"/>
                  </a:lnTo>
                  <a:lnTo>
                    <a:pt x="6473987" y="2744212"/>
                  </a:lnTo>
                  <a:lnTo>
                    <a:pt x="6457616" y="2768441"/>
                  </a:lnTo>
                  <a:lnTo>
                    <a:pt x="6433387" y="2784812"/>
                  </a:lnTo>
                  <a:lnTo>
                    <a:pt x="6403800" y="2790825"/>
                  </a:lnTo>
                  <a:close/>
                </a:path>
              </a:pathLst>
            </a:custGeom>
            <a:solidFill>
              <a:srgbClr val="1D28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9991" y="5150214"/>
              <a:ext cx="6480175" cy="2768600"/>
            </a:xfrm>
            <a:custGeom>
              <a:avLst/>
              <a:gdLst/>
              <a:ahLst/>
              <a:cxnLst/>
              <a:rect l="l" t="t" r="r" b="b"/>
              <a:pathLst>
                <a:path w="6480175" h="2768600">
                  <a:moveTo>
                    <a:pt x="6479997" y="53822"/>
                  </a:moveTo>
                  <a:lnTo>
                    <a:pt x="6473990" y="24231"/>
                  </a:lnTo>
                  <a:lnTo>
                    <a:pt x="6457620" y="0"/>
                  </a:lnTo>
                  <a:lnTo>
                    <a:pt x="6441821" y="15798"/>
                  </a:lnTo>
                  <a:lnTo>
                    <a:pt x="6450889" y="20180"/>
                  </a:lnTo>
                  <a:lnTo>
                    <a:pt x="6465214" y="35318"/>
                  </a:lnTo>
                  <a:lnTo>
                    <a:pt x="6470472" y="53822"/>
                  </a:lnTo>
                  <a:lnTo>
                    <a:pt x="6470472" y="2692247"/>
                  </a:lnTo>
                  <a:lnTo>
                    <a:pt x="6465214" y="2718130"/>
                  </a:lnTo>
                  <a:lnTo>
                    <a:pt x="6450889" y="2739326"/>
                  </a:lnTo>
                  <a:lnTo>
                    <a:pt x="6429692" y="2753652"/>
                  </a:lnTo>
                  <a:lnTo>
                    <a:pt x="6403797" y="2758922"/>
                  </a:lnTo>
                  <a:lnTo>
                    <a:pt x="76200" y="2758922"/>
                  </a:lnTo>
                  <a:lnTo>
                    <a:pt x="50317" y="2753652"/>
                  </a:lnTo>
                  <a:lnTo>
                    <a:pt x="29108" y="2739326"/>
                  </a:lnTo>
                  <a:lnTo>
                    <a:pt x="14782" y="2718130"/>
                  </a:lnTo>
                  <a:lnTo>
                    <a:pt x="9525" y="2692247"/>
                  </a:lnTo>
                  <a:lnTo>
                    <a:pt x="9525" y="53822"/>
                  </a:lnTo>
                  <a:lnTo>
                    <a:pt x="14782" y="35318"/>
                  </a:lnTo>
                  <a:lnTo>
                    <a:pt x="29108" y="20180"/>
                  </a:lnTo>
                  <a:lnTo>
                    <a:pt x="38188" y="15798"/>
                  </a:lnTo>
                  <a:lnTo>
                    <a:pt x="22390" y="0"/>
                  </a:lnTo>
                  <a:lnTo>
                    <a:pt x="6019" y="24231"/>
                  </a:lnTo>
                  <a:lnTo>
                    <a:pt x="0" y="53822"/>
                  </a:lnTo>
                  <a:lnTo>
                    <a:pt x="0" y="2692247"/>
                  </a:lnTo>
                  <a:lnTo>
                    <a:pt x="6019" y="2721826"/>
                  </a:lnTo>
                  <a:lnTo>
                    <a:pt x="22390" y="2746057"/>
                  </a:lnTo>
                  <a:lnTo>
                    <a:pt x="46621" y="2762427"/>
                  </a:lnTo>
                  <a:lnTo>
                    <a:pt x="76200" y="2768447"/>
                  </a:lnTo>
                  <a:lnTo>
                    <a:pt x="6403797" y="2768447"/>
                  </a:lnTo>
                  <a:lnTo>
                    <a:pt x="6457620" y="2746057"/>
                  </a:lnTo>
                  <a:lnTo>
                    <a:pt x="6479997" y="2692247"/>
                  </a:lnTo>
                  <a:lnTo>
                    <a:pt x="6479997" y="53822"/>
                  </a:lnTo>
                  <a:close/>
                </a:path>
              </a:pathLst>
            </a:custGeom>
            <a:solidFill>
              <a:srgbClr val="334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2383" y="5127825"/>
              <a:ext cx="6435725" cy="38735"/>
            </a:xfrm>
            <a:custGeom>
              <a:avLst/>
              <a:gdLst/>
              <a:ahLst/>
              <a:cxnLst/>
              <a:rect l="l" t="t" r="r" b="b"/>
              <a:pathLst>
                <a:path w="6435725" h="38735">
                  <a:moveTo>
                    <a:pt x="15801" y="38185"/>
                  </a:moveTo>
                  <a:lnTo>
                    <a:pt x="0" y="22383"/>
                  </a:lnTo>
                  <a:lnTo>
                    <a:pt x="24229" y="6012"/>
                  </a:lnTo>
                  <a:lnTo>
                    <a:pt x="53816" y="0"/>
                  </a:lnTo>
                  <a:lnTo>
                    <a:pt x="6381416" y="0"/>
                  </a:lnTo>
                  <a:lnTo>
                    <a:pt x="6411003" y="6012"/>
                  </a:lnTo>
                  <a:lnTo>
                    <a:pt x="6435232" y="22383"/>
                  </a:lnTo>
                  <a:lnTo>
                    <a:pt x="6429041" y="28575"/>
                  </a:lnTo>
                  <a:lnTo>
                    <a:pt x="53816" y="28575"/>
                  </a:lnTo>
                  <a:lnTo>
                    <a:pt x="27927" y="32332"/>
                  </a:lnTo>
                  <a:lnTo>
                    <a:pt x="15801" y="38185"/>
                  </a:lnTo>
                  <a:close/>
                </a:path>
                <a:path w="6435725" h="38735">
                  <a:moveTo>
                    <a:pt x="6419431" y="38185"/>
                  </a:moveTo>
                  <a:lnTo>
                    <a:pt x="6407305" y="32332"/>
                  </a:lnTo>
                  <a:lnTo>
                    <a:pt x="6381416" y="28575"/>
                  </a:lnTo>
                  <a:lnTo>
                    <a:pt x="6429041" y="28575"/>
                  </a:lnTo>
                  <a:lnTo>
                    <a:pt x="6419431" y="38185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82875" y="5556450"/>
              <a:ext cx="6194425" cy="9525"/>
            </a:xfrm>
            <a:custGeom>
              <a:avLst/>
              <a:gdLst/>
              <a:ahLst/>
              <a:cxnLst/>
              <a:rect l="l" t="t" r="r" b="b"/>
              <a:pathLst>
                <a:path w="6194425" h="9525">
                  <a:moveTo>
                    <a:pt x="6194250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6194250" y="0"/>
                  </a:lnTo>
                  <a:lnTo>
                    <a:pt x="6194250" y="9525"/>
                  </a:lnTo>
                  <a:close/>
                </a:path>
              </a:pathLst>
            </a:custGeom>
            <a:solidFill>
              <a:srgbClr val="334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70174" y="5274118"/>
            <a:ext cx="163258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solidFill>
                  <a:srgbClr val="F49E0A"/>
                </a:solidFill>
                <a:latin typeface="Microsoft Sans Serif"/>
                <a:cs typeface="Microsoft Sans Serif"/>
              </a:rPr>
              <a:t>JADWAL </a:t>
            </a:r>
            <a:r>
              <a:rPr sz="1100" spc="-10" dirty="0">
                <a:solidFill>
                  <a:srgbClr val="F49E0A"/>
                </a:solidFill>
                <a:latin typeface="Microsoft Sans Serif"/>
                <a:cs typeface="Microsoft Sans Serif"/>
              </a:rPr>
              <a:t>PELAKSANAAN</a:t>
            </a:r>
            <a:endParaRPr sz="1100">
              <a:latin typeface="Microsoft Sans Serif"/>
              <a:cs typeface="Microsoft Sans Serif"/>
            </a:endParaRPr>
          </a:p>
        </p:txBody>
      </p:sp>
      <p:graphicFrame>
        <p:nvGraphicFramePr>
          <p:cNvPr id="36" name="object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8003799"/>
              </p:ext>
            </p:extLst>
          </p:nvPr>
        </p:nvGraphicFramePr>
        <p:xfrm>
          <a:off x="682874" y="5656462"/>
          <a:ext cx="6192520" cy="19951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39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0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85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950" b="1" spc="-10" dirty="0">
                          <a:solidFill>
                            <a:srgbClr val="F49E0A"/>
                          </a:solidFill>
                          <a:latin typeface="Arial"/>
                          <a:cs typeface="Arial"/>
                        </a:rPr>
                        <a:t>Kegiatan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3660" marB="0">
                    <a:solidFill>
                      <a:srgbClr val="334154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950" b="1" spc="-10" dirty="0">
                          <a:solidFill>
                            <a:srgbClr val="F49E0A"/>
                          </a:solidFill>
                          <a:latin typeface="Arial"/>
                          <a:cs typeface="Arial"/>
                        </a:rPr>
                        <a:t>Materi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3660" marB="0">
                    <a:solidFill>
                      <a:srgbClr val="334154"/>
                    </a:solidFill>
                  </a:tcPr>
                </a:tc>
                <a:tc>
                  <a:txBody>
                    <a:bodyPr/>
                    <a:lstStyle/>
                    <a:p>
                      <a:pPr marL="20955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950" b="1" spc="-10" dirty="0">
                          <a:solidFill>
                            <a:srgbClr val="F49E0A"/>
                          </a:solidFill>
                          <a:latin typeface="Arial"/>
                          <a:cs typeface="Arial"/>
                        </a:rPr>
                        <a:t>Waktu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3660" marB="0">
                    <a:solidFill>
                      <a:srgbClr val="334154"/>
                    </a:solidFill>
                  </a:tcPr>
                </a:tc>
                <a:tc>
                  <a:txBody>
                    <a:bodyPr/>
                    <a:lstStyle/>
                    <a:p>
                      <a:pPr marL="24511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950" b="1" spc="-10" dirty="0">
                          <a:solidFill>
                            <a:srgbClr val="F49E0A"/>
                          </a:solidFill>
                          <a:latin typeface="Arial"/>
                          <a:cs typeface="Arial"/>
                        </a:rPr>
                        <a:t>Tempat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73660" marB="0">
                    <a:solidFill>
                      <a:srgbClr val="3341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900" b="1" spc="-10" dirty="0">
                          <a:solidFill>
                            <a:srgbClr val="F7F9FB"/>
                          </a:solidFill>
                          <a:latin typeface="Arial"/>
                          <a:cs typeface="Arial"/>
                        </a:rPr>
                        <a:t>Technical</a:t>
                      </a:r>
                      <a:r>
                        <a:rPr sz="900" b="1" spc="10" dirty="0">
                          <a:solidFill>
                            <a:srgbClr val="F7F9F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F7F9FB"/>
                          </a:solidFill>
                          <a:latin typeface="Arial"/>
                          <a:cs typeface="Arial"/>
                        </a:rPr>
                        <a:t>Meeting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73660" marB="0">
                    <a:lnB w="9525">
                      <a:solidFill>
                        <a:srgbClr val="1D283B"/>
                      </a:solidFill>
                      <a:prstDash val="solid"/>
                    </a:lnB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90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Semua</a:t>
                      </a:r>
                      <a:r>
                        <a:rPr sz="900" spc="5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Kategori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3660" marB="0">
                    <a:lnB w="9525">
                      <a:solidFill>
                        <a:srgbClr val="1D283B"/>
                      </a:solidFill>
                      <a:prstDash val="solid"/>
                    </a:lnB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marL="20955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90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Jumat,</a:t>
                      </a:r>
                      <a:r>
                        <a:rPr sz="900" spc="-1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Oktober </a:t>
                      </a:r>
                      <a:r>
                        <a:rPr sz="900" spc="-2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2026</a:t>
                      </a:r>
                      <a:endParaRPr sz="9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3660" marB="0">
                    <a:lnB w="9525">
                      <a:solidFill>
                        <a:srgbClr val="1D283B"/>
                      </a:solidFill>
                      <a:prstDash val="solid"/>
                    </a:lnB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marL="24511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58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90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Lap.</a:t>
                      </a:r>
                      <a:r>
                        <a:rPr lang="en-ID" sz="900" spc="-1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n-ID" sz="900" spc="-10" dirty="0" err="1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Tembak</a:t>
                      </a:r>
                      <a:r>
                        <a:rPr lang="en-ID" sz="900" spc="-5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n-ID" sz="900" dirty="0" err="1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Resimen</a:t>
                      </a:r>
                      <a:r>
                        <a:rPr lang="en-ID" sz="900" spc="-1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n-ID" sz="900" spc="-5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I</a:t>
                      </a:r>
                      <a:endParaRPr lang="en-ID" sz="9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3660" marB="0">
                    <a:lnB w="9525">
                      <a:solidFill>
                        <a:srgbClr val="1D283B"/>
                      </a:solidFill>
                      <a:prstDash val="solid"/>
                    </a:lnB>
                    <a:solidFill>
                      <a:srgbClr val="0F16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95250">
                        <a:lnSpc>
                          <a:spcPct val="100000"/>
                        </a:lnSpc>
                      </a:pPr>
                      <a:r>
                        <a:rPr sz="900" b="1" dirty="0">
                          <a:solidFill>
                            <a:srgbClr val="F7F9FB"/>
                          </a:solidFill>
                          <a:latin typeface="Arial"/>
                          <a:cs typeface="Arial"/>
                        </a:rPr>
                        <a:t>Latihan</a:t>
                      </a:r>
                      <a:r>
                        <a:rPr sz="900" b="1" spc="-15" dirty="0">
                          <a:solidFill>
                            <a:srgbClr val="F7F9F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F7F9FB"/>
                          </a:solidFill>
                          <a:latin typeface="Arial"/>
                          <a:cs typeface="Arial"/>
                        </a:rPr>
                        <a:t>Resmi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3664" marB="0">
                    <a:lnT w="9525">
                      <a:solidFill>
                        <a:srgbClr val="1D283B"/>
                      </a:solidFill>
                      <a:prstDash val="solid"/>
                    </a:lnT>
                    <a:lnB w="9525">
                      <a:solidFill>
                        <a:srgbClr val="1D283B"/>
                      </a:solidFill>
                      <a:prstDash val="solid"/>
                    </a:lnB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90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Presisi</a:t>
                      </a:r>
                      <a:r>
                        <a:rPr sz="900" spc="-5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20</a:t>
                      </a:r>
                      <a:r>
                        <a:rPr sz="900" spc="-5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M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105" marB="0">
                    <a:lnT w="9525">
                      <a:solidFill>
                        <a:srgbClr val="1D283B"/>
                      </a:solidFill>
                      <a:prstDash val="solid"/>
                    </a:lnT>
                    <a:lnB w="9525">
                      <a:solidFill>
                        <a:srgbClr val="1D283B"/>
                      </a:solidFill>
                      <a:prstDash val="solid"/>
                    </a:lnB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marL="20955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90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Jumat,</a:t>
                      </a:r>
                      <a:r>
                        <a:rPr sz="900" spc="-1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Oktober </a:t>
                      </a:r>
                      <a:r>
                        <a:rPr sz="900" spc="-2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2026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105" marB="0">
                    <a:lnT w="9525">
                      <a:solidFill>
                        <a:srgbClr val="1D283B"/>
                      </a:solidFill>
                      <a:prstDash val="solid"/>
                    </a:lnT>
                    <a:lnB w="9525">
                      <a:solidFill>
                        <a:srgbClr val="1D283B"/>
                      </a:solidFill>
                      <a:prstDash val="solid"/>
                    </a:lnB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marL="24511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90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Lap.</a:t>
                      </a:r>
                      <a:r>
                        <a:rPr sz="900" spc="-1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 Tembak</a:t>
                      </a:r>
                      <a:r>
                        <a:rPr sz="900" spc="-5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Resimen</a:t>
                      </a:r>
                      <a:r>
                        <a:rPr sz="900" spc="-1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I</a:t>
                      </a:r>
                      <a:endParaRPr sz="9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105" marB="0">
                    <a:lnT w="9525">
                      <a:solidFill>
                        <a:srgbClr val="1D283B"/>
                      </a:solidFill>
                      <a:prstDash val="solid"/>
                    </a:lnT>
                    <a:lnB w="9525">
                      <a:solidFill>
                        <a:srgbClr val="1D283B"/>
                      </a:solidFill>
                      <a:prstDash val="solid"/>
                    </a:lnB>
                    <a:solidFill>
                      <a:srgbClr val="0F16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3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13664" marB="0">
                    <a:lnT w="9525">
                      <a:solidFill>
                        <a:srgbClr val="1D283B"/>
                      </a:solidFill>
                      <a:prstDash val="solid"/>
                    </a:lnT>
                    <a:lnB w="9525">
                      <a:solidFill>
                        <a:srgbClr val="1D283B"/>
                      </a:solidFill>
                      <a:prstDash val="solid"/>
                    </a:lnB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90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Dueling</a:t>
                      </a:r>
                      <a:r>
                        <a:rPr sz="900" spc="-5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Plat</a:t>
                      </a:r>
                      <a:endParaRPr sz="9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105" marB="0">
                    <a:lnT w="9525">
                      <a:solidFill>
                        <a:srgbClr val="1D283B"/>
                      </a:solidFill>
                      <a:prstDash val="solid"/>
                    </a:lnT>
                    <a:lnB w="9525">
                      <a:solidFill>
                        <a:srgbClr val="1D283B"/>
                      </a:solidFill>
                      <a:prstDash val="solid"/>
                    </a:lnB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marL="20955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90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Jumat,</a:t>
                      </a:r>
                      <a:r>
                        <a:rPr sz="900" spc="-1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Oktober </a:t>
                      </a:r>
                      <a:r>
                        <a:rPr sz="900" spc="-2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2026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105" marB="0">
                    <a:lnT w="9525">
                      <a:solidFill>
                        <a:srgbClr val="1D283B"/>
                      </a:solidFill>
                      <a:prstDash val="solid"/>
                    </a:lnT>
                    <a:lnB w="9525">
                      <a:solidFill>
                        <a:srgbClr val="1D283B"/>
                      </a:solidFill>
                      <a:prstDash val="solid"/>
                    </a:lnB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marL="24511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90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Lap.</a:t>
                      </a:r>
                      <a:r>
                        <a:rPr sz="900" spc="-1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 Tembak</a:t>
                      </a:r>
                      <a:r>
                        <a:rPr sz="900" spc="-5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Resimen</a:t>
                      </a:r>
                      <a:r>
                        <a:rPr sz="900" spc="-1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I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105" marB="0">
                    <a:lnT w="9525">
                      <a:solidFill>
                        <a:srgbClr val="1D283B"/>
                      </a:solidFill>
                      <a:prstDash val="solid"/>
                    </a:lnT>
                    <a:lnB w="9525">
                      <a:solidFill>
                        <a:srgbClr val="1D283B"/>
                      </a:solidFill>
                      <a:prstDash val="solid"/>
                    </a:lnB>
                    <a:solidFill>
                      <a:srgbClr val="0F16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37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95250">
                        <a:lnSpc>
                          <a:spcPct val="100000"/>
                        </a:lnSpc>
                      </a:pPr>
                      <a:r>
                        <a:rPr sz="900" b="1" spc="-10" dirty="0">
                          <a:solidFill>
                            <a:srgbClr val="F7F9FB"/>
                          </a:solidFill>
                          <a:latin typeface="Arial"/>
                          <a:cs typeface="Arial"/>
                        </a:rPr>
                        <a:t>Pertandingan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3664" marB="0">
                    <a:lnT w="9525">
                      <a:solidFill>
                        <a:srgbClr val="1D283B"/>
                      </a:solidFill>
                      <a:prstDash val="solid"/>
                    </a:lnT>
                    <a:lnB w="9525">
                      <a:solidFill>
                        <a:srgbClr val="1D283B"/>
                      </a:solidFill>
                      <a:prstDash val="solid"/>
                    </a:lnB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90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Presisi</a:t>
                      </a:r>
                      <a:r>
                        <a:rPr sz="900" spc="-5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20</a:t>
                      </a:r>
                      <a:r>
                        <a:rPr sz="900" spc="-5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M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105" marB="0">
                    <a:lnT w="9525">
                      <a:solidFill>
                        <a:srgbClr val="1D283B"/>
                      </a:solidFill>
                      <a:prstDash val="solid"/>
                    </a:lnT>
                    <a:lnB w="9525">
                      <a:solidFill>
                        <a:srgbClr val="1D283B"/>
                      </a:solidFill>
                      <a:prstDash val="solid"/>
                    </a:lnB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marL="20955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90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Sabtu,</a:t>
                      </a:r>
                      <a:r>
                        <a:rPr sz="900" spc="-15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 17 </a:t>
                      </a:r>
                      <a:r>
                        <a:rPr sz="900" dirty="0" err="1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Oktober</a:t>
                      </a:r>
                      <a:r>
                        <a:rPr sz="900" spc="-5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2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2026</a:t>
                      </a:r>
                      <a:endParaRPr sz="9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105" marB="0">
                    <a:lnT w="9525">
                      <a:solidFill>
                        <a:srgbClr val="1D283B"/>
                      </a:solidFill>
                      <a:prstDash val="solid"/>
                    </a:lnT>
                    <a:lnB w="9525">
                      <a:solidFill>
                        <a:srgbClr val="1D283B"/>
                      </a:solidFill>
                      <a:prstDash val="solid"/>
                    </a:lnB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marL="24511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90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Lap.</a:t>
                      </a:r>
                      <a:r>
                        <a:rPr sz="900" spc="-1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 Tembak</a:t>
                      </a:r>
                      <a:r>
                        <a:rPr sz="900" spc="-5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Resimen</a:t>
                      </a:r>
                      <a:r>
                        <a:rPr sz="900" spc="-1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I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105" marB="0">
                    <a:lnT w="9525">
                      <a:solidFill>
                        <a:srgbClr val="1D283B"/>
                      </a:solidFill>
                      <a:prstDash val="solid"/>
                    </a:lnT>
                    <a:lnB w="9525">
                      <a:solidFill>
                        <a:srgbClr val="1D283B"/>
                      </a:solidFill>
                      <a:prstDash val="solid"/>
                    </a:lnB>
                    <a:solidFill>
                      <a:srgbClr val="0F16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3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13664" marB="0">
                    <a:lnT w="9525">
                      <a:solidFill>
                        <a:srgbClr val="1D283B"/>
                      </a:solidFill>
                      <a:prstDash val="solid"/>
                    </a:lnT>
                    <a:lnB w="9525">
                      <a:solidFill>
                        <a:srgbClr val="1D283B"/>
                      </a:solidFill>
                      <a:prstDash val="solid"/>
                    </a:lnB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90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Dueling</a:t>
                      </a:r>
                      <a:r>
                        <a:rPr sz="900" spc="-5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Plat</a:t>
                      </a:r>
                      <a:endParaRPr sz="9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105" marB="0">
                    <a:lnT w="9525">
                      <a:solidFill>
                        <a:srgbClr val="1D283B"/>
                      </a:solidFill>
                      <a:prstDash val="solid"/>
                    </a:lnT>
                    <a:lnB w="9525">
                      <a:solidFill>
                        <a:srgbClr val="1D283B"/>
                      </a:solidFill>
                      <a:prstDash val="solid"/>
                    </a:lnB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marL="20955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900" dirty="0" err="1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Minggu</a:t>
                      </a:r>
                      <a:r>
                        <a:rPr sz="90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, 17 </a:t>
                      </a:r>
                      <a:r>
                        <a:rPr sz="900" dirty="0" err="1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Oktober</a:t>
                      </a:r>
                      <a:r>
                        <a:rPr sz="90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2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2026</a:t>
                      </a:r>
                      <a:endParaRPr sz="9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105" marB="0">
                    <a:lnT w="9525">
                      <a:solidFill>
                        <a:srgbClr val="1D283B"/>
                      </a:solidFill>
                      <a:prstDash val="solid"/>
                    </a:lnT>
                    <a:lnB w="9525">
                      <a:solidFill>
                        <a:srgbClr val="1D283B"/>
                      </a:solidFill>
                      <a:prstDash val="solid"/>
                    </a:lnB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marL="24511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90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Lap.</a:t>
                      </a:r>
                      <a:r>
                        <a:rPr sz="900" spc="-1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 Tembak</a:t>
                      </a:r>
                      <a:r>
                        <a:rPr sz="900" spc="-5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Resimen</a:t>
                      </a:r>
                      <a:r>
                        <a:rPr sz="900" spc="-1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50" dirty="0">
                          <a:solidFill>
                            <a:srgbClr val="F7F9FB"/>
                          </a:solidFill>
                          <a:latin typeface="Microsoft Sans Serif"/>
                          <a:cs typeface="Microsoft Sans Serif"/>
                        </a:rPr>
                        <a:t>I</a:t>
                      </a:r>
                      <a:endParaRPr sz="9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105" marB="0">
                    <a:lnT w="9525">
                      <a:solidFill>
                        <a:srgbClr val="1D283B"/>
                      </a:solidFill>
                      <a:prstDash val="solid"/>
                    </a:lnT>
                    <a:lnB w="9525">
                      <a:solidFill>
                        <a:srgbClr val="1D283B"/>
                      </a:solidFill>
                      <a:prstDash val="solid"/>
                    </a:lnB>
                    <a:solidFill>
                      <a:srgbClr val="0F16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3" name="object 23"/>
          <p:cNvGrpSpPr/>
          <p:nvPr/>
        </p:nvGrpSpPr>
        <p:grpSpPr>
          <a:xfrm>
            <a:off x="540000" y="8061524"/>
            <a:ext cx="6480175" cy="2238176"/>
            <a:chOff x="540000" y="8061524"/>
            <a:chExt cx="6480175" cy="1400175"/>
          </a:xfrm>
        </p:grpSpPr>
        <p:sp>
          <p:nvSpPr>
            <p:cNvPr id="24" name="object 24"/>
            <p:cNvSpPr/>
            <p:nvPr/>
          </p:nvSpPr>
          <p:spPr>
            <a:xfrm>
              <a:off x="540000" y="8061525"/>
              <a:ext cx="6480175" cy="1400175"/>
            </a:xfrm>
            <a:custGeom>
              <a:avLst/>
              <a:gdLst/>
              <a:ahLst/>
              <a:cxnLst/>
              <a:rect l="l" t="t" r="r" b="b"/>
              <a:pathLst>
                <a:path w="6480175" h="1400175">
                  <a:moveTo>
                    <a:pt x="6403800" y="1400175"/>
                  </a:moveTo>
                  <a:lnTo>
                    <a:pt x="76200" y="1400175"/>
                  </a:lnTo>
                  <a:lnTo>
                    <a:pt x="46612" y="1394162"/>
                  </a:lnTo>
                  <a:lnTo>
                    <a:pt x="22383" y="1377791"/>
                  </a:lnTo>
                  <a:lnTo>
                    <a:pt x="6012" y="1353562"/>
                  </a:lnTo>
                  <a:lnTo>
                    <a:pt x="0" y="1323975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6403800" y="0"/>
                  </a:lnTo>
                  <a:lnTo>
                    <a:pt x="6433387" y="6012"/>
                  </a:lnTo>
                  <a:lnTo>
                    <a:pt x="6457616" y="22383"/>
                  </a:lnTo>
                  <a:lnTo>
                    <a:pt x="6473987" y="46612"/>
                  </a:lnTo>
                  <a:lnTo>
                    <a:pt x="6480000" y="76200"/>
                  </a:lnTo>
                  <a:lnTo>
                    <a:pt x="6480000" y="1323975"/>
                  </a:lnTo>
                  <a:lnTo>
                    <a:pt x="6473987" y="1353562"/>
                  </a:lnTo>
                  <a:lnTo>
                    <a:pt x="6457616" y="1377791"/>
                  </a:lnTo>
                  <a:lnTo>
                    <a:pt x="6433387" y="1394162"/>
                  </a:lnTo>
                  <a:lnTo>
                    <a:pt x="6403800" y="1400175"/>
                  </a:lnTo>
                  <a:close/>
                </a:path>
              </a:pathLst>
            </a:custGeom>
            <a:solidFill>
              <a:srgbClr val="1D28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39991" y="8061537"/>
              <a:ext cx="6480175" cy="1400175"/>
            </a:xfrm>
            <a:custGeom>
              <a:avLst/>
              <a:gdLst/>
              <a:ahLst/>
              <a:cxnLst/>
              <a:rect l="l" t="t" r="r" b="b"/>
              <a:pathLst>
                <a:path w="6480175" h="1400175">
                  <a:moveTo>
                    <a:pt x="6337122" y="409575"/>
                  </a:moveTo>
                  <a:lnTo>
                    <a:pt x="142875" y="409575"/>
                  </a:lnTo>
                  <a:lnTo>
                    <a:pt x="142875" y="419100"/>
                  </a:lnTo>
                  <a:lnTo>
                    <a:pt x="6337122" y="419100"/>
                  </a:lnTo>
                  <a:lnTo>
                    <a:pt x="6337122" y="409575"/>
                  </a:lnTo>
                  <a:close/>
                </a:path>
                <a:path w="6480175" h="1400175">
                  <a:moveTo>
                    <a:pt x="6479997" y="76200"/>
                  </a:moveTo>
                  <a:lnTo>
                    <a:pt x="6473990" y="46609"/>
                  </a:lnTo>
                  <a:lnTo>
                    <a:pt x="6470472" y="41402"/>
                  </a:lnTo>
                  <a:lnTo>
                    <a:pt x="6470472" y="76200"/>
                  </a:lnTo>
                  <a:lnTo>
                    <a:pt x="6470472" y="1323975"/>
                  </a:lnTo>
                  <a:lnTo>
                    <a:pt x="6465214" y="1349857"/>
                  </a:lnTo>
                  <a:lnTo>
                    <a:pt x="6450889" y="1371053"/>
                  </a:lnTo>
                  <a:lnTo>
                    <a:pt x="6429692" y="1385379"/>
                  </a:lnTo>
                  <a:lnTo>
                    <a:pt x="6403797" y="1390650"/>
                  </a:lnTo>
                  <a:lnTo>
                    <a:pt x="76200" y="1390650"/>
                  </a:lnTo>
                  <a:lnTo>
                    <a:pt x="50317" y="1385379"/>
                  </a:lnTo>
                  <a:lnTo>
                    <a:pt x="29108" y="1371053"/>
                  </a:lnTo>
                  <a:lnTo>
                    <a:pt x="14782" y="1349857"/>
                  </a:lnTo>
                  <a:lnTo>
                    <a:pt x="9525" y="1323975"/>
                  </a:lnTo>
                  <a:lnTo>
                    <a:pt x="9525" y="76200"/>
                  </a:lnTo>
                  <a:lnTo>
                    <a:pt x="14782" y="50304"/>
                  </a:lnTo>
                  <a:lnTo>
                    <a:pt x="29108" y="29108"/>
                  </a:lnTo>
                  <a:lnTo>
                    <a:pt x="50317" y="14782"/>
                  </a:lnTo>
                  <a:lnTo>
                    <a:pt x="76200" y="9525"/>
                  </a:lnTo>
                  <a:lnTo>
                    <a:pt x="6403797" y="9525"/>
                  </a:lnTo>
                  <a:lnTo>
                    <a:pt x="6429692" y="14782"/>
                  </a:lnTo>
                  <a:lnTo>
                    <a:pt x="6450889" y="29108"/>
                  </a:lnTo>
                  <a:lnTo>
                    <a:pt x="6465214" y="50304"/>
                  </a:lnTo>
                  <a:lnTo>
                    <a:pt x="6470472" y="76200"/>
                  </a:lnTo>
                  <a:lnTo>
                    <a:pt x="6470472" y="41402"/>
                  </a:lnTo>
                  <a:lnTo>
                    <a:pt x="6457620" y="22377"/>
                  </a:lnTo>
                  <a:lnTo>
                    <a:pt x="6438582" y="9525"/>
                  </a:lnTo>
                  <a:lnTo>
                    <a:pt x="6433388" y="6007"/>
                  </a:lnTo>
                  <a:lnTo>
                    <a:pt x="6403797" y="0"/>
                  </a:lnTo>
                  <a:lnTo>
                    <a:pt x="76200" y="0"/>
                  </a:lnTo>
                  <a:lnTo>
                    <a:pt x="46609" y="6007"/>
                  </a:lnTo>
                  <a:lnTo>
                    <a:pt x="22390" y="22377"/>
                  </a:lnTo>
                  <a:lnTo>
                    <a:pt x="6019" y="46609"/>
                  </a:lnTo>
                  <a:lnTo>
                    <a:pt x="0" y="76200"/>
                  </a:lnTo>
                  <a:lnTo>
                    <a:pt x="0" y="1323975"/>
                  </a:lnTo>
                  <a:lnTo>
                    <a:pt x="6019" y="1353553"/>
                  </a:lnTo>
                  <a:lnTo>
                    <a:pt x="22390" y="1377784"/>
                  </a:lnTo>
                  <a:lnTo>
                    <a:pt x="46609" y="1394155"/>
                  </a:lnTo>
                  <a:lnTo>
                    <a:pt x="76200" y="1400175"/>
                  </a:lnTo>
                  <a:lnTo>
                    <a:pt x="6403797" y="1400175"/>
                  </a:lnTo>
                  <a:lnTo>
                    <a:pt x="6457620" y="1377784"/>
                  </a:lnTo>
                  <a:lnTo>
                    <a:pt x="6479997" y="1323975"/>
                  </a:lnTo>
                  <a:lnTo>
                    <a:pt x="6479997" y="76200"/>
                  </a:lnTo>
                  <a:close/>
                </a:path>
              </a:pathLst>
            </a:custGeom>
            <a:solidFill>
              <a:srgbClr val="334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670174" y="8188768"/>
            <a:ext cx="248729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30" dirty="0">
                <a:solidFill>
                  <a:srgbClr val="F49E0A"/>
                </a:solidFill>
                <a:latin typeface="Microsoft Sans Serif"/>
                <a:cs typeface="Microsoft Sans Serif"/>
              </a:rPr>
              <a:t>CONTACT</a:t>
            </a:r>
            <a:r>
              <a:rPr sz="1100" spc="-15" dirty="0">
                <a:solidFill>
                  <a:srgbClr val="F49E0A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F49E0A"/>
                </a:solidFill>
                <a:latin typeface="Microsoft Sans Serif"/>
                <a:cs typeface="Microsoft Sans Serif"/>
              </a:rPr>
              <a:t>PERSON</a:t>
            </a:r>
            <a:r>
              <a:rPr sz="1100" spc="-15" dirty="0">
                <a:solidFill>
                  <a:srgbClr val="F49E0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F49E0A"/>
                </a:solidFill>
                <a:latin typeface="Microsoft Sans Serif"/>
                <a:cs typeface="Microsoft Sans Serif"/>
              </a:rPr>
              <a:t>&amp;</a:t>
            </a:r>
            <a:r>
              <a:rPr sz="1100" spc="-15" dirty="0">
                <a:solidFill>
                  <a:srgbClr val="F49E0A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F49E0A"/>
                </a:solidFill>
                <a:latin typeface="Microsoft Sans Serif"/>
                <a:cs typeface="Microsoft Sans Serif"/>
              </a:rPr>
              <a:t>PENDAFTARAN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17799" y="8712656"/>
            <a:ext cx="2346325" cy="59690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000" b="1" dirty="0">
                <a:solidFill>
                  <a:srgbClr val="F49E0A"/>
                </a:solidFill>
                <a:latin typeface="Arial"/>
                <a:cs typeface="Arial"/>
              </a:rPr>
              <a:t>Materi</a:t>
            </a:r>
            <a:r>
              <a:rPr sz="1000" b="1" spc="-15" dirty="0">
                <a:solidFill>
                  <a:srgbClr val="F49E0A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49E0A"/>
                </a:solidFill>
                <a:latin typeface="Arial"/>
                <a:cs typeface="Arial"/>
              </a:rPr>
              <a:t>&amp;</a:t>
            </a:r>
            <a:r>
              <a:rPr sz="1000" b="1" spc="-15" dirty="0">
                <a:solidFill>
                  <a:srgbClr val="F49E0A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49E0A"/>
                </a:solidFill>
                <a:latin typeface="Arial"/>
                <a:cs typeface="Arial"/>
              </a:rPr>
              <a:t>Teknis:</a:t>
            </a:r>
            <a:endParaRPr sz="1000" dirty="0">
              <a:latin typeface="Arial"/>
              <a:cs typeface="Arial"/>
            </a:endParaRPr>
          </a:p>
          <a:p>
            <a:pPr marL="91440" indent="-78740">
              <a:lnSpc>
                <a:spcPct val="100000"/>
              </a:lnSpc>
              <a:spcBef>
                <a:spcPts val="300"/>
              </a:spcBef>
              <a:buChar char="•"/>
              <a:tabLst>
                <a:tab pos="91440" algn="l"/>
              </a:tabLst>
            </a:pPr>
            <a:r>
              <a:rPr sz="1000" dirty="0">
                <a:solidFill>
                  <a:srgbClr val="F7F9FB"/>
                </a:solidFill>
                <a:latin typeface="Microsoft Sans Serif"/>
                <a:cs typeface="Microsoft Sans Serif"/>
              </a:rPr>
              <a:t>Briptu</a:t>
            </a:r>
            <a:r>
              <a:rPr sz="1000" spc="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7F9FB"/>
                </a:solidFill>
                <a:latin typeface="Microsoft Sans Serif"/>
                <a:cs typeface="Microsoft Sans Serif"/>
              </a:rPr>
              <a:t>Ady</a:t>
            </a:r>
            <a:r>
              <a:rPr sz="1000" spc="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7F9FB"/>
                </a:solidFill>
                <a:latin typeface="Microsoft Sans Serif"/>
                <a:cs typeface="Microsoft Sans Serif"/>
              </a:rPr>
              <a:t>:</a:t>
            </a:r>
            <a:r>
              <a:rPr sz="1000" spc="1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FFFFF"/>
                </a:solidFill>
                <a:latin typeface="Microsoft Sans Serif"/>
                <a:cs typeface="Microsoft Sans Serif"/>
              </a:rPr>
              <a:t>0852-8352-</a:t>
            </a:r>
            <a:r>
              <a:rPr sz="1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5761</a:t>
            </a:r>
            <a:endParaRPr sz="1000" dirty="0">
              <a:latin typeface="Microsoft Sans Serif"/>
              <a:cs typeface="Microsoft Sans Serif"/>
            </a:endParaRPr>
          </a:p>
          <a:p>
            <a:pPr marL="91440" indent="-78740">
              <a:lnSpc>
                <a:spcPct val="100000"/>
              </a:lnSpc>
              <a:spcBef>
                <a:spcPts val="300"/>
              </a:spcBef>
              <a:buChar char="•"/>
              <a:tabLst>
                <a:tab pos="91440" algn="l"/>
              </a:tabLst>
            </a:pPr>
            <a:r>
              <a:rPr sz="1000" dirty="0">
                <a:solidFill>
                  <a:srgbClr val="F7F9FB"/>
                </a:solidFill>
                <a:latin typeface="Microsoft Sans Serif"/>
                <a:cs typeface="Microsoft Sans Serif"/>
              </a:rPr>
              <a:t>Briptu</a:t>
            </a:r>
            <a:r>
              <a:rPr sz="10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7F9FB"/>
                </a:solidFill>
                <a:latin typeface="Microsoft Sans Serif"/>
                <a:cs typeface="Microsoft Sans Serif"/>
              </a:rPr>
              <a:t>Huges</a:t>
            </a:r>
            <a:r>
              <a:rPr sz="10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7F9FB"/>
                </a:solidFill>
                <a:latin typeface="Microsoft Sans Serif"/>
                <a:cs typeface="Microsoft Sans Serif"/>
              </a:rPr>
              <a:t>Yustisio</a:t>
            </a:r>
            <a:r>
              <a:rPr sz="10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7F9FB"/>
                </a:solidFill>
                <a:latin typeface="Microsoft Sans Serif"/>
                <a:cs typeface="Microsoft Sans Serif"/>
              </a:rPr>
              <a:t>:</a:t>
            </a:r>
            <a:r>
              <a:rPr sz="10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FFFFF"/>
                </a:solidFill>
                <a:latin typeface="Microsoft Sans Serif"/>
                <a:cs typeface="Microsoft Sans Serif"/>
              </a:rPr>
              <a:t>0852-7237-</a:t>
            </a:r>
            <a:r>
              <a:rPr sz="1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7704</a:t>
            </a:r>
            <a:endParaRPr sz="1000" dirty="0">
              <a:latin typeface="Microsoft Sans Serif"/>
              <a:cs typeface="Microsoft Sans Serif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805399" y="8727711"/>
            <a:ext cx="1841500" cy="59690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000" b="1" spc="-10" dirty="0">
                <a:solidFill>
                  <a:srgbClr val="F49E0A"/>
                </a:solidFill>
                <a:latin typeface="Arial"/>
                <a:cs typeface="Arial"/>
              </a:rPr>
              <a:t>Pendaftaran:</a:t>
            </a:r>
            <a:endParaRPr sz="1000" dirty="0">
              <a:latin typeface="Arial"/>
              <a:cs typeface="Arial"/>
            </a:endParaRPr>
          </a:p>
          <a:p>
            <a:pPr marL="91440" indent="-78740">
              <a:lnSpc>
                <a:spcPct val="100000"/>
              </a:lnSpc>
              <a:spcBef>
                <a:spcPts val="300"/>
              </a:spcBef>
              <a:buChar char="•"/>
              <a:tabLst>
                <a:tab pos="91440" algn="l"/>
              </a:tabLst>
            </a:pPr>
            <a:r>
              <a:rPr sz="1000" dirty="0">
                <a:solidFill>
                  <a:srgbClr val="F7F9FB"/>
                </a:solidFill>
                <a:latin typeface="Microsoft Sans Serif"/>
                <a:cs typeface="Microsoft Sans Serif"/>
              </a:rPr>
              <a:t>Briptu Rully</a:t>
            </a:r>
            <a:r>
              <a:rPr sz="1000" spc="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7F9FB"/>
                </a:solidFill>
                <a:latin typeface="Microsoft Sans Serif"/>
                <a:cs typeface="Microsoft Sans Serif"/>
              </a:rPr>
              <a:t>: </a:t>
            </a:r>
            <a:r>
              <a:rPr sz="1000" dirty="0">
                <a:solidFill>
                  <a:srgbClr val="FFFFFF"/>
                </a:solidFill>
                <a:latin typeface="Microsoft Sans Serif"/>
                <a:cs typeface="Microsoft Sans Serif"/>
              </a:rPr>
              <a:t>0857-7501-</a:t>
            </a:r>
            <a:r>
              <a:rPr sz="1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5786</a:t>
            </a:r>
            <a:endParaRPr sz="1000" dirty="0">
              <a:latin typeface="Microsoft Sans Serif"/>
              <a:cs typeface="Microsoft Sans Serif"/>
            </a:endParaRPr>
          </a:p>
          <a:p>
            <a:pPr marL="91440" indent="-78740">
              <a:lnSpc>
                <a:spcPct val="100000"/>
              </a:lnSpc>
              <a:spcBef>
                <a:spcPts val="300"/>
              </a:spcBef>
              <a:buChar char="•"/>
              <a:tabLst>
                <a:tab pos="91440" algn="l"/>
              </a:tabLst>
            </a:pPr>
            <a:r>
              <a:rPr sz="1000" dirty="0">
                <a:solidFill>
                  <a:srgbClr val="F7F9FB"/>
                </a:solidFill>
                <a:latin typeface="Microsoft Sans Serif"/>
                <a:cs typeface="Microsoft Sans Serif"/>
              </a:rPr>
              <a:t>Briptu</a:t>
            </a:r>
            <a:r>
              <a:rPr sz="1000" spc="-1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7F9FB"/>
                </a:solidFill>
                <a:latin typeface="Microsoft Sans Serif"/>
                <a:cs typeface="Microsoft Sans Serif"/>
              </a:rPr>
              <a:t>Zyaldi</a:t>
            </a:r>
            <a:r>
              <a:rPr sz="10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7F9FB"/>
                </a:solidFill>
                <a:latin typeface="Microsoft Sans Serif"/>
                <a:cs typeface="Microsoft Sans Serif"/>
              </a:rPr>
              <a:t>:</a:t>
            </a:r>
            <a:r>
              <a:rPr sz="1000" spc="-1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FFFFF"/>
                </a:solidFill>
                <a:latin typeface="Microsoft Sans Serif"/>
                <a:cs typeface="Microsoft Sans Serif"/>
              </a:rPr>
              <a:t>0821-3465-</a:t>
            </a:r>
            <a:r>
              <a:rPr sz="1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1503</a:t>
            </a:r>
            <a:endParaRPr sz="1000" dirty="0">
              <a:latin typeface="Microsoft Sans Serif"/>
              <a:cs typeface="Microsoft Sans Serif"/>
            </a:endParaRP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FCCC3D5-2B63-40CC-8AEF-D2A1BD8A0C3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0423" y="2664025"/>
            <a:ext cx="920750" cy="92075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E08D7A1A-992A-400E-8548-4F2A4EA36ED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12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711" b="93388" l="9936" r="89904">
                        <a14:foregroundMark x1="31571" y1="18595" x2="31571" y2="18595"/>
                        <a14:foregroundMark x1="38622" y1="19215" x2="38622" y2="19215"/>
                        <a14:foregroundMark x1="61218" y1="20041" x2="61218" y2="20041"/>
                        <a14:foregroundMark x1="56571" y1="14876" x2="56571" y2="14876"/>
                        <a14:foregroundMark x1="66026" y1="19835" x2="66026" y2="19835"/>
                        <a14:foregroundMark x1="76603" y1="36570" x2="76603" y2="36570"/>
                        <a14:foregroundMark x1="54647" y1="91942" x2="54647" y2="91942"/>
                        <a14:foregroundMark x1="48718" y1="92562" x2="45833" y2="90909"/>
                        <a14:foregroundMark x1="45833" y1="91942" x2="43429" y2="89669"/>
                        <a14:foregroundMark x1="45833" y1="91322" x2="45833" y2="91322"/>
                        <a14:foregroundMark x1="45833" y1="91322" x2="45833" y2="91322"/>
                        <a14:foregroundMark x1="45833" y1="91322" x2="45833" y2="91322"/>
                        <a14:foregroundMark x1="46314" y1="92355" x2="44231" y2="90083"/>
                        <a14:foregroundMark x1="48397" y1="92355" x2="52885" y2="92355"/>
                        <a14:foregroundMark x1="48397" y1="91322" x2="50160" y2="92355"/>
                        <a14:foregroundMark x1="51923" y1="92975" x2="52083" y2="93182"/>
                        <a14:foregroundMark x1="52244" y1="93388" x2="52244" y2="93388"/>
                        <a14:foregroundMark x1="53045" y1="93182" x2="50801" y2="92562"/>
                        <a14:foregroundMark x1="39583" y1="15496" x2="38622" y2="14050"/>
                        <a14:foregroundMark x1="39583" y1="17355" x2="39103" y2="14876"/>
                        <a14:foregroundMark x1="39744" y1="17355" x2="39744" y2="15909"/>
                        <a14:foregroundMark x1="40064" y1="15702" x2="37821" y2="13430"/>
                        <a14:foregroundMark x1="30609" y1="38017" x2="30609" y2="38017"/>
                        <a14:foregroundMark x1="32853" y1="20248" x2="32853" y2="20248"/>
                        <a14:foregroundMark x1="32853" y1="20248" x2="32853" y2="20248"/>
                        <a14:foregroundMark x1="32853" y1="20248" x2="32853" y2="20248"/>
                        <a14:foregroundMark x1="32853" y1="20248" x2="32853" y2="20248"/>
                        <a14:foregroundMark x1="31891" y1="16736" x2="31891" y2="16736"/>
                        <a14:foregroundMark x1="32372" y1="17355" x2="32372" y2="17355"/>
                        <a14:foregroundMark x1="32372" y1="17355" x2="31090" y2="18182"/>
                        <a14:foregroundMark x1="32372" y1="16942" x2="31891" y2="17355"/>
                        <a14:foregroundMark x1="32212" y1="17355" x2="30929" y2="17562"/>
                        <a14:backgroundMark x1="53586" y1="94425" x2="58494" y2="9628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00875" y="776530"/>
            <a:ext cx="9612548" cy="7459643"/>
          </a:xfrm>
          <a:prstGeom prst="rect">
            <a:avLst/>
          </a:prstGeom>
          <a:noFill/>
        </p:spPr>
      </p:pic>
      <p:grpSp>
        <p:nvGrpSpPr>
          <p:cNvPr id="43" name="object 2">
            <a:extLst>
              <a:ext uri="{FF2B5EF4-FFF2-40B4-BE49-F238E27FC236}">
                <a16:creationId xmlns:a16="http://schemas.microsoft.com/office/drawing/2014/main" id="{88EB2C20-E9D0-4FB8-A5EE-5B01723A3EDF}"/>
              </a:ext>
            </a:extLst>
          </p:cNvPr>
          <p:cNvGrpSpPr/>
          <p:nvPr/>
        </p:nvGrpSpPr>
        <p:grpSpPr>
          <a:xfrm>
            <a:off x="3840484" y="4059874"/>
            <a:ext cx="3164205" cy="892957"/>
            <a:chOff x="578100" y="1346400"/>
            <a:chExt cx="3164205" cy="1571625"/>
          </a:xfrm>
        </p:grpSpPr>
        <p:sp>
          <p:nvSpPr>
            <p:cNvPr id="44" name="object 3">
              <a:extLst>
                <a:ext uri="{FF2B5EF4-FFF2-40B4-BE49-F238E27FC236}">
                  <a16:creationId xmlns:a16="http://schemas.microsoft.com/office/drawing/2014/main" id="{613A90A2-257F-41AF-967B-1332E3EF50AE}"/>
                </a:ext>
              </a:extLst>
            </p:cNvPr>
            <p:cNvSpPr/>
            <p:nvPr/>
          </p:nvSpPr>
          <p:spPr>
            <a:xfrm>
              <a:off x="578100" y="1346400"/>
              <a:ext cx="3164205" cy="1571625"/>
            </a:xfrm>
            <a:custGeom>
              <a:avLst/>
              <a:gdLst/>
              <a:ahLst/>
              <a:cxnLst/>
              <a:rect l="l" t="t" r="r" b="b"/>
              <a:pathLst>
                <a:path w="3164204" h="1571625">
                  <a:moveTo>
                    <a:pt x="3087600" y="1571625"/>
                  </a:moveTo>
                  <a:lnTo>
                    <a:pt x="76200" y="1571625"/>
                  </a:lnTo>
                  <a:lnTo>
                    <a:pt x="46612" y="1565612"/>
                  </a:lnTo>
                  <a:lnTo>
                    <a:pt x="22383" y="1549241"/>
                  </a:lnTo>
                  <a:lnTo>
                    <a:pt x="6012" y="1525012"/>
                  </a:lnTo>
                  <a:lnTo>
                    <a:pt x="0" y="1495425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3087600" y="0"/>
                  </a:lnTo>
                  <a:lnTo>
                    <a:pt x="3117187" y="6012"/>
                  </a:lnTo>
                  <a:lnTo>
                    <a:pt x="3141416" y="22383"/>
                  </a:lnTo>
                  <a:lnTo>
                    <a:pt x="3157787" y="46612"/>
                  </a:lnTo>
                  <a:lnTo>
                    <a:pt x="3163800" y="76200"/>
                  </a:lnTo>
                  <a:lnTo>
                    <a:pt x="3163800" y="1495425"/>
                  </a:lnTo>
                  <a:lnTo>
                    <a:pt x="3157787" y="1525012"/>
                  </a:lnTo>
                  <a:lnTo>
                    <a:pt x="3141416" y="1549241"/>
                  </a:lnTo>
                  <a:lnTo>
                    <a:pt x="3117187" y="1565612"/>
                  </a:lnTo>
                  <a:lnTo>
                    <a:pt x="3087600" y="1571625"/>
                  </a:lnTo>
                  <a:close/>
                </a:path>
              </a:pathLst>
            </a:custGeom>
            <a:solidFill>
              <a:srgbClr val="1D28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">
              <a:extLst>
                <a:ext uri="{FF2B5EF4-FFF2-40B4-BE49-F238E27FC236}">
                  <a16:creationId xmlns:a16="http://schemas.microsoft.com/office/drawing/2014/main" id="{F1F1D07D-E1FF-41A2-B05D-DF0408391DD4}"/>
                </a:ext>
              </a:extLst>
            </p:cNvPr>
            <p:cNvSpPr/>
            <p:nvPr/>
          </p:nvSpPr>
          <p:spPr>
            <a:xfrm>
              <a:off x="578091" y="1368789"/>
              <a:ext cx="3164205" cy="1549400"/>
            </a:xfrm>
            <a:custGeom>
              <a:avLst/>
              <a:gdLst/>
              <a:ahLst/>
              <a:cxnLst/>
              <a:rect l="l" t="t" r="r" b="b"/>
              <a:pathLst>
                <a:path w="3164204" h="1549400">
                  <a:moveTo>
                    <a:pt x="3163798" y="53822"/>
                  </a:moveTo>
                  <a:lnTo>
                    <a:pt x="3157791" y="24231"/>
                  </a:lnTo>
                  <a:lnTo>
                    <a:pt x="3141421" y="0"/>
                  </a:lnTo>
                  <a:lnTo>
                    <a:pt x="3125622" y="15798"/>
                  </a:lnTo>
                  <a:lnTo>
                    <a:pt x="3134690" y="20180"/>
                  </a:lnTo>
                  <a:lnTo>
                    <a:pt x="3149015" y="35318"/>
                  </a:lnTo>
                  <a:lnTo>
                    <a:pt x="3154273" y="53822"/>
                  </a:lnTo>
                  <a:lnTo>
                    <a:pt x="3154273" y="1473047"/>
                  </a:lnTo>
                  <a:lnTo>
                    <a:pt x="3149015" y="1498930"/>
                  </a:lnTo>
                  <a:lnTo>
                    <a:pt x="3134690" y="1520126"/>
                  </a:lnTo>
                  <a:lnTo>
                    <a:pt x="3113494" y="1534452"/>
                  </a:lnTo>
                  <a:lnTo>
                    <a:pt x="3087598" y="1539722"/>
                  </a:lnTo>
                  <a:lnTo>
                    <a:pt x="76200" y="1539722"/>
                  </a:lnTo>
                  <a:lnTo>
                    <a:pt x="50317" y="1534452"/>
                  </a:lnTo>
                  <a:lnTo>
                    <a:pt x="29108" y="1520126"/>
                  </a:lnTo>
                  <a:lnTo>
                    <a:pt x="14782" y="1498930"/>
                  </a:lnTo>
                  <a:lnTo>
                    <a:pt x="9525" y="1473047"/>
                  </a:lnTo>
                  <a:lnTo>
                    <a:pt x="9525" y="53822"/>
                  </a:lnTo>
                  <a:lnTo>
                    <a:pt x="14782" y="35318"/>
                  </a:lnTo>
                  <a:lnTo>
                    <a:pt x="29108" y="20180"/>
                  </a:lnTo>
                  <a:lnTo>
                    <a:pt x="38188" y="15798"/>
                  </a:lnTo>
                  <a:lnTo>
                    <a:pt x="22390" y="0"/>
                  </a:lnTo>
                  <a:lnTo>
                    <a:pt x="6019" y="24231"/>
                  </a:lnTo>
                  <a:lnTo>
                    <a:pt x="0" y="53822"/>
                  </a:lnTo>
                  <a:lnTo>
                    <a:pt x="0" y="1473047"/>
                  </a:lnTo>
                  <a:lnTo>
                    <a:pt x="6019" y="1502625"/>
                  </a:lnTo>
                  <a:lnTo>
                    <a:pt x="22390" y="1526857"/>
                  </a:lnTo>
                  <a:lnTo>
                    <a:pt x="46621" y="1543227"/>
                  </a:lnTo>
                  <a:lnTo>
                    <a:pt x="76200" y="1549247"/>
                  </a:lnTo>
                  <a:lnTo>
                    <a:pt x="3087598" y="1549247"/>
                  </a:lnTo>
                  <a:lnTo>
                    <a:pt x="3141421" y="1526857"/>
                  </a:lnTo>
                  <a:lnTo>
                    <a:pt x="3163798" y="1473047"/>
                  </a:lnTo>
                  <a:lnTo>
                    <a:pt x="3163798" y="53822"/>
                  </a:lnTo>
                  <a:close/>
                </a:path>
              </a:pathLst>
            </a:custGeom>
            <a:solidFill>
              <a:srgbClr val="334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5">
              <a:extLst>
                <a:ext uri="{FF2B5EF4-FFF2-40B4-BE49-F238E27FC236}">
                  <a16:creationId xmlns:a16="http://schemas.microsoft.com/office/drawing/2014/main" id="{5459345F-3E27-4EC6-B3F2-D127B0A96885}"/>
                </a:ext>
              </a:extLst>
            </p:cNvPr>
            <p:cNvSpPr/>
            <p:nvPr/>
          </p:nvSpPr>
          <p:spPr>
            <a:xfrm>
              <a:off x="600483" y="1346400"/>
              <a:ext cx="3119120" cy="38735"/>
            </a:xfrm>
            <a:custGeom>
              <a:avLst/>
              <a:gdLst/>
              <a:ahLst/>
              <a:cxnLst/>
              <a:rect l="l" t="t" r="r" b="b"/>
              <a:pathLst>
                <a:path w="3119120" h="38734">
                  <a:moveTo>
                    <a:pt x="15801" y="38185"/>
                  </a:moveTo>
                  <a:lnTo>
                    <a:pt x="0" y="22383"/>
                  </a:lnTo>
                  <a:lnTo>
                    <a:pt x="24229" y="6012"/>
                  </a:lnTo>
                  <a:lnTo>
                    <a:pt x="53816" y="0"/>
                  </a:lnTo>
                  <a:lnTo>
                    <a:pt x="3065216" y="0"/>
                  </a:lnTo>
                  <a:lnTo>
                    <a:pt x="3094803" y="6012"/>
                  </a:lnTo>
                  <a:lnTo>
                    <a:pt x="3119032" y="22383"/>
                  </a:lnTo>
                  <a:lnTo>
                    <a:pt x="3112841" y="28575"/>
                  </a:lnTo>
                  <a:lnTo>
                    <a:pt x="53816" y="28575"/>
                  </a:lnTo>
                  <a:lnTo>
                    <a:pt x="27927" y="32332"/>
                  </a:lnTo>
                  <a:lnTo>
                    <a:pt x="15801" y="38185"/>
                  </a:lnTo>
                  <a:close/>
                </a:path>
                <a:path w="3119120" h="38734">
                  <a:moveTo>
                    <a:pt x="3103231" y="38185"/>
                  </a:moveTo>
                  <a:lnTo>
                    <a:pt x="3091105" y="32332"/>
                  </a:lnTo>
                  <a:lnTo>
                    <a:pt x="3065216" y="28575"/>
                  </a:lnTo>
                  <a:lnTo>
                    <a:pt x="3112841" y="28575"/>
                  </a:lnTo>
                  <a:lnTo>
                    <a:pt x="3103231" y="38185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6">
              <a:extLst>
                <a:ext uri="{FF2B5EF4-FFF2-40B4-BE49-F238E27FC236}">
                  <a16:creationId xmlns:a16="http://schemas.microsoft.com/office/drawing/2014/main" id="{C7AAB5A0-9659-473B-9689-F63D307162A1}"/>
                </a:ext>
              </a:extLst>
            </p:cNvPr>
            <p:cNvSpPr/>
            <p:nvPr/>
          </p:nvSpPr>
          <p:spPr>
            <a:xfrm>
              <a:off x="720975" y="1775025"/>
              <a:ext cx="2878455" cy="9525"/>
            </a:xfrm>
            <a:custGeom>
              <a:avLst/>
              <a:gdLst/>
              <a:ahLst/>
              <a:cxnLst/>
              <a:rect l="l" t="t" r="r" b="b"/>
              <a:pathLst>
                <a:path w="2878454" h="9525">
                  <a:moveTo>
                    <a:pt x="2878050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2878050" y="0"/>
                  </a:lnTo>
                  <a:lnTo>
                    <a:pt x="2878050" y="9525"/>
                  </a:lnTo>
                  <a:close/>
                </a:path>
              </a:pathLst>
            </a:custGeom>
            <a:solidFill>
              <a:srgbClr val="334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16BB4848-A78A-4508-8794-847DFADFE5F9}"/>
              </a:ext>
            </a:extLst>
          </p:cNvPr>
          <p:cNvSpPr txBox="1"/>
          <p:nvPr/>
        </p:nvSpPr>
        <p:spPr>
          <a:xfrm>
            <a:off x="3948274" y="4146355"/>
            <a:ext cx="2949503" cy="1149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4139">
              <a:lnSpc>
                <a:spcPct val="100000"/>
              </a:lnSpc>
              <a:spcBef>
                <a:spcPts val="100"/>
              </a:spcBef>
            </a:pPr>
            <a:r>
              <a:rPr lang="id-ID" sz="1100" spc="-25" dirty="0">
                <a:solidFill>
                  <a:srgbClr val="F49E0A"/>
                </a:solidFill>
                <a:latin typeface="Microsoft Sans Serif"/>
                <a:cs typeface="Microsoft Sans Serif"/>
              </a:rPr>
              <a:t>TARGET PESERTA</a:t>
            </a:r>
            <a:endParaRPr lang="en-ID" sz="1100" dirty="0">
              <a:latin typeface="Microsoft Sans Serif"/>
              <a:cs typeface="Microsoft Sans Serif"/>
            </a:endParaRPr>
          </a:p>
          <a:p>
            <a:pPr algn="just">
              <a:spcBef>
                <a:spcPts val="360"/>
              </a:spcBef>
            </a:pPr>
            <a:r>
              <a:rPr lang="en-ID" sz="900" dirty="0" err="1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Kegiatan</a:t>
            </a:r>
            <a:r>
              <a:rPr lang="en-ID" sz="90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900" dirty="0" err="1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ini</a:t>
            </a:r>
            <a:r>
              <a:rPr lang="en-ID" sz="90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900" dirty="0" err="1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diikuti</a:t>
            </a:r>
            <a:r>
              <a:rPr lang="en-ID" sz="90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oleh </a:t>
            </a:r>
            <a:r>
              <a:rPr lang="en-ID" sz="900" dirty="0" err="1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anggota</a:t>
            </a:r>
            <a:r>
              <a:rPr lang="en-ID" sz="90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900" dirty="0" err="1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Resimen</a:t>
            </a:r>
            <a:r>
              <a:rPr lang="en-ID" sz="90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I </a:t>
            </a:r>
            <a:r>
              <a:rPr lang="en-ID" sz="900" dirty="0" err="1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dari</a:t>
            </a:r>
            <a:r>
              <a:rPr lang="en-ID" sz="90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900" dirty="0" err="1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berbagai</a:t>
            </a:r>
            <a:r>
              <a:rPr lang="en-ID" sz="90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900" dirty="0" err="1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golongan</a:t>
            </a:r>
            <a:r>
              <a:rPr lang="en-ID" sz="90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</a:t>
            </a:r>
            <a:r>
              <a:rPr lang="en-ID" sz="900" dirty="0" err="1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dengan</a:t>
            </a:r>
            <a:r>
              <a:rPr lang="en-ID" sz="90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900" dirty="0" err="1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estimasi</a:t>
            </a:r>
            <a:r>
              <a:rPr lang="en-ID" sz="90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900" dirty="0" err="1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jumlah</a:t>
            </a:r>
            <a:r>
              <a:rPr lang="en-ID" sz="90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900" dirty="0" err="1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peserta</a:t>
            </a:r>
            <a:r>
              <a:rPr lang="en-ID" sz="90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900" dirty="0" err="1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sebanyak</a:t>
            </a:r>
            <a:r>
              <a:rPr lang="id-ID" sz="90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100</a:t>
            </a:r>
            <a:r>
              <a:rPr lang="en-ID" sz="90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orang, pada </a:t>
            </a:r>
            <a:r>
              <a:rPr lang="en-ID" sz="900" dirty="0" err="1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kategori</a:t>
            </a:r>
            <a:r>
              <a:rPr lang="en-ID" sz="90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D" sz="900" dirty="0" err="1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individu</a:t>
            </a:r>
            <a:r>
              <a:rPr lang="id-ID" sz="900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.</a:t>
            </a:r>
            <a:endParaRPr lang="en-ID" sz="900" dirty="0">
              <a:solidFill>
                <a:schemeClr val="accent1">
                  <a:lumMod val="40000"/>
                  <a:lumOff val="60000"/>
                </a:schemeClr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lang="en-ID" sz="2400" dirty="0">
              <a:latin typeface="Microsoft Sans Serif"/>
              <a:cs typeface="Microsoft Sans Serif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B2CEA89-69C1-4627-9859-AF8BA86EF58F}"/>
              </a:ext>
            </a:extLst>
          </p:cNvPr>
          <p:cNvSpPr txBox="1"/>
          <p:nvPr/>
        </p:nvSpPr>
        <p:spPr>
          <a:xfrm>
            <a:off x="643504" y="9494330"/>
            <a:ext cx="481076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lang="id-ID" sz="1000" b="1" spc="-10" dirty="0">
                <a:solidFill>
                  <a:srgbClr val="F49E0A"/>
                </a:solidFill>
                <a:latin typeface="Arial"/>
                <a:cs typeface="Arial"/>
              </a:rPr>
              <a:t>No Rekening Pendaftaran</a:t>
            </a:r>
            <a:endParaRPr lang="en-ID" sz="1000" dirty="0">
              <a:latin typeface="Arial"/>
              <a:cs typeface="Arial"/>
            </a:endParaRPr>
          </a:p>
          <a:p>
            <a:pPr marL="91440" indent="-78740">
              <a:lnSpc>
                <a:spcPct val="100000"/>
              </a:lnSpc>
              <a:spcBef>
                <a:spcPts val="300"/>
              </a:spcBef>
              <a:buChar char="•"/>
              <a:tabLst>
                <a:tab pos="91440" algn="l"/>
              </a:tabLst>
            </a:pPr>
            <a:r>
              <a:rPr lang="en-ID" sz="1000" dirty="0" err="1">
                <a:solidFill>
                  <a:srgbClr val="F7F9FB"/>
                </a:solidFill>
                <a:latin typeface="Microsoft Sans Serif"/>
                <a:cs typeface="Microsoft Sans Serif"/>
              </a:rPr>
              <a:t>Briptu</a:t>
            </a:r>
            <a:r>
              <a:rPr lang="en-ID" sz="100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lang="id-ID" sz="1000" dirty="0">
                <a:solidFill>
                  <a:srgbClr val="F7F9FB"/>
                </a:solidFill>
                <a:latin typeface="Microsoft Sans Serif"/>
                <a:cs typeface="Microsoft Sans Serif"/>
              </a:rPr>
              <a:t>Ahyandi : </a:t>
            </a:r>
            <a:r>
              <a:rPr lang="id-ID" sz="1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053801071906503 (BRI)</a:t>
            </a:r>
            <a:endParaRPr lang="en-ID" sz="1000" dirty="0">
              <a:solidFill>
                <a:schemeClr val="bg1"/>
              </a:solidFill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  <a:tabLst>
                <a:tab pos="91440" algn="l"/>
              </a:tabLst>
            </a:pPr>
            <a:endParaRPr lang="en-ID" sz="10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5"/>
          <p:cNvSpPr txBox="1"/>
          <p:nvPr/>
        </p:nvSpPr>
        <p:spPr>
          <a:xfrm>
            <a:off x="717799" y="510282"/>
            <a:ext cx="3749675" cy="488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KETENTUAN</a:t>
            </a:r>
            <a:r>
              <a:rPr sz="1600" spc="-5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F7F9FB"/>
                </a:solidFill>
                <a:latin typeface="Microsoft Sans Serif"/>
                <a:cs typeface="Microsoft Sans Serif"/>
              </a:rPr>
              <a:t>&amp;</a:t>
            </a:r>
            <a:r>
              <a:rPr sz="1600" spc="-5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ATURAN</a:t>
            </a:r>
            <a:r>
              <a:rPr sz="1600" spc="-5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PERLOMBAAN</a:t>
            </a:r>
            <a:endParaRPr sz="16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900" spc="-10" dirty="0">
                <a:solidFill>
                  <a:srgbClr val="93A3B8"/>
                </a:solidFill>
                <a:latin typeface="Microsoft Sans Serif"/>
                <a:cs typeface="Microsoft Sans Serif"/>
              </a:rPr>
              <a:t>PAKAIAN,</a:t>
            </a:r>
            <a:r>
              <a:rPr sz="900" spc="5" dirty="0">
                <a:solidFill>
                  <a:srgbClr val="93A3B8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93A3B8"/>
                </a:solidFill>
                <a:latin typeface="Microsoft Sans Serif"/>
                <a:cs typeface="Microsoft Sans Serif"/>
              </a:rPr>
              <a:t>PERLENGKAPAN,</a:t>
            </a:r>
            <a:r>
              <a:rPr sz="900" spc="10" dirty="0">
                <a:solidFill>
                  <a:srgbClr val="93A3B8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93A3B8"/>
                </a:solidFill>
                <a:latin typeface="Microsoft Sans Serif"/>
                <a:cs typeface="Microsoft Sans Serif"/>
              </a:rPr>
              <a:t>PERSENJATAAN,</a:t>
            </a:r>
            <a:r>
              <a:rPr sz="900" spc="5" dirty="0">
                <a:solidFill>
                  <a:srgbClr val="93A3B8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93A3B8"/>
                </a:solidFill>
                <a:latin typeface="Microsoft Sans Serif"/>
                <a:cs typeface="Microsoft Sans Serif"/>
              </a:rPr>
              <a:t>DAN</a:t>
            </a:r>
            <a:r>
              <a:rPr sz="900" spc="10" dirty="0">
                <a:solidFill>
                  <a:srgbClr val="93A3B8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93A3B8"/>
                </a:solidFill>
                <a:latin typeface="Microsoft Sans Serif"/>
                <a:cs typeface="Microsoft Sans Serif"/>
              </a:rPr>
              <a:t>KEAMANAN</a:t>
            </a:r>
            <a:endParaRPr sz="900" dirty="0">
              <a:latin typeface="Microsoft Sans Serif"/>
              <a:cs typeface="Microsoft Sans Serif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578100" y="1346400"/>
            <a:ext cx="3164205" cy="2644140"/>
            <a:chOff x="578100" y="1346400"/>
            <a:chExt cx="3164205" cy="2644140"/>
          </a:xfrm>
        </p:grpSpPr>
        <p:sp>
          <p:nvSpPr>
            <p:cNvPr id="3" name="object 3"/>
            <p:cNvSpPr/>
            <p:nvPr/>
          </p:nvSpPr>
          <p:spPr>
            <a:xfrm>
              <a:off x="578100" y="1346400"/>
              <a:ext cx="3164205" cy="2644140"/>
            </a:xfrm>
            <a:custGeom>
              <a:avLst/>
              <a:gdLst/>
              <a:ahLst/>
              <a:cxnLst/>
              <a:rect l="l" t="t" r="r" b="b"/>
              <a:pathLst>
                <a:path w="3164204" h="2644140">
                  <a:moveTo>
                    <a:pt x="3087600" y="2643764"/>
                  </a:moveTo>
                  <a:lnTo>
                    <a:pt x="76200" y="2643764"/>
                  </a:lnTo>
                  <a:lnTo>
                    <a:pt x="46612" y="2637751"/>
                  </a:lnTo>
                  <a:lnTo>
                    <a:pt x="22383" y="2621380"/>
                  </a:lnTo>
                  <a:lnTo>
                    <a:pt x="6012" y="2597151"/>
                  </a:lnTo>
                  <a:lnTo>
                    <a:pt x="0" y="2567564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3087600" y="0"/>
                  </a:lnTo>
                  <a:lnTo>
                    <a:pt x="3117187" y="6012"/>
                  </a:lnTo>
                  <a:lnTo>
                    <a:pt x="3141416" y="22383"/>
                  </a:lnTo>
                  <a:lnTo>
                    <a:pt x="3157787" y="46612"/>
                  </a:lnTo>
                  <a:lnTo>
                    <a:pt x="3163800" y="76200"/>
                  </a:lnTo>
                  <a:lnTo>
                    <a:pt x="3163800" y="2567564"/>
                  </a:lnTo>
                  <a:lnTo>
                    <a:pt x="3157787" y="2597151"/>
                  </a:lnTo>
                  <a:lnTo>
                    <a:pt x="3141416" y="2621380"/>
                  </a:lnTo>
                  <a:lnTo>
                    <a:pt x="3117187" y="2637751"/>
                  </a:lnTo>
                  <a:lnTo>
                    <a:pt x="3087600" y="2643764"/>
                  </a:lnTo>
                  <a:close/>
                </a:path>
              </a:pathLst>
            </a:custGeom>
            <a:solidFill>
              <a:srgbClr val="1D28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78091" y="1368789"/>
              <a:ext cx="3164205" cy="2621915"/>
            </a:xfrm>
            <a:custGeom>
              <a:avLst/>
              <a:gdLst/>
              <a:ahLst/>
              <a:cxnLst/>
              <a:rect l="l" t="t" r="r" b="b"/>
              <a:pathLst>
                <a:path w="3164204" h="2621915">
                  <a:moveTo>
                    <a:pt x="3163798" y="53822"/>
                  </a:moveTo>
                  <a:lnTo>
                    <a:pt x="3157791" y="24231"/>
                  </a:lnTo>
                  <a:lnTo>
                    <a:pt x="3141421" y="0"/>
                  </a:lnTo>
                  <a:lnTo>
                    <a:pt x="3125622" y="15798"/>
                  </a:lnTo>
                  <a:lnTo>
                    <a:pt x="3134690" y="20180"/>
                  </a:lnTo>
                  <a:lnTo>
                    <a:pt x="3149015" y="35318"/>
                  </a:lnTo>
                  <a:lnTo>
                    <a:pt x="3154273" y="53822"/>
                  </a:lnTo>
                  <a:lnTo>
                    <a:pt x="3154273" y="2545181"/>
                  </a:lnTo>
                  <a:lnTo>
                    <a:pt x="3149015" y="2571064"/>
                  </a:lnTo>
                  <a:lnTo>
                    <a:pt x="3134690" y="2592273"/>
                  </a:lnTo>
                  <a:lnTo>
                    <a:pt x="3113494" y="2606598"/>
                  </a:lnTo>
                  <a:lnTo>
                    <a:pt x="3087598" y="2611856"/>
                  </a:lnTo>
                  <a:lnTo>
                    <a:pt x="76200" y="2611856"/>
                  </a:lnTo>
                  <a:lnTo>
                    <a:pt x="50317" y="2606598"/>
                  </a:lnTo>
                  <a:lnTo>
                    <a:pt x="29108" y="2592273"/>
                  </a:lnTo>
                  <a:lnTo>
                    <a:pt x="14782" y="2571064"/>
                  </a:lnTo>
                  <a:lnTo>
                    <a:pt x="9525" y="2545181"/>
                  </a:lnTo>
                  <a:lnTo>
                    <a:pt x="9525" y="53822"/>
                  </a:lnTo>
                  <a:lnTo>
                    <a:pt x="14782" y="35318"/>
                  </a:lnTo>
                  <a:lnTo>
                    <a:pt x="29108" y="20180"/>
                  </a:lnTo>
                  <a:lnTo>
                    <a:pt x="38188" y="15798"/>
                  </a:lnTo>
                  <a:lnTo>
                    <a:pt x="22390" y="0"/>
                  </a:lnTo>
                  <a:lnTo>
                    <a:pt x="6019" y="24231"/>
                  </a:lnTo>
                  <a:lnTo>
                    <a:pt x="0" y="53822"/>
                  </a:lnTo>
                  <a:lnTo>
                    <a:pt x="0" y="2545181"/>
                  </a:lnTo>
                  <a:lnTo>
                    <a:pt x="6019" y="2574772"/>
                  </a:lnTo>
                  <a:lnTo>
                    <a:pt x="22390" y="2598991"/>
                  </a:lnTo>
                  <a:lnTo>
                    <a:pt x="46621" y="2615361"/>
                  </a:lnTo>
                  <a:lnTo>
                    <a:pt x="76200" y="2621381"/>
                  </a:lnTo>
                  <a:lnTo>
                    <a:pt x="3087598" y="2621381"/>
                  </a:lnTo>
                  <a:lnTo>
                    <a:pt x="3141421" y="2598991"/>
                  </a:lnTo>
                  <a:lnTo>
                    <a:pt x="3163798" y="2545181"/>
                  </a:lnTo>
                  <a:lnTo>
                    <a:pt x="3163798" y="53822"/>
                  </a:lnTo>
                  <a:close/>
                </a:path>
              </a:pathLst>
            </a:custGeom>
            <a:solidFill>
              <a:srgbClr val="334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0483" y="1346400"/>
              <a:ext cx="3119120" cy="38735"/>
            </a:xfrm>
            <a:custGeom>
              <a:avLst/>
              <a:gdLst/>
              <a:ahLst/>
              <a:cxnLst/>
              <a:rect l="l" t="t" r="r" b="b"/>
              <a:pathLst>
                <a:path w="3119120" h="38734">
                  <a:moveTo>
                    <a:pt x="15801" y="38185"/>
                  </a:moveTo>
                  <a:lnTo>
                    <a:pt x="0" y="22383"/>
                  </a:lnTo>
                  <a:lnTo>
                    <a:pt x="24229" y="6012"/>
                  </a:lnTo>
                  <a:lnTo>
                    <a:pt x="53816" y="0"/>
                  </a:lnTo>
                  <a:lnTo>
                    <a:pt x="3065216" y="0"/>
                  </a:lnTo>
                  <a:lnTo>
                    <a:pt x="3094803" y="6012"/>
                  </a:lnTo>
                  <a:lnTo>
                    <a:pt x="3119032" y="22383"/>
                  </a:lnTo>
                  <a:lnTo>
                    <a:pt x="3112841" y="28575"/>
                  </a:lnTo>
                  <a:lnTo>
                    <a:pt x="53816" y="28575"/>
                  </a:lnTo>
                  <a:lnTo>
                    <a:pt x="27927" y="32332"/>
                  </a:lnTo>
                  <a:lnTo>
                    <a:pt x="15801" y="38185"/>
                  </a:lnTo>
                  <a:close/>
                </a:path>
                <a:path w="3119120" h="38734">
                  <a:moveTo>
                    <a:pt x="3103231" y="38185"/>
                  </a:moveTo>
                  <a:lnTo>
                    <a:pt x="3091105" y="32332"/>
                  </a:lnTo>
                  <a:lnTo>
                    <a:pt x="3065216" y="28575"/>
                  </a:lnTo>
                  <a:lnTo>
                    <a:pt x="3112841" y="28575"/>
                  </a:lnTo>
                  <a:lnTo>
                    <a:pt x="3103231" y="38185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20975" y="1775025"/>
              <a:ext cx="2878455" cy="9525"/>
            </a:xfrm>
            <a:custGeom>
              <a:avLst/>
              <a:gdLst/>
              <a:ahLst/>
              <a:cxnLst/>
              <a:rect l="l" t="t" r="r" b="b"/>
              <a:pathLst>
                <a:path w="2878454" h="9525">
                  <a:moveTo>
                    <a:pt x="2878050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2878050" y="0"/>
                  </a:lnTo>
                  <a:lnTo>
                    <a:pt x="2878050" y="9525"/>
                  </a:lnTo>
                  <a:close/>
                </a:path>
              </a:pathLst>
            </a:custGeom>
            <a:solidFill>
              <a:srgbClr val="334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16285" y="1492693"/>
            <a:ext cx="3088005" cy="2269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7810" indent="-15367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57810" algn="l"/>
              </a:tabLst>
            </a:pPr>
            <a:r>
              <a:rPr sz="1100" spc="-10" dirty="0">
                <a:solidFill>
                  <a:srgbClr val="F49E0A"/>
                </a:solidFill>
                <a:latin typeface="Microsoft Sans Serif"/>
                <a:cs typeface="Microsoft Sans Serif"/>
              </a:rPr>
              <a:t>PAKAIAN</a:t>
            </a:r>
            <a:r>
              <a:rPr sz="1100" spc="-40" dirty="0">
                <a:solidFill>
                  <a:srgbClr val="F49E0A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F49E0A"/>
                </a:solidFill>
                <a:latin typeface="Microsoft Sans Serif"/>
                <a:cs typeface="Microsoft Sans Serif"/>
              </a:rPr>
              <a:t>PESERTA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Clr>
                <a:srgbClr val="F49E0A"/>
              </a:buClr>
              <a:buFont typeface="Microsoft Sans Serif"/>
              <a:buAutoNum type="arabicPeriod"/>
            </a:pPr>
            <a:endParaRPr sz="1100">
              <a:latin typeface="Microsoft Sans Serif"/>
              <a:cs typeface="Microsoft Sans Serif"/>
            </a:endParaRPr>
          </a:p>
          <a:p>
            <a:pPr marL="274320" marR="547370" lvl="1" indent="-78740">
              <a:lnSpc>
                <a:spcPct val="125000"/>
              </a:lnSpc>
              <a:buChar char="•"/>
              <a:tabLst>
                <a:tab pos="275590" algn="l"/>
              </a:tabLst>
            </a:pPr>
            <a:r>
              <a:rPr sz="1000" dirty="0">
                <a:solidFill>
                  <a:srgbClr val="F7F9FB"/>
                </a:solidFill>
                <a:latin typeface="Microsoft Sans Serif"/>
                <a:cs typeface="Microsoft Sans Serif"/>
              </a:rPr>
              <a:t>Menggunakan</a:t>
            </a:r>
            <a:r>
              <a:rPr sz="1000" spc="1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000" b="1" dirty="0">
                <a:solidFill>
                  <a:srgbClr val="F7F9FB"/>
                </a:solidFill>
                <a:latin typeface="Arial"/>
                <a:cs typeface="Arial"/>
              </a:rPr>
              <a:t>Jersey Menembak</a:t>
            </a:r>
            <a:r>
              <a:rPr sz="1000" dirty="0">
                <a:solidFill>
                  <a:srgbClr val="F7F9FB"/>
                </a:solidFill>
                <a:latin typeface="Microsoft Sans Serif"/>
                <a:cs typeface="Microsoft Sans Serif"/>
              </a:rPr>
              <a:t>,</a:t>
            </a:r>
            <a:r>
              <a:rPr sz="1000" spc="1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Baju 	</a:t>
            </a:r>
            <a:r>
              <a:rPr sz="10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Tactical, </a:t>
            </a:r>
            <a:r>
              <a:rPr sz="1000" dirty="0">
                <a:solidFill>
                  <a:srgbClr val="F7F9FB"/>
                </a:solidFill>
                <a:latin typeface="Microsoft Sans Serif"/>
                <a:cs typeface="Microsoft Sans Serif"/>
              </a:rPr>
              <a:t>ataupun</a:t>
            </a:r>
            <a:r>
              <a:rPr sz="1000" spc="-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7F9FB"/>
                </a:solidFill>
                <a:latin typeface="Microsoft Sans Serif"/>
                <a:cs typeface="Microsoft Sans Serif"/>
              </a:rPr>
              <a:t>Pakaian</a:t>
            </a:r>
            <a:r>
              <a:rPr sz="10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 Dinas.</a:t>
            </a:r>
            <a:endParaRPr sz="1000">
              <a:latin typeface="Microsoft Sans Serif"/>
              <a:cs typeface="Microsoft Sans Serif"/>
            </a:endParaRPr>
          </a:p>
          <a:p>
            <a:pPr marL="274320" marR="195580" lvl="1" indent="-78740">
              <a:lnSpc>
                <a:spcPct val="133000"/>
              </a:lnSpc>
              <a:spcBef>
                <a:spcPts val="355"/>
              </a:spcBef>
              <a:buFont typeface="Microsoft Sans Serif"/>
              <a:buChar char="•"/>
              <a:tabLst>
                <a:tab pos="275590" algn="l"/>
              </a:tabLst>
            </a:pPr>
            <a:r>
              <a:rPr sz="1000" b="1" dirty="0">
                <a:solidFill>
                  <a:srgbClr val="F7F9FB"/>
                </a:solidFill>
                <a:latin typeface="Arial"/>
                <a:cs typeface="Arial"/>
              </a:rPr>
              <a:t>Wajib</a:t>
            </a:r>
            <a:r>
              <a:rPr sz="1000" b="1" spc="-25" dirty="0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7F9FB"/>
                </a:solidFill>
                <a:latin typeface="Arial"/>
                <a:cs typeface="Arial"/>
              </a:rPr>
              <a:t>mengenakan</a:t>
            </a:r>
            <a:r>
              <a:rPr sz="1000" b="1" spc="-25" dirty="0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7F9FB"/>
                </a:solidFill>
                <a:latin typeface="Arial"/>
                <a:cs typeface="Arial"/>
              </a:rPr>
              <a:t>sepatu</a:t>
            </a:r>
            <a:r>
              <a:rPr sz="1000" b="1" spc="-25" dirty="0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F7F9FB"/>
                </a:solidFill>
                <a:latin typeface="Microsoft Sans Serif"/>
                <a:cs typeface="Microsoft Sans Serif"/>
              </a:rPr>
              <a:t>(sepatu</a:t>
            </a:r>
            <a:r>
              <a:rPr sz="10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 olahraga, 	</a:t>
            </a:r>
            <a:r>
              <a:rPr sz="1000" dirty="0">
                <a:solidFill>
                  <a:srgbClr val="F7F9FB"/>
                </a:solidFill>
                <a:latin typeface="Microsoft Sans Serif"/>
                <a:cs typeface="Microsoft Sans Serif"/>
              </a:rPr>
              <a:t>tactical, atau dinas). </a:t>
            </a:r>
            <a:r>
              <a:rPr sz="1000" i="1" dirty="0">
                <a:solidFill>
                  <a:srgbClr val="F7F9FB"/>
                </a:solidFill>
                <a:latin typeface="Arial"/>
                <a:cs typeface="Arial"/>
              </a:rPr>
              <a:t>Dilarang</a:t>
            </a:r>
            <a:r>
              <a:rPr sz="1000" i="1" spc="-10" dirty="0">
                <a:solidFill>
                  <a:srgbClr val="F7F9FB"/>
                </a:solidFill>
                <a:latin typeface="Arial"/>
                <a:cs typeface="Arial"/>
              </a:rPr>
              <a:t> menggunakan 	sandal.</a:t>
            </a:r>
            <a:endParaRPr sz="1000">
              <a:latin typeface="Arial"/>
              <a:cs typeface="Arial"/>
            </a:endParaRPr>
          </a:p>
          <a:p>
            <a:pPr marL="274320" marR="421640" lvl="1" indent="-78740">
              <a:lnSpc>
                <a:spcPct val="125000"/>
              </a:lnSpc>
              <a:spcBef>
                <a:spcPts val="450"/>
              </a:spcBef>
              <a:buChar char="•"/>
              <a:tabLst>
                <a:tab pos="275590" algn="l"/>
              </a:tabLst>
            </a:pPr>
            <a:r>
              <a:rPr sz="1000" dirty="0">
                <a:solidFill>
                  <a:srgbClr val="F7F9FB"/>
                </a:solidFill>
                <a:latin typeface="Microsoft Sans Serif"/>
                <a:cs typeface="Microsoft Sans Serif"/>
              </a:rPr>
              <a:t>Diperbolehkan</a:t>
            </a:r>
            <a:r>
              <a:rPr sz="1000" spc="1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7F9FB"/>
                </a:solidFill>
                <a:latin typeface="Microsoft Sans Serif"/>
                <a:cs typeface="Microsoft Sans Serif"/>
              </a:rPr>
              <a:t>menggunakan</a:t>
            </a:r>
            <a:r>
              <a:rPr sz="1000" spc="1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7F9FB"/>
                </a:solidFill>
                <a:latin typeface="Microsoft Sans Serif"/>
                <a:cs typeface="Microsoft Sans Serif"/>
              </a:rPr>
              <a:t>tutup</a:t>
            </a:r>
            <a:r>
              <a:rPr sz="1000" spc="1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kepala 	</a:t>
            </a:r>
            <a:r>
              <a:rPr sz="1000" dirty="0">
                <a:solidFill>
                  <a:srgbClr val="F7F9FB"/>
                </a:solidFill>
                <a:latin typeface="Microsoft Sans Serif"/>
                <a:cs typeface="Microsoft Sans Serif"/>
              </a:rPr>
              <a:t>(tidak</a:t>
            </a:r>
            <a:r>
              <a:rPr sz="10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 wajib).</a:t>
            </a:r>
            <a:endParaRPr sz="1000">
              <a:latin typeface="Microsoft Sans Serif"/>
              <a:cs typeface="Microsoft Sans Serif"/>
            </a:endParaRPr>
          </a:p>
          <a:p>
            <a:pPr marL="274320" marR="299720" lvl="1" indent="-78740">
              <a:lnSpc>
                <a:spcPct val="125000"/>
              </a:lnSpc>
              <a:spcBef>
                <a:spcPts val="450"/>
              </a:spcBef>
              <a:buChar char="•"/>
              <a:tabLst>
                <a:tab pos="275590" algn="l"/>
              </a:tabLst>
            </a:pPr>
            <a:r>
              <a:rPr sz="1000" dirty="0">
                <a:solidFill>
                  <a:srgbClr val="F7F9FB"/>
                </a:solidFill>
                <a:latin typeface="Microsoft Sans Serif"/>
                <a:cs typeface="Microsoft Sans Serif"/>
              </a:rPr>
              <a:t>Diperbolehkan</a:t>
            </a:r>
            <a:r>
              <a:rPr sz="1000" spc="1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7F9FB"/>
                </a:solidFill>
                <a:latin typeface="Microsoft Sans Serif"/>
                <a:cs typeface="Microsoft Sans Serif"/>
              </a:rPr>
              <a:t>menggunakan</a:t>
            </a:r>
            <a:r>
              <a:rPr sz="1000" spc="1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7F9FB"/>
                </a:solidFill>
                <a:latin typeface="Microsoft Sans Serif"/>
                <a:cs typeface="Microsoft Sans Serif"/>
              </a:rPr>
              <a:t>sarung</a:t>
            </a:r>
            <a:r>
              <a:rPr sz="1000" spc="1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tangan 	</a:t>
            </a:r>
            <a:r>
              <a:rPr sz="1000" dirty="0">
                <a:solidFill>
                  <a:srgbClr val="F7F9FB"/>
                </a:solidFill>
                <a:latin typeface="Microsoft Sans Serif"/>
                <a:cs typeface="Microsoft Sans Serif"/>
              </a:rPr>
              <a:t>(tidak</a:t>
            </a:r>
            <a:r>
              <a:rPr sz="10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 wajib).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818100" y="1346400"/>
            <a:ext cx="3164205" cy="2047875"/>
            <a:chOff x="3818100" y="1346400"/>
            <a:chExt cx="3164205" cy="2047875"/>
          </a:xfrm>
        </p:grpSpPr>
        <p:sp>
          <p:nvSpPr>
            <p:cNvPr id="13" name="object 13"/>
            <p:cNvSpPr/>
            <p:nvPr/>
          </p:nvSpPr>
          <p:spPr>
            <a:xfrm>
              <a:off x="3818100" y="1346400"/>
              <a:ext cx="3164205" cy="2047875"/>
            </a:xfrm>
            <a:custGeom>
              <a:avLst/>
              <a:gdLst/>
              <a:ahLst/>
              <a:cxnLst/>
              <a:rect l="l" t="t" r="r" b="b"/>
              <a:pathLst>
                <a:path w="3164204" h="2047875">
                  <a:moveTo>
                    <a:pt x="3087600" y="2047875"/>
                  </a:moveTo>
                  <a:lnTo>
                    <a:pt x="76200" y="2047875"/>
                  </a:lnTo>
                  <a:lnTo>
                    <a:pt x="46612" y="2041862"/>
                  </a:lnTo>
                  <a:lnTo>
                    <a:pt x="22383" y="2025491"/>
                  </a:lnTo>
                  <a:lnTo>
                    <a:pt x="6012" y="2001262"/>
                  </a:lnTo>
                  <a:lnTo>
                    <a:pt x="0" y="1971675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3087600" y="0"/>
                  </a:lnTo>
                  <a:lnTo>
                    <a:pt x="3117187" y="6012"/>
                  </a:lnTo>
                  <a:lnTo>
                    <a:pt x="3141416" y="22383"/>
                  </a:lnTo>
                  <a:lnTo>
                    <a:pt x="3157787" y="46612"/>
                  </a:lnTo>
                  <a:lnTo>
                    <a:pt x="3163800" y="76200"/>
                  </a:lnTo>
                  <a:lnTo>
                    <a:pt x="3163800" y="1971675"/>
                  </a:lnTo>
                  <a:lnTo>
                    <a:pt x="3157787" y="2001262"/>
                  </a:lnTo>
                  <a:lnTo>
                    <a:pt x="3141416" y="2025491"/>
                  </a:lnTo>
                  <a:lnTo>
                    <a:pt x="3117187" y="2041862"/>
                  </a:lnTo>
                  <a:lnTo>
                    <a:pt x="3087600" y="2047875"/>
                  </a:lnTo>
                  <a:close/>
                </a:path>
              </a:pathLst>
            </a:custGeom>
            <a:solidFill>
              <a:srgbClr val="1D28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18090" y="1368789"/>
              <a:ext cx="3164205" cy="2025650"/>
            </a:xfrm>
            <a:custGeom>
              <a:avLst/>
              <a:gdLst/>
              <a:ahLst/>
              <a:cxnLst/>
              <a:rect l="l" t="t" r="r" b="b"/>
              <a:pathLst>
                <a:path w="3164204" h="2025650">
                  <a:moveTo>
                    <a:pt x="3163798" y="53822"/>
                  </a:moveTo>
                  <a:lnTo>
                    <a:pt x="3157791" y="24231"/>
                  </a:lnTo>
                  <a:lnTo>
                    <a:pt x="3141421" y="0"/>
                  </a:lnTo>
                  <a:lnTo>
                    <a:pt x="3125622" y="15798"/>
                  </a:lnTo>
                  <a:lnTo>
                    <a:pt x="3134690" y="20180"/>
                  </a:lnTo>
                  <a:lnTo>
                    <a:pt x="3149015" y="35318"/>
                  </a:lnTo>
                  <a:lnTo>
                    <a:pt x="3154273" y="53822"/>
                  </a:lnTo>
                  <a:lnTo>
                    <a:pt x="3154273" y="1949297"/>
                  </a:lnTo>
                  <a:lnTo>
                    <a:pt x="3149015" y="1975180"/>
                  </a:lnTo>
                  <a:lnTo>
                    <a:pt x="3134690" y="1996376"/>
                  </a:lnTo>
                  <a:lnTo>
                    <a:pt x="3113494" y="2010702"/>
                  </a:lnTo>
                  <a:lnTo>
                    <a:pt x="3087598" y="2015972"/>
                  </a:lnTo>
                  <a:lnTo>
                    <a:pt x="76200" y="2015972"/>
                  </a:lnTo>
                  <a:lnTo>
                    <a:pt x="50317" y="2010702"/>
                  </a:lnTo>
                  <a:lnTo>
                    <a:pt x="29121" y="1996376"/>
                  </a:lnTo>
                  <a:lnTo>
                    <a:pt x="14795" y="1975180"/>
                  </a:lnTo>
                  <a:lnTo>
                    <a:pt x="9525" y="1949297"/>
                  </a:lnTo>
                  <a:lnTo>
                    <a:pt x="9525" y="53822"/>
                  </a:lnTo>
                  <a:lnTo>
                    <a:pt x="14795" y="35318"/>
                  </a:lnTo>
                  <a:lnTo>
                    <a:pt x="29121" y="20180"/>
                  </a:lnTo>
                  <a:lnTo>
                    <a:pt x="38188" y="15798"/>
                  </a:lnTo>
                  <a:lnTo>
                    <a:pt x="22390" y="0"/>
                  </a:lnTo>
                  <a:lnTo>
                    <a:pt x="6019" y="24231"/>
                  </a:lnTo>
                  <a:lnTo>
                    <a:pt x="0" y="53822"/>
                  </a:lnTo>
                  <a:lnTo>
                    <a:pt x="0" y="1949297"/>
                  </a:lnTo>
                  <a:lnTo>
                    <a:pt x="6019" y="1978875"/>
                  </a:lnTo>
                  <a:lnTo>
                    <a:pt x="22390" y="2003107"/>
                  </a:lnTo>
                  <a:lnTo>
                    <a:pt x="46621" y="2019477"/>
                  </a:lnTo>
                  <a:lnTo>
                    <a:pt x="76200" y="2025497"/>
                  </a:lnTo>
                  <a:lnTo>
                    <a:pt x="3087598" y="2025497"/>
                  </a:lnTo>
                  <a:lnTo>
                    <a:pt x="3141421" y="2003107"/>
                  </a:lnTo>
                  <a:lnTo>
                    <a:pt x="3163798" y="1949297"/>
                  </a:lnTo>
                  <a:lnTo>
                    <a:pt x="3163798" y="53822"/>
                  </a:lnTo>
                  <a:close/>
                </a:path>
              </a:pathLst>
            </a:custGeom>
            <a:solidFill>
              <a:srgbClr val="334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40484" y="1346400"/>
              <a:ext cx="3119120" cy="38735"/>
            </a:xfrm>
            <a:custGeom>
              <a:avLst/>
              <a:gdLst/>
              <a:ahLst/>
              <a:cxnLst/>
              <a:rect l="l" t="t" r="r" b="b"/>
              <a:pathLst>
                <a:path w="3119120" h="38734">
                  <a:moveTo>
                    <a:pt x="15801" y="38185"/>
                  </a:moveTo>
                  <a:lnTo>
                    <a:pt x="0" y="22383"/>
                  </a:lnTo>
                  <a:lnTo>
                    <a:pt x="24229" y="6012"/>
                  </a:lnTo>
                  <a:lnTo>
                    <a:pt x="53816" y="0"/>
                  </a:lnTo>
                  <a:lnTo>
                    <a:pt x="3065216" y="0"/>
                  </a:lnTo>
                  <a:lnTo>
                    <a:pt x="3094803" y="6012"/>
                  </a:lnTo>
                  <a:lnTo>
                    <a:pt x="3119032" y="22383"/>
                  </a:lnTo>
                  <a:lnTo>
                    <a:pt x="3112841" y="28575"/>
                  </a:lnTo>
                  <a:lnTo>
                    <a:pt x="53816" y="28575"/>
                  </a:lnTo>
                  <a:lnTo>
                    <a:pt x="27927" y="32332"/>
                  </a:lnTo>
                  <a:lnTo>
                    <a:pt x="15801" y="38185"/>
                  </a:lnTo>
                  <a:close/>
                </a:path>
                <a:path w="3119120" h="38734">
                  <a:moveTo>
                    <a:pt x="3103231" y="38185"/>
                  </a:moveTo>
                  <a:lnTo>
                    <a:pt x="3091105" y="32332"/>
                  </a:lnTo>
                  <a:lnTo>
                    <a:pt x="3065216" y="28575"/>
                  </a:lnTo>
                  <a:lnTo>
                    <a:pt x="3112841" y="28575"/>
                  </a:lnTo>
                  <a:lnTo>
                    <a:pt x="3103231" y="38185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960975" y="1775025"/>
              <a:ext cx="2878455" cy="9525"/>
            </a:xfrm>
            <a:custGeom>
              <a:avLst/>
              <a:gdLst/>
              <a:ahLst/>
              <a:cxnLst/>
              <a:rect l="l" t="t" r="r" b="b"/>
              <a:pathLst>
                <a:path w="2878454" h="9525">
                  <a:moveTo>
                    <a:pt x="2878050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2878050" y="0"/>
                  </a:lnTo>
                  <a:lnTo>
                    <a:pt x="2878050" y="9525"/>
                  </a:lnTo>
                  <a:close/>
                </a:path>
              </a:pathLst>
            </a:custGeom>
            <a:solidFill>
              <a:srgbClr val="334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856285" y="1492693"/>
            <a:ext cx="3088005" cy="1673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7810" indent="-153670">
              <a:lnSpc>
                <a:spcPct val="100000"/>
              </a:lnSpc>
              <a:spcBef>
                <a:spcPts val="100"/>
              </a:spcBef>
              <a:buAutoNum type="arabicPeriod" startAt="3"/>
              <a:tabLst>
                <a:tab pos="257810" algn="l"/>
              </a:tabLst>
            </a:pPr>
            <a:r>
              <a:rPr sz="1100" spc="-10" dirty="0">
                <a:solidFill>
                  <a:srgbClr val="F49E0A"/>
                </a:solidFill>
                <a:latin typeface="Microsoft Sans Serif"/>
                <a:cs typeface="Microsoft Sans Serif"/>
              </a:rPr>
              <a:t>SPESIFIKASI</a:t>
            </a:r>
            <a:r>
              <a:rPr sz="1100" spc="5" dirty="0">
                <a:solidFill>
                  <a:srgbClr val="F49E0A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F49E0A"/>
                </a:solidFill>
                <a:latin typeface="Microsoft Sans Serif"/>
                <a:cs typeface="Microsoft Sans Serif"/>
              </a:rPr>
              <a:t>PERSENJATAAN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Clr>
                <a:srgbClr val="F49E0A"/>
              </a:buClr>
              <a:buFont typeface="Microsoft Sans Serif"/>
              <a:buAutoNum type="arabicPeriod" startAt="3"/>
            </a:pPr>
            <a:endParaRPr sz="1100">
              <a:latin typeface="Microsoft Sans Serif"/>
              <a:cs typeface="Microsoft Sans Serif"/>
            </a:endParaRPr>
          </a:p>
          <a:p>
            <a:pPr marL="274320" marR="238760" lvl="1" indent="-78740">
              <a:lnSpc>
                <a:spcPct val="125000"/>
              </a:lnSpc>
              <a:buChar char="•"/>
              <a:tabLst>
                <a:tab pos="275590" algn="l"/>
              </a:tabLst>
            </a:pPr>
            <a:r>
              <a:rPr sz="1000" dirty="0">
                <a:solidFill>
                  <a:srgbClr val="F7F9FB"/>
                </a:solidFill>
                <a:latin typeface="Microsoft Sans Serif"/>
                <a:cs typeface="Microsoft Sans Serif"/>
              </a:rPr>
              <a:t>Menggunakan</a:t>
            </a:r>
            <a:r>
              <a:rPr sz="1000" spc="-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000" b="1" dirty="0">
                <a:solidFill>
                  <a:srgbClr val="F7F9FB"/>
                </a:solidFill>
                <a:latin typeface="Arial"/>
                <a:cs typeface="Arial"/>
              </a:rPr>
              <a:t>Pistol</a:t>
            </a:r>
            <a:r>
              <a:rPr sz="1000" b="1" spc="-15" dirty="0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7F9FB"/>
                </a:solidFill>
                <a:latin typeface="Arial"/>
                <a:cs typeface="Arial"/>
              </a:rPr>
              <a:t>Dinas</a:t>
            </a:r>
            <a:r>
              <a:rPr sz="1000" b="1" spc="-15" dirty="0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7F9FB"/>
                </a:solidFill>
                <a:latin typeface="Arial"/>
                <a:cs typeface="Arial"/>
              </a:rPr>
              <a:t>Organik</a:t>
            </a:r>
            <a:r>
              <a:rPr sz="1000" b="1" spc="-20" dirty="0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masing-	</a:t>
            </a:r>
            <a:r>
              <a:rPr sz="1000" dirty="0">
                <a:solidFill>
                  <a:srgbClr val="F7F9FB"/>
                </a:solidFill>
                <a:latin typeface="Microsoft Sans Serif"/>
                <a:cs typeface="Microsoft Sans Serif"/>
              </a:rPr>
              <a:t>masing</a:t>
            </a:r>
            <a:r>
              <a:rPr sz="1000" spc="1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satuan.</a:t>
            </a:r>
            <a:endParaRPr sz="1000">
              <a:latin typeface="Microsoft Sans Serif"/>
              <a:cs typeface="Microsoft Sans Serif"/>
            </a:endParaRPr>
          </a:p>
          <a:p>
            <a:pPr marL="274955" lvl="1" indent="-78740">
              <a:lnSpc>
                <a:spcPct val="100000"/>
              </a:lnSpc>
              <a:spcBef>
                <a:spcPts val="750"/>
              </a:spcBef>
              <a:buChar char="•"/>
              <a:tabLst>
                <a:tab pos="274955" algn="l"/>
              </a:tabLst>
            </a:pPr>
            <a:r>
              <a:rPr sz="1000" dirty="0">
                <a:solidFill>
                  <a:srgbClr val="F7F9FB"/>
                </a:solidFill>
                <a:latin typeface="Microsoft Sans Serif"/>
                <a:cs typeface="Microsoft Sans Serif"/>
              </a:rPr>
              <a:t>Menggunakan</a:t>
            </a:r>
            <a:r>
              <a:rPr sz="1000" spc="1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7F9FB"/>
                </a:solidFill>
                <a:latin typeface="Microsoft Sans Serif"/>
                <a:cs typeface="Microsoft Sans Serif"/>
              </a:rPr>
              <a:t>amunisi</a:t>
            </a:r>
            <a:r>
              <a:rPr sz="1000" spc="1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7F9FB"/>
                </a:solidFill>
                <a:latin typeface="Microsoft Sans Serif"/>
                <a:cs typeface="Microsoft Sans Serif"/>
              </a:rPr>
              <a:t>kaliber</a:t>
            </a:r>
            <a:r>
              <a:rPr sz="1000" spc="1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000" b="1" dirty="0">
                <a:solidFill>
                  <a:srgbClr val="F7F9FB"/>
                </a:solidFill>
                <a:latin typeface="Arial"/>
                <a:cs typeface="Arial"/>
              </a:rPr>
              <a:t>9</a:t>
            </a:r>
            <a:r>
              <a:rPr sz="1000" b="1" spc="5" dirty="0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7F9FB"/>
                </a:solidFill>
                <a:latin typeface="Arial"/>
                <a:cs typeface="Arial"/>
              </a:rPr>
              <a:t>x</a:t>
            </a:r>
            <a:r>
              <a:rPr sz="1000" b="1" spc="5" dirty="0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7F9FB"/>
                </a:solidFill>
                <a:latin typeface="Arial"/>
                <a:cs typeface="Arial"/>
              </a:rPr>
              <a:t>19 </a:t>
            </a:r>
            <a:r>
              <a:rPr sz="1000" b="1" spc="-25" dirty="0">
                <a:solidFill>
                  <a:srgbClr val="F7F9FB"/>
                </a:solidFill>
                <a:latin typeface="Arial"/>
                <a:cs typeface="Arial"/>
              </a:rPr>
              <a:t>mm</a:t>
            </a:r>
            <a:r>
              <a:rPr sz="1000" spc="-25" dirty="0">
                <a:solidFill>
                  <a:srgbClr val="F7F9FB"/>
                </a:solidFill>
                <a:latin typeface="Microsoft Sans Serif"/>
                <a:cs typeface="Microsoft Sans Serif"/>
              </a:rPr>
              <a:t>.</a:t>
            </a:r>
            <a:endParaRPr sz="1000">
              <a:latin typeface="Microsoft Sans Serif"/>
              <a:cs typeface="Microsoft Sans Serif"/>
            </a:endParaRPr>
          </a:p>
          <a:p>
            <a:pPr marL="274320" marR="353695" lvl="1" indent="-78740">
              <a:lnSpc>
                <a:spcPct val="125000"/>
              </a:lnSpc>
              <a:spcBef>
                <a:spcPts val="450"/>
              </a:spcBef>
              <a:buChar char="•"/>
              <a:tabLst>
                <a:tab pos="275590" algn="l"/>
              </a:tabLst>
            </a:pPr>
            <a:r>
              <a:rPr sz="1000" dirty="0">
                <a:solidFill>
                  <a:srgbClr val="F7F9FB"/>
                </a:solidFill>
                <a:latin typeface="Microsoft Sans Serif"/>
                <a:cs typeface="Microsoft Sans Serif"/>
              </a:rPr>
              <a:t>Menggunakan</a:t>
            </a:r>
            <a:r>
              <a:rPr sz="1000" spc="1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7F9FB"/>
                </a:solidFill>
                <a:latin typeface="Microsoft Sans Serif"/>
                <a:cs typeface="Microsoft Sans Serif"/>
              </a:rPr>
              <a:t>alat</a:t>
            </a:r>
            <a:r>
              <a:rPr sz="1000" spc="1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7F9FB"/>
                </a:solidFill>
                <a:latin typeface="Microsoft Sans Serif"/>
                <a:cs typeface="Microsoft Sans Serif"/>
              </a:rPr>
              <a:t>bidik</a:t>
            </a:r>
            <a:r>
              <a:rPr sz="1000" spc="1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7F9FB"/>
                </a:solidFill>
                <a:latin typeface="Microsoft Sans Serif"/>
                <a:cs typeface="Microsoft Sans Serif"/>
              </a:rPr>
              <a:t>standar</a:t>
            </a:r>
            <a:r>
              <a:rPr sz="1000" spc="1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000" b="1" dirty="0">
                <a:solidFill>
                  <a:srgbClr val="F7F9FB"/>
                </a:solidFill>
                <a:latin typeface="Arial"/>
                <a:cs typeface="Arial"/>
              </a:rPr>
              <a:t>Non-</a:t>
            </a:r>
            <a:r>
              <a:rPr sz="1000" b="1" spc="-20" dirty="0">
                <a:solidFill>
                  <a:srgbClr val="F7F9FB"/>
                </a:solidFill>
                <a:latin typeface="Arial"/>
                <a:cs typeface="Arial"/>
              </a:rPr>
              <a:t>Optic 	</a:t>
            </a:r>
            <a:r>
              <a:rPr sz="1000" b="1" dirty="0">
                <a:solidFill>
                  <a:srgbClr val="F7F9FB"/>
                </a:solidFill>
                <a:latin typeface="Arial"/>
                <a:cs typeface="Arial"/>
              </a:rPr>
              <a:t>(Pisir</a:t>
            </a:r>
            <a:r>
              <a:rPr sz="1000" b="1" spc="-25" dirty="0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7F9FB"/>
                </a:solidFill>
                <a:latin typeface="Arial"/>
                <a:cs typeface="Arial"/>
              </a:rPr>
              <a:t>Pijera)</a:t>
            </a:r>
            <a:r>
              <a:rPr sz="10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.</a:t>
            </a:r>
            <a:endParaRPr sz="1000">
              <a:latin typeface="Microsoft Sans Serif"/>
              <a:cs typeface="Microsoft Sans Serif"/>
            </a:endParaRPr>
          </a:p>
          <a:p>
            <a:pPr marL="274955" lvl="1" indent="-78740">
              <a:lnSpc>
                <a:spcPct val="100000"/>
              </a:lnSpc>
              <a:spcBef>
                <a:spcPts val="750"/>
              </a:spcBef>
              <a:buChar char="•"/>
              <a:tabLst>
                <a:tab pos="274955" algn="l"/>
              </a:tabLst>
            </a:pPr>
            <a:r>
              <a:rPr sz="1000" dirty="0">
                <a:solidFill>
                  <a:srgbClr val="F7F9FB"/>
                </a:solidFill>
                <a:latin typeface="Microsoft Sans Serif"/>
                <a:cs typeface="Microsoft Sans Serif"/>
              </a:rPr>
              <a:t>Panjang</a:t>
            </a:r>
            <a:r>
              <a:rPr sz="10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7F9FB"/>
                </a:solidFill>
                <a:latin typeface="Microsoft Sans Serif"/>
                <a:cs typeface="Microsoft Sans Serif"/>
              </a:rPr>
              <a:t>laras</a:t>
            </a:r>
            <a:r>
              <a:rPr sz="1000" spc="-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7F9FB"/>
                </a:solidFill>
                <a:latin typeface="Microsoft Sans Serif"/>
                <a:cs typeface="Microsoft Sans Serif"/>
              </a:rPr>
              <a:t>maksimum</a:t>
            </a:r>
            <a:r>
              <a:rPr sz="10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000" b="1" dirty="0">
                <a:solidFill>
                  <a:srgbClr val="F7F9FB"/>
                </a:solidFill>
                <a:latin typeface="Arial"/>
                <a:cs typeface="Arial"/>
              </a:rPr>
              <a:t>5</a:t>
            </a:r>
            <a:r>
              <a:rPr sz="1000" b="1" spc="-15" dirty="0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7F9FB"/>
                </a:solidFill>
                <a:latin typeface="Arial"/>
                <a:cs typeface="Arial"/>
              </a:rPr>
              <a:t>inchi</a:t>
            </a:r>
            <a:r>
              <a:rPr sz="10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.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78100" y="4133039"/>
            <a:ext cx="3164205" cy="2238375"/>
            <a:chOff x="578100" y="4133039"/>
            <a:chExt cx="3164205" cy="2238375"/>
          </a:xfrm>
        </p:grpSpPr>
        <p:sp>
          <p:nvSpPr>
            <p:cNvPr id="8" name="object 8"/>
            <p:cNvSpPr/>
            <p:nvPr/>
          </p:nvSpPr>
          <p:spPr>
            <a:xfrm>
              <a:off x="578100" y="4133039"/>
              <a:ext cx="3164205" cy="2238375"/>
            </a:xfrm>
            <a:custGeom>
              <a:avLst/>
              <a:gdLst/>
              <a:ahLst/>
              <a:cxnLst/>
              <a:rect l="l" t="t" r="r" b="b"/>
              <a:pathLst>
                <a:path w="3164204" h="2238375">
                  <a:moveTo>
                    <a:pt x="3087600" y="2238375"/>
                  </a:moveTo>
                  <a:lnTo>
                    <a:pt x="76200" y="2238375"/>
                  </a:lnTo>
                  <a:lnTo>
                    <a:pt x="46612" y="2232362"/>
                  </a:lnTo>
                  <a:lnTo>
                    <a:pt x="22383" y="2215991"/>
                  </a:lnTo>
                  <a:lnTo>
                    <a:pt x="6012" y="2191762"/>
                  </a:lnTo>
                  <a:lnTo>
                    <a:pt x="0" y="2162175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3087600" y="0"/>
                  </a:lnTo>
                  <a:lnTo>
                    <a:pt x="3117187" y="6012"/>
                  </a:lnTo>
                  <a:lnTo>
                    <a:pt x="3141416" y="22383"/>
                  </a:lnTo>
                  <a:lnTo>
                    <a:pt x="3157787" y="46612"/>
                  </a:lnTo>
                  <a:lnTo>
                    <a:pt x="3163800" y="76200"/>
                  </a:lnTo>
                  <a:lnTo>
                    <a:pt x="3163800" y="2162175"/>
                  </a:lnTo>
                  <a:lnTo>
                    <a:pt x="3157787" y="2191762"/>
                  </a:lnTo>
                  <a:lnTo>
                    <a:pt x="3141416" y="2215991"/>
                  </a:lnTo>
                  <a:lnTo>
                    <a:pt x="3117187" y="2232362"/>
                  </a:lnTo>
                  <a:lnTo>
                    <a:pt x="3087600" y="2238375"/>
                  </a:lnTo>
                  <a:close/>
                </a:path>
              </a:pathLst>
            </a:custGeom>
            <a:solidFill>
              <a:srgbClr val="1D28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8091" y="4155423"/>
              <a:ext cx="3164205" cy="2216150"/>
            </a:xfrm>
            <a:custGeom>
              <a:avLst/>
              <a:gdLst/>
              <a:ahLst/>
              <a:cxnLst/>
              <a:rect l="l" t="t" r="r" b="b"/>
              <a:pathLst>
                <a:path w="3164204" h="2216150">
                  <a:moveTo>
                    <a:pt x="3163798" y="53822"/>
                  </a:moveTo>
                  <a:lnTo>
                    <a:pt x="3157791" y="24231"/>
                  </a:lnTo>
                  <a:lnTo>
                    <a:pt x="3141421" y="0"/>
                  </a:lnTo>
                  <a:lnTo>
                    <a:pt x="3125622" y="15811"/>
                  </a:lnTo>
                  <a:lnTo>
                    <a:pt x="3134690" y="20180"/>
                  </a:lnTo>
                  <a:lnTo>
                    <a:pt x="3149015" y="35331"/>
                  </a:lnTo>
                  <a:lnTo>
                    <a:pt x="3154273" y="53822"/>
                  </a:lnTo>
                  <a:lnTo>
                    <a:pt x="3154273" y="2139797"/>
                  </a:lnTo>
                  <a:lnTo>
                    <a:pt x="3149015" y="2165680"/>
                  </a:lnTo>
                  <a:lnTo>
                    <a:pt x="3134690" y="2186889"/>
                  </a:lnTo>
                  <a:lnTo>
                    <a:pt x="3113494" y="2201214"/>
                  </a:lnTo>
                  <a:lnTo>
                    <a:pt x="3087598" y="2206472"/>
                  </a:lnTo>
                  <a:lnTo>
                    <a:pt x="76200" y="2206472"/>
                  </a:lnTo>
                  <a:lnTo>
                    <a:pt x="50317" y="2201214"/>
                  </a:lnTo>
                  <a:lnTo>
                    <a:pt x="29108" y="2186889"/>
                  </a:lnTo>
                  <a:lnTo>
                    <a:pt x="14782" y="2165680"/>
                  </a:lnTo>
                  <a:lnTo>
                    <a:pt x="9525" y="2139797"/>
                  </a:lnTo>
                  <a:lnTo>
                    <a:pt x="9525" y="53822"/>
                  </a:lnTo>
                  <a:lnTo>
                    <a:pt x="14782" y="35331"/>
                  </a:lnTo>
                  <a:lnTo>
                    <a:pt x="29108" y="20180"/>
                  </a:lnTo>
                  <a:lnTo>
                    <a:pt x="38188" y="15811"/>
                  </a:lnTo>
                  <a:lnTo>
                    <a:pt x="22390" y="0"/>
                  </a:lnTo>
                  <a:lnTo>
                    <a:pt x="6019" y="24231"/>
                  </a:lnTo>
                  <a:lnTo>
                    <a:pt x="0" y="53822"/>
                  </a:lnTo>
                  <a:lnTo>
                    <a:pt x="0" y="2139797"/>
                  </a:lnTo>
                  <a:lnTo>
                    <a:pt x="6019" y="2169388"/>
                  </a:lnTo>
                  <a:lnTo>
                    <a:pt x="22390" y="2193607"/>
                  </a:lnTo>
                  <a:lnTo>
                    <a:pt x="46621" y="2209990"/>
                  </a:lnTo>
                  <a:lnTo>
                    <a:pt x="76200" y="2215997"/>
                  </a:lnTo>
                  <a:lnTo>
                    <a:pt x="3087598" y="2215997"/>
                  </a:lnTo>
                  <a:lnTo>
                    <a:pt x="3117189" y="2209990"/>
                  </a:lnTo>
                  <a:lnTo>
                    <a:pt x="3122384" y="2206472"/>
                  </a:lnTo>
                  <a:lnTo>
                    <a:pt x="3141421" y="2193607"/>
                  </a:lnTo>
                  <a:lnTo>
                    <a:pt x="3157791" y="2169388"/>
                  </a:lnTo>
                  <a:lnTo>
                    <a:pt x="3163798" y="2139797"/>
                  </a:lnTo>
                  <a:lnTo>
                    <a:pt x="3163798" y="53822"/>
                  </a:lnTo>
                  <a:close/>
                </a:path>
              </a:pathLst>
            </a:custGeom>
            <a:solidFill>
              <a:srgbClr val="334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00483" y="4133039"/>
              <a:ext cx="3119120" cy="38735"/>
            </a:xfrm>
            <a:custGeom>
              <a:avLst/>
              <a:gdLst/>
              <a:ahLst/>
              <a:cxnLst/>
              <a:rect l="l" t="t" r="r" b="b"/>
              <a:pathLst>
                <a:path w="3119120" h="38735">
                  <a:moveTo>
                    <a:pt x="15801" y="38185"/>
                  </a:moveTo>
                  <a:lnTo>
                    <a:pt x="0" y="22383"/>
                  </a:lnTo>
                  <a:lnTo>
                    <a:pt x="24229" y="6012"/>
                  </a:lnTo>
                  <a:lnTo>
                    <a:pt x="53816" y="0"/>
                  </a:lnTo>
                  <a:lnTo>
                    <a:pt x="3065216" y="0"/>
                  </a:lnTo>
                  <a:lnTo>
                    <a:pt x="3094803" y="6012"/>
                  </a:lnTo>
                  <a:lnTo>
                    <a:pt x="3119032" y="22383"/>
                  </a:lnTo>
                  <a:lnTo>
                    <a:pt x="3112841" y="28575"/>
                  </a:lnTo>
                  <a:lnTo>
                    <a:pt x="53816" y="28575"/>
                  </a:lnTo>
                  <a:lnTo>
                    <a:pt x="27927" y="32332"/>
                  </a:lnTo>
                  <a:lnTo>
                    <a:pt x="15801" y="38185"/>
                  </a:lnTo>
                  <a:close/>
                </a:path>
                <a:path w="3119120" h="38735">
                  <a:moveTo>
                    <a:pt x="3103231" y="38185"/>
                  </a:moveTo>
                  <a:lnTo>
                    <a:pt x="3091105" y="32332"/>
                  </a:lnTo>
                  <a:lnTo>
                    <a:pt x="3065216" y="28575"/>
                  </a:lnTo>
                  <a:lnTo>
                    <a:pt x="3112841" y="28575"/>
                  </a:lnTo>
                  <a:lnTo>
                    <a:pt x="3103231" y="38185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0975" y="4561664"/>
              <a:ext cx="2878455" cy="9525"/>
            </a:xfrm>
            <a:custGeom>
              <a:avLst/>
              <a:gdLst/>
              <a:ahLst/>
              <a:cxnLst/>
              <a:rect l="l" t="t" r="r" b="b"/>
              <a:pathLst>
                <a:path w="2878454" h="9525">
                  <a:moveTo>
                    <a:pt x="2878050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2878050" y="0"/>
                  </a:lnTo>
                  <a:lnTo>
                    <a:pt x="2878050" y="9525"/>
                  </a:lnTo>
                  <a:close/>
                </a:path>
              </a:pathLst>
            </a:custGeom>
            <a:solidFill>
              <a:srgbClr val="334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3818100" y="3537150"/>
            <a:ext cx="3164205" cy="3126105"/>
            <a:chOff x="3818100" y="3537150"/>
            <a:chExt cx="3164205" cy="3126105"/>
          </a:xfrm>
        </p:grpSpPr>
        <p:sp>
          <p:nvSpPr>
            <p:cNvPr id="18" name="object 18"/>
            <p:cNvSpPr/>
            <p:nvPr/>
          </p:nvSpPr>
          <p:spPr>
            <a:xfrm>
              <a:off x="3818100" y="3537150"/>
              <a:ext cx="3164205" cy="3126105"/>
            </a:xfrm>
            <a:custGeom>
              <a:avLst/>
              <a:gdLst/>
              <a:ahLst/>
              <a:cxnLst/>
              <a:rect l="l" t="t" r="r" b="b"/>
              <a:pathLst>
                <a:path w="3164204" h="3126104">
                  <a:moveTo>
                    <a:pt x="3087600" y="3125883"/>
                  </a:moveTo>
                  <a:lnTo>
                    <a:pt x="76200" y="3125883"/>
                  </a:lnTo>
                  <a:lnTo>
                    <a:pt x="46612" y="3119871"/>
                  </a:lnTo>
                  <a:lnTo>
                    <a:pt x="22383" y="3103499"/>
                  </a:lnTo>
                  <a:lnTo>
                    <a:pt x="6012" y="3079270"/>
                  </a:lnTo>
                  <a:lnTo>
                    <a:pt x="0" y="3049683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3087600" y="0"/>
                  </a:lnTo>
                  <a:lnTo>
                    <a:pt x="3117187" y="6012"/>
                  </a:lnTo>
                  <a:lnTo>
                    <a:pt x="3141416" y="22383"/>
                  </a:lnTo>
                  <a:lnTo>
                    <a:pt x="3157787" y="46612"/>
                  </a:lnTo>
                  <a:lnTo>
                    <a:pt x="3163800" y="76200"/>
                  </a:lnTo>
                  <a:lnTo>
                    <a:pt x="3163800" y="3049683"/>
                  </a:lnTo>
                  <a:lnTo>
                    <a:pt x="3157787" y="3079270"/>
                  </a:lnTo>
                  <a:lnTo>
                    <a:pt x="3141416" y="3103499"/>
                  </a:lnTo>
                  <a:lnTo>
                    <a:pt x="3117187" y="3119871"/>
                  </a:lnTo>
                  <a:lnTo>
                    <a:pt x="3087600" y="3125883"/>
                  </a:lnTo>
                  <a:close/>
                </a:path>
              </a:pathLst>
            </a:custGeom>
            <a:solidFill>
              <a:srgbClr val="1D28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18090" y="3537150"/>
              <a:ext cx="3164205" cy="3126105"/>
            </a:xfrm>
            <a:custGeom>
              <a:avLst/>
              <a:gdLst/>
              <a:ahLst/>
              <a:cxnLst/>
              <a:rect l="l" t="t" r="r" b="b"/>
              <a:pathLst>
                <a:path w="3164204" h="3126104">
                  <a:moveTo>
                    <a:pt x="3020923" y="409587"/>
                  </a:moveTo>
                  <a:lnTo>
                    <a:pt x="142875" y="409587"/>
                  </a:lnTo>
                  <a:lnTo>
                    <a:pt x="142875" y="419112"/>
                  </a:lnTo>
                  <a:lnTo>
                    <a:pt x="3020923" y="419112"/>
                  </a:lnTo>
                  <a:lnTo>
                    <a:pt x="3020923" y="409587"/>
                  </a:lnTo>
                  <a:close/>
                </a:path>
                <a:path w="3164204" h="3126104">
                  <a:moveTo>
                    <a:pt x="3163798" y="76200"/>
                  </a:moveTo>
                  <a:lnTo>
                    <a:pt x="3157791" y="46621"/>
                  </a:lnTo>
                  <a:lnTo>
                    <a:pt x="3154273" y="41414"/>
                  </a:lnTo>
                  <a:lnTo>
                    <a:pt x="3154273" y="76200"/>
                  </a:lnTo>
                  <a:lnTo>
                    <a:pt x="3154273" y="3049689"/>
                  </a:lnTo>
                  <a:lnTo>
                    <a:pt x="3149015" y="3075584"/>
                  </a:lnTo>
                  <a:lnTo>
                    <a:pt x="3134690" y="3096780"/>
                  </a:lnTo>
                  <a:lnTo>
                    <a:pt x="3113494" y="3111106"/>
                  </a:lnTo>
                  <a:lnTo>
                    <a:pt x="3087598" y="3116364"/>
                  </a:lnTo>
                  <a:lnTo>
                    <a:pt x="76200" y="3116364"/>
                  </a:lnTo>
                  <a:lnTo>
                    <a:pt x="50317" y="3111106"/>
                  </a:lnTo>
                  <a:lnTo>
                    <a:pt x="29108" y="3096780"/>
                  </a:lnTo>
                  <a:lnTo>
                    <a:pt x="14795" y="3075584"/>
                  </a:lnTo>
                  <a:lnTo>
                    <a:pt x="9525" y="3049689"/>
                  </a:lnTo>
                  <a:lnTo>
                    <a:pt x="9525" y="76200"/>
                  </a:lnTo>
                  <a:lnTo>
                    <a:pt x="14795" y="50317"/>
                  </a:lnTo>
                  <a:lnTo>
                    <a:pt x="29108" y="29121"/>
                  </a:lnTo>
                  <a:lnTo>
                    <a:pt x="50317" y="14795"/>
                  </a:lnTo>
                  <a:lnTo>
                    <a:pt x="76200" y="9525"/>
                  </a:lnTo>
                  <a:lnTo>
                    <a:pt x="3087598" y="9525"/>
                  </a:lnTo>
                  <a:lnTo>
                    <a:pt x="3113494" y="14795"/>
                  </a:lnTo>
                  <a:lnTo>
                    <a:pt x="3134690" y="29121"/>
                  </a:lnTo>
                  <a:lnTo>
                    <a:pt x="3149015" y="50317"/>
                  </a:lnTo>
                  <a:lnTo>
                    <a:pt x="3154273" y="76200"/>
                  </a:lnTo>
                  <a:lnTo>
                    <a:pt x="3154273" y="41414"/>
                  </a:lnTo>
                  <a:lnTo>
                    <a:pt x="3141421" y="22390"/>
                  </a:lnTo>
                  <a:lnTo>
                    <a:pt x="3122384" y="9525"/>
                  </a:lnTo>
                  <a:lnTo>
                    <a:pt x="3117189" y="6019"/>
                  </a:lnTo>
                  <a:lnTo>
                    <a:pt x="3087598" y="0"/>
                  </a:lnTo>
                  <a:lnTo>
                    <a:pt x="76200" y="0"/>
                  </a:lnTo>
                  <a:lnTo>
                    <a:pt x="46621" y="6019"/>
                  </a:lnTo>
                  <a:lnTo>
                    <a:pt x="22390" y="22390"/>
                  </a:lnTo>
                  <a:lnTo>
                    <a:pt x="6019" y="46621"/>
                  </a:lnTo>
                  <a:lnTo>
                    <a:pt x="0" y="76200"/>
                  </a:lnTo>
                  <a:lnTo>
                    <a:pt x="0" y="3049689"/>
                  </a:lnTo>
                  <a:lnTo>
                    <a:pt x="6019" y="3079280"/>
                  </a:lnTo>
                  <a:lnTo>
                    <a:pt x="22390" y="3103511"/>
                  </a:lnTo>
                  <a:lnTo>
                    <a:pt x="46621" y="3119882"/>
                  </a:lnTo>
                  <a:lnTo>
                    <a:pt x="76200" y="3125889"/>
                  </a:lnTo>
                  <a:lnTo>
                    <a:pt x="3087598" y="3125889"/>
                  </a:lnTo>
                  <a:lnTo>
                    <a:pt x="3117189" y="3119882"/>
                  </a:lnTo>
                  <a:lnTo>
                    <a:pt x="3122384" y="3116364"/>
                  </a:lnTo>
                  <a:lnTo>
                    <a:pt x="3141421" y="3103511"/>
                  </a:lnTo>
                  <a:lnTo>
                    <a:pt x="3157791" y="3079280"/>
                  </a:lnTo>
                  <a:lnTo>
                    <a:pt x="3163798" y="3049689"/>
                  </a:lnTo>
                  <a:lnTo>
                    <a:pt x="3163798" y="76200"/>
                  </a:lnTo>
                  <a:close/>
                </a:path>
              </a:pathLst>
            </a:custGeom>
            <a:solidFill>
              <a:srgbClr val="334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948274" y="3664393"/>
            <a:ext cx="273177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49E0A"/>
                </a:solidFill>
                <a:latin typeface="Microsoft Sans Serif"/>
                <a:cs typeface="Microsoft Sans Serif"/>
              </a:rPr>
              <a:t>4.</a:t>
            </a:r>
            <a:r>
              <a:rPr sz="1100" spc="-35" dirty="0">
                <a:solidFill>
                  <a:srgbClr val="F49E0A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F49E0A"/>
                </a:solidFill>
                <a:latin typeface="Microsoft Sans Serif"/>
                <a:cs typeface="Microsoft Sans Serif"/>
              </a:rPr>
              <a:t>ATURAN</a:t>
            </a:r>
            <a:r>
              <a:rPr sz="1100" spc="-35" dirty="0">
                <a:solidFill>
                  <a:srgbClr val="F49E0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F49E0A"/>
                </a:solidFill>
                <a:latin typeface="Microsoft Sans Serif"/>
                <a:cs typeface="Microsoft Sans Serif"/>
              </a:rPr>
              <a:t>KEAMANAN</a:t>
            </a:r>
            <a:r>
              <a:rPr sz="1100" spc="-35" dirty="0">
                <a:solidFill>
                  <a:srgbClr val="F49E0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F49E0A"/>
                </a:solidFill>
                <a:latin typeface="Microsoft Sans Serif"/>
                <a:cs typeface="Microsoft Sans Serif"/>
              </a:rPr>
              <a:t>(SAFETY</a:t>
            </a:r>
            <a:r>
              <a:rPr sz="1100" spc="-35" dirty="0">
                <a:solidFill>
                  <a:srgbClr val="F49E0A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F49E0A"/>
                </a:solidFill>
                <a:latin typeface="Microsoft Sans Serif"/>
                <a:cs typeface="Microsoft Sans Serif"/>
              </a:rPr>
              <a:t>RULES)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051933" y="4004147"/>
            <a:ext cx="2628265" cy="349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010" marR="5080" indent="-67945">
              <a:lnSpc>
                <a:spcPct val="125000"/>
              </a:lnSpc>
              <a:spcBef>
                <a:spcPts val="100"/>
              </a:spcBef>
              <a:buChar char="•"/>
              <a:tabLst>
                <a:tab pos="80010" algn="l"/>
              </a:tabLst>
            </a:pP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Wajib</a:t>
            </a:r>
            <a:r>
              <a:rPr sz="850" spc="-1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menggunakan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 pelindung telinga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&amp;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kacamata</a:t>
            </a:r>
            <a:r>
              <a:rPr sz="850" spc="-1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25" dirty="0">
                <a:solidFill>
                  <a:srgbClr val="F7F9FB"/>
                </a:solidFill>
                <a:latin typeface="Microsoft Sans Serif"/>
                <a:cs typeface="Microsoft Sans Serif"/>
              </a:rPr>
              <a:t>di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 garis</a:t>
            </a:r>
            <a:r>
              <a:rPr sz="850" spc="-3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tembak.</a:t>
            </a:r>
            <a:endParaRPr sz="850">
              <a:latin typeface="Microsoft Sans Serif"/>
              <a:cs typeface="Microsoft Sans Serif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16285" y="4279332"/>
            <a:ext cx="3088005" cy="1864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7810" indent="-153670">
              <a:lnSpc>
                <a:spcPct val="100000"/>
              </a:lnSpc>
              <a:spcBef>
                <a:spcPts val="100"/>
              </a:spcBef>
              <a:buAutoNum type="arabicPeriod" startAt="2"/>
              <a:tabLst>
                <a:tab pos="257810" algn="l"/>
              </a:tabLst>
            </a:pPr>
            <a:r>
              <a:rPr sz="1100" spc="-20" dirty="0">
                <a:solidFill>
                  <a:srgbClr val="F49E0A"/>
                </a:solidFill>
                <a:latin typeface="Microsoft Sans Serif"/>
                <a:cs typeface="Microsoft Sans Serif"/>
              </a:rPr>
              <a:t>PERLENGKAPAN</a:t>
            </a:r>
            <a:r>
              <a:rPr sz="1100" spc="40" dirty="0">
                <a:solidFill>
                  <a:srgbClr val="F49E0A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F49E0A"/>
                </a:solidFill>
                <a:latin typeface="Microsoft Sans Serif"/>
                <a:cs typeface="Microsoft Sans Serif"/>
              </a:rPr>
              <a:t>PERTANDINGAN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Clr>
                <a:srgbClr val="F49E0A"/>
              </a:buClr>
              <a:buFont typeface="Microsoft Sans Serif"/>
              <a:buAutoNum type="arabicPeriod" startAt="2"/>
            </a:pPr>
            <a:endParaRPr sz="1100">
              <a:latin typeface="Microsoft Sans Serif"/>
              <a:cs typeface="Microsoft Sans Serif"/>
            </a:endParaRPr>
          </a:p>
          <a:p>
            <a:pPr marL="274320" marR="101600" lvl="1" indent="-78740">
              <a:lnSpc>
                <a:spcPct val="125000"/>
              </a:lnSpc>
              <a:buFont typeface="Microsoft Sans Serif"/>
              <a:buChar char="•"/>
              <a:tabLst>
                <a:tab pos="275590" algn="l"/>
              </a:tabLst>
            </a:pPr>
            <a:r>
              <a:rPr sz="1000" b="1" dirty="0">
                <a:solidFill>
                  <a:srgbClr val="F7F9FB"/>
                </a:solidFill>
                <a:latin typeface="Arial"/>
                <a:cs typeface="Arial"/>
              </a:rPr>
              <a:t>Wajib</a:t>
            </a:r>
            <a:r>
              <a:rPr sz="1000" b="1" spc="-20" dirty="0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7F9FB"/>
                </a:solidFill>
                <a:latin typeface="Arial"/>
                <a:cs typeface="Arial"/>
              </a:rPr>
              <a:t>Kacamata</a:t>
            </a:r>
            <a:r>
              <a:rPr sz="1000" b="1" spc="-20" dirty="0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7F9FB"/>
                </a:solidFill>
                <a:latin typeface="Arial"/>
                <a:cs typeface="Arial"/>
              </a:rPr>
              <a:t>Pelindung:</a:t>
            </a:r>
            <a:r>
              <a:rPr sz="1000" b="1" spc="-15" dirty="0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F7F9FB"/>
                </a:solidFill>
                <a:latin typeface="Microsoft Sans Serif"/>
                <a:cs typeface="Microsoft Sans Serif"/>
              </a:rPr>
              <a:t>Bawa</a:t>
            </a:r>
            <a:r>
              <a:rPr sz="10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7F9FB"/>
                </a:solidFill>
                <a:latin typeface="Microsoft Sans Serif"/>
                <a:cs typeface="Microsoft Sans Serif"/>
              </a:rPr>
              <a:t>sendiri</a:t>
            </a:r>
            <a:r>
              <a:rPr sz="10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atau 	</a:t>
            </a:r>
            <a:r>
              <a:rPr sz="1000" dirty="0">
                <a:solidFill>
                  <a:srgbClr val="F7F9FB"/>
                </a:solidFill>
                <a:latin typeface="Microsoft Sans Serif"/>
                <a:cs typeface="Microsoft Sans Serif"/>
              </a:rPr>
              <a:t>yang disediakan</a:t>
            </a:r>
            <a:r>
              <a:rPr sz="1000" spc="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7F9FB"/>
                </a:solidFill>
                <a:latin typeface="Microsoft Sans Serif"/>
                <a:cs typeface="Microsoft Sans Serif"/>
              </a:rPr>
              <a:t>panitia</a:t>
            </a:r>
            <a:r>
              <a:rPr sz="1000" spc="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7F9FB"/>
                </a:solidFill>
                <a:latin typeface="Microsoft Sans Serif"/>
                <a:cs typeface="Microsoft Sans Serif"/>
              </a:rPr>
              <a:t>di garis</a:t>
            </a:r>
            <a:r>
              <a:rPr sz="1000" spc="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tembak.</a:t>
            </a:r>
            <a:endParaRPr sz="1000">
              <a:latin typeface="Microsoft Sans Serif"/>
              <a:cs typeface="Microsoft Sans Serif"/>
            </a:endParaRPr>
          </a:p>
          <a:p>
            <a:pPr marL="274320" marR="423545" lvl="1" indent="-78740">
              <a:lnSpc>
                <a:spcPct val="125000"/>
              </a:lnSpc>
              <a:spcBef>
                <a:spcPts val="450"/>
              </a:spcBef>
              <a:buFont typeface="Microsoft Sans Serif"/>
              <a:buChar char="•"/>
              <a:tabLst>
                <a:tab pos="275590" algn="l"/>
              </a:tabLst>
            </a:pPr>
            <a:r>
              <a:rPr sz="1000" b="1" dirty="0">
                <a:solidFill>
                  <a:srgbClr val="F7F9FB"/>
                </a:solidFill>
                <a:latin typeface="Arial"/>
                <a:cs typeface="Arial"/>
              </a:rPr>
              <a:t>Wajib</a:t>
            </a:r>
            <a:r>
              <a:rPr sz="1000" b="1" spc="-20" dirty="0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7F9FB"/>
                </a:solidFill>
                <a:latin typeface="Arial"/>
                <a:cs typeface="Arial"/>
              </a:rPr>
              <a:t>Tutup</a:t>
            </a:r>
            <a:r>
              <a:rPr sz="1000" b="1" spc="-20" dirty="0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7F9FB"/>
                </a:solidFill>
                <a:latin typeface="Arial"/>
                <a:cs typeface="Arial"/>
              </a:rPr>
              <a:t>Telinga:</a:t>
            </a:r>
            <a:r>
              <a:rPr sz="1000" b="1" spc="-25" dirty="0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F7F9FB"/>
                </a:solidFill>
                <a:latin typeface="Microsoft Sans Serif"/>
                <a:cs typeface="Microsoft Sans Serif"/>
              </a:rPr>
              <a:t>Ear</a:t>
            </a:r>
            <a:r>
              <a:rPr sz="10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7F9FB"/>
                </a:solidFill>
                <a:latin typeface="Microsoft Sans Serif"/>
                <a:cs typeface="Microsoft Sans Serif"/>
              </a:rPr>
              <a:t>plugs</a:t>
            </a:r>
            <a:r>
              <a:rPr sz="10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7F9FB"/>
                </a:solidFill>
                <a:latin typeface="Microsoft Sans Serif"/>
                <a:cs typeface="Microsoft Sans Serif"/>
              </a:rPr>
              <a:t>/</a:t>
            </a:r>
            <a:r>
              <a:rPr sz="10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7F9FB"/>
                </a:solidFill>
                <a:latin typeface="Microsoft Sans Serif"/>
                <a:cs typeface="Microsoft Sans Serif"/>
              </a:rPr>
              <a:t>Ear</a:t>
            </a:r>
            <a:r>
              <a:rPr sz="10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muff 	</a:t>
            </a:r>
            <a:r>
              <a:rPr sz="1000" dirty="0">
                <a:solidFill>
                  <a:srgbClr val="F7F9FB"/>
                </a:solidFill>
                <a:latin typeface="Microsoft Sans Serif"/>
                <a:cs typeface="Microsoft Sans Serif"/>
              </a:rPr>
              <a:t>bawa</a:t>
            </a:r>
            <a:r>
              <a:rPr sz="1000" spc="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7F9FB"/>
                </a:solidFill>
                <a:latin typeface="Microsoft Sans Serif"/>
                <a:cs typeface="Microsoft Sans Serif"/>
              </a:rPr>
              <a:t>sendiri</a:t>
            </a:r>
            <a:r>
              <a:rPr sz="1000" spc="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7F9FB"/>
                </a:solidFill>
                <a:latin typeface="Microsoft Sans Serif"/>
                <a:cs typeface="Microsoft Sans Serif"/>
              </a:rPr>
              <a:t>atau</a:t>
            </a:r>
            <a:r>
              <a:rPr sz="1000" spc="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7F9FB"/>
                </a:solidFill>
                <a:latin typeface="Microsoft Sans Serif"/>
                <a:cs typeface="Microsoft Sans Serif"/>
              </a:rPr>
              <a:t>disediakan</a:t>
            </a:r>
            <a:r>
              <a:rPr sz="1000" spc="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panitia.</a:t>
            </a:r>
            <a:endParaRPr sz="1000">
              <a:latin typeface="Microsoft Sans Serif"/>
              <a:cs typeface="Microsoft Sans Serif"/>
            </a:endParaRPr>
          </a:p>
          <a:p>
            <a:pPr marL="274955" lvl="1" indent="-78740">
              <a:lnSpc>
                <a:spcPct val="100000"/>
              </a:lnSpc>
              <a:spcBef>
                <a:spcPts val="750"/>
              </a:spcBef>
              <a:buChar char="•"/>
              <a:tabLst>
                <a:tab pos="274955" algn="l"/>
              </a:tabLst>
            </a:pPr>
            <a:r>
              <a:rPr sz="1000" dirty="0">
                <a:solidFill>
                  <a:srgbClr val="F7F9FB"/>
                </a:solidFill>
                <a:latin typeface="Microsoft Sans Serif"/>
                <a:cs typeface="Microsoft Sans Serif"/>
              </a:rPr>
              <a:t>Diperbolehkan</a:t>
            </a:r>
            <a:r>
              <a:rPr sz="1000" spc="1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membawa/menggunakan</a:t>
            </a:r>
            <a:endParaRPr sz="1000">
              <a:latin typeface="Microsoft Sans Serif"/>
              <a:cs typeface="Microsoft Sans Serif"/>
            </a:endParaRPr>
          </a:p>
          <a:p>
            <a:pPr marL="275590">
              <a:lnSpc>
                <a:spcPct val="100000"/>
              </a:lnSpc>
              <a:spcBef>
                <a:spcPts val="300"/>
              </a:spcBef>
            </a:pPr>
            <a:r>
              <a:rPr sz="1000" b="1" dirty="0">
                <a:solidFill>
                  <a:srgbClr val="F7F9FB"/>
                </a:solidFill>
                <a:latin typeface="Arial"/>
                <a:cs typeface="Arial"/>
              </a:rPr>
              <a:t>teropong</a:t>
            </a:r>
            <a:r>
              <a:rPr sz="1000" b="1" spc="-30" dirty="0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F7F9FB"/>
                </a:solidFill>
                <a:latin typeface="Microsoft Sans Serif"/>
                <a:cs typeface="Microsoft Sans Serif"/>
              </a:rPr>
              <a:t>untuk</a:t>
            </a:r>
            <a:r>
              <a:rPr sz="10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7F9FB"/>
                </a:solidFill>
                <a:latin typeface="Microsoft Sans Serif"/>
                <a:cs typeface="Microsoft Sans Serif"/>
              </a:rPr>
              <a:t>melihat</a:t>
            </a:r>
            <a:r>
              <a:rPr sz="10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 perkenaan.</a:t>
            </a:r>
            <a:endParaRPr sz="1000">
              <a:latin typeface="Microsoft Sans Serif"/>
              <a:cs typeface="Microsoft Sans Serif"/>
            </a:endParaRPr>
          </a:p>
          <a:p>
            <a:pPr marL="274955" lvl="1" indent="-78740">
              <a:lnSpc>
                <a:spcPct val="100000"/>
              </a:lnSpc>
              <a:spcBef>
                <a:spcPts val="750"/>
              </a:spcBef>
              <a:buChar char="•"/>
              <a:tabLst>
                <a:tab pos="274955" algn="l"/>
              </a:tabLst>
            </a:pPr>
            <a:r>
              <a:rPr sz="1000" dirty="0">
                <a:solidFill>
                  <a:srgbClr val="F7F9FB"/>
                </a:solidFill>
                <a:latin typeface="Microsoft Sans Serif"/>
                <a:cs typeface="Microsoft Sans Serif"/>
              </a:rPr>
              <a:t>Diperbolehkan</a:t>
            </a:r>
            <a:r>
              <a:rPr sz="1000" spc="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7F9FB"/>
                </a:solidFill>
                <a:latin typeface="Microsoft Sans Serif"/>
                <a:cs typeface="Microsoft Sans Serif"/>
              </a:rPr>
              <a:t>menggunakan</a:t>
            </a:r>
            <a:r>
              <a:rPr sz="1000" spc="1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000" b="1" dirty="0">
                <a:solidFill>
                  <a:srgbClr val="F7F9FB"/>
                </a:solidFill>
                <a:latin typeface="Arial"/>
                <a:cs typeface="Arial"/>
              </a:rPr>
              <a:t>belt &amp;</a:t>
            </a:r>
            <a:r>
              <a:rPr sz="1000" b="1" spc="-5" dirty="0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7F9FB"/>
                </a:solidFill>
                <a:latin typeface="Arial"/>
                <a:cs typeface="Arial"/>
              </a:rPr>
              <a:t>holster</a:t>
            </a:r>
            <a:r>
              <a:rPr sz="10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.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051933" y="4374780"/>
            <a:ext cx="2662555" cy="5321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80010" marR="5080" indent="-67945">
              <a:lnSpc>
                <a:spcPct val="129000"/>
              </a:lnSpc>
              <a:spcBef>
                <a:spcPts val="140"/>
              </a:spcBef>
              <a:buChar char="•"/>
              <a:tabLst>
                <a:tab pos="80010" algn="l"/>
              </a:tabLst>
            </a:pP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Dilarang</a:t>
            </a:r>
            <a:r>
              <a:rPr sz="850" spc="-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mengeluarkan/membidik</a:t>
            </a:r>
            <a:r>
              <a:rPr sz="850" spc="-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senjata</a:t>
            </a:r>
            <a:r>
              <a:rPr sz="850" spc="-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di</a:t>
            </a:r>
            <a:r>
              <a:rPr sz="850" spc="-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luar</a:t>
            </a:r>
            <a:r>
              <a:rPr sz="850" spc="-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garis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tembak</a:t>
            </a:r>
            <a:r>
              <a:rPr sz="850" spc="-4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(kecuali</a:t>
            </a:r>
            <a:r>
              <a:rPr sz="850" spc="-3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di</a:t>
            </a:r>
            <a:r>
              <a:rPr sz="850" spc="-4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i="1" dirty="0">
                <a:solidFill>
                  <a:srgbClr val="F7F9FB"/>
                </a:solidFill>
                <a:latin typeface="Arial"/>
                <a:cs typeface="Arial"/>
              </a:rPr>
              <a:t>Safety</a:t>
            </a:r>
            <a:r>
              <a:rPr sz="850" i="1" spc="-50" dirty="0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7F9FB"/>
                </a:solidFill>
                <a:latin typeface="Arial"/>
                <a:cs typeface="Arial"/>
              </a:rPr>
              <a:t>Area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).</a:t>
            </a:r>
            <a:r>
              <a:rPr sz="850" spc="-3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Senjata</a:t>
            </a:r>
            <a:r>
              <a:rPr sz="850" spc="-4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hanya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dikeluarkan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atas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perintah</a:t>
            </a:r>
            <a:r>
              <a:rPr sz="850" spc="-1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Range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Officer</a:t>
            </a:r>
            <a:r>
              <a:rPr sz="850" spc="-1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(RO).</a:t>
            </a:r>
            <a:endParaRPr sz="850">
              <a:latin typeface="Microsoft Sans Serif"/>
              <a:cs typeface="Microsoft Sans Serif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051933" y="4938438"/>
            <a:ext cx="2479040" cy="349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010" marR="5080" indent="-67945">
              <a:lnSpc>
                <a:spcPct val="125000"/>
              </a:lnSpc>
              <a:spcBef>
                <a:spcPts val="100"/>
              </a:spcBef>
              <a:buChar char="•"/>
              <a:tabLst>
                <a:tab pos="80010" algn="l"/>
              </a:tabLst>
            </a:pP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Wajib mengosongkan</a:t>
            </a:r>
            <a:r>
              <a:rPr sz="850" spc="-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senjata</a:t>
            </a:r>
            <a:r>
              <a:rPr sz="850" spc="-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sebelum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&amp;</a:t>
            </a:r>
            <a:r>
              <a:rPr sz="850" spc="-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sesudah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menembak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ke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arah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aman.</a:t>
            </a:r>
            <a:endParaRPr sz="850">
              <a:latin typeface="Microsoft Sans Serif"/>
              <a:cs typeface="Microsoft Sans Serif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051933" y="5319438"/>
            <a:ext cx="2479040" cy="349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010" marR="5080" indent="-67945">
              <a:lnSpc>
                <a:spcPct val="125000"/>
              </a:lnSpc>
              <a:spcBef>
                <a:spcPts val="100"/>
              </a:spcBef>
              <a:buChar char="•"/>
              <a:tabLst>
                <a:tab pos="80010" algn="l"/>
              </a:tabLst>
            </a:pP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Senjata</a:t>
            </a:r>
            <a:r>
              <a:rPr sz="850" spc="-2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wajib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di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dalam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box/holster</a:t>
            </a:r>
            <a:r>
              <a:rPr sz="850" spc="-2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sampai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di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meja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penembakan.</a:t>
            </a:r>
            <a:endParaRPr sz="850">
              <a:latin typeface="Microsoft Sans Serif"/>
              <a:cs typeface="Microsoft Sans Serif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051933" y="5700438"/>
            <a:ext cx="2574290" cy="349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010" marR="5080" indent="-67945">
              <a:lnSpc>
                <a:spcPct val="125000"/>
              </a:lnSpc>
              <a:spcBef>
                <a:spcPts val="100"/>
              </a:spcBef>
              <a:buChar char="•"/>
              <a:tabLst>
                <a:tab pos="80010" algn="l"/>
              </a:tabLst>
            </a:pP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Arah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laras</a:t>
            </a:r>
            <a:r>
              <a:rPr sz="850" spc="-1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tidak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boleh</a:t>
            </a:r>
            <a:r>
              <a:rPr sz="850" spc="-1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melewati</a:t>
            </a:r>
            <a:r>
              <a:rPr sz="850" spc="-1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60°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(kiri/kanan/atas/ bawah).</a:t>
            </a:r>
            <a:endParaRPr sz="850">
              <a:latin typeface="Microsoft Sans Serif"/>
              <a:cs typeface="Microsoft Sans Serif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051933" y="6091805"/>
            <a:ext cx="2796540" cy="349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010" marR="5080" indent="-67945">
              <a:lnSpc>
                <a:spcPct val="125000"/>
              </a:lnSpc>
              <a:spcBef>
                <a:spcPts val="100"/>
              </a:spcBef>
              <a:buChar char="•"/>
              <a:tabLst>
                <a:tab pos="80010" algn="l"/>
              </a:tabLst>
            </a:pP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Apabila</a:t>
            </a:r>
            <a:r>
              <a:rPr sz="850" spc="-1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terjadi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i="1" spc="-10" dirty="0">
                <a:solidFill>
                  <a:srgbClr val="F7F9FB"/>
                </a:solidFill>
                <a:latin typeface="Arial"/>
                <a:cs typeface="Arial"/>
              </a:rPr>
              <a:t>malfunction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,</a:t>
            </a:r>
            <a:r>
              <a:rPr sz="850" spc="-1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lepas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magazen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&amp;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 kosongkan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senjata</a:t>
            </a:r>
            <a:r>
              <a:rPr sz="850" spc="-3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ke</a:t>
            </a:r>
            <a:r>
              <a:rPr sz="850" spc="-2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arah</a:t>
            </a:r>
            <a:r>
              <a:rPr sz="850" spc="-2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aman.</a:t>
            </a:r>
            <a:endParaRPr sz="850">
              <a:latin typeface="Microsoft Sans Serif"/>
              <a:cs typeface="Microsoft Sans Serif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40000" y="6939259"/>
            <a:ext cx="6480175" cy="628650"/>
            <a:chOff x="540000" y="6939259"/>
            <a:chExt cx="6480175" cy="628650"/>
          </a:xfrm>
        </p:grpSpPr>
        <p:sp>
          <p:nvSpPr>
            <p:cNvPr id="21" name="object 21"/>
            <p:cNvSpPr/>
            <p:nvPr/>
          </p:nvSpPr>
          <p:spPr>
            <a:xfrm>
              <a:off x="540000" y="6939259"/>
              <a:ext cx="6480175" cy="628650"/>
            </a:xfrm>
            <a:custGeom>
              <a:avLst/>
              <a:gdLst/>
              <a:ahLst/>
              <a:cxnLst/>
              <a:rect l="l" t="t" r="r" b="b"/>
              <a:pathLst>
                <a:path w="6480175" h="628650">
                  <a:moveTo>
                    <a:pt x="6403800" y="628650"/>
                  </a:moveTo>
                  <a:lnTo>
                    <a:pt x="76200" y="628650"/>
                  </a:lnTo>
                  <a:lnTo>
                    <a:pt x="46612" y="622637"/>
                  </a:lnTo>
                  <a:lnTo>
                    <a:pt x="22383" y="606266"/>
                  </a:lnTo>
                  <a:lnTo>
                    <a:pt x="6012" y="582037"/>
                  </a:lnTo>
                  <a:lnTo>
                    <a:pt x="0" y="55245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6403800" y="0"/>
                  </a:lnTo>
                  <a:lnTo>
                    <a:pt x="6433387" y="6012"/>
                  </a:lnTo>
                  <a:lnTo>
                    <a:pt x="6457616" y="22383"/>
                  </a:lnTo>
                  <a:lnTo>
                    <a:pt x="6473987" y="46612"/>
                  </a:lnTo>
                  <a:lnTo>
                    <a:pt x="6480000" y="76200"/>
                  </a:lnTo>
                  <a:lnTo>
                    <a:pt x="6480000" y="552450"/>
                  </a:lnTo>
                  <a:lnTo>
                    <a:pt x="6473987" y="582037"/>
                  </a:lnTo>
                  <a:lnTo>
                    <a:pt x="6457616" y="606266"/>
                  </a:lnTo>
                  <a:lnTo>
                    <a:pt x="6433387" y="622637"/>
                  </a:lnTo>
                  <a:lnTo>
                    <a:pt x="6403800" y="628650"/>
                  </a:lnTo>
                  <a:close/>
                </a:path>
              </a:pathLst>
            </a:custGeom>
            <a:solidFill>
              <a:srgbClr val="1D28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62383" y="7524239"/>
              <a:ext cx="6435725" cy="43815"/>
            </a:xfrm>
            <a:custGeom>
              <a:avLst/>
              <a:gdLst/>
              <a:ahLst/>
              <a:cxnLst/>
              <a:rect l="l" t="t" r="r" b="b"/>
              <a:pathLst>
                <a:path w="6435725" h="43815">
                  <a:moveTo>
                    <a:pt x="6381416" y="43670"/>
                  </a:moveTo>
                  <a:lnTo>
                    <a:pt x="53816" y="43670"/>
                  </a:lnTo>
                  <a:lnTo>
                    <a:pt x="24229" y="37657"/>
                  </a:lnTo>
                  <a:lnTo>
                    <a:pt x="0" y="21286"/>
                  </a:lnTo>
                  <a:lnTo>
                    <a:pt x="21286" y="0"/>
                  </a:lnTo>
                  <a:lnTo>
                    <a:pt x="26908" y="14559"/>
                  </a:lnTo>
                  <a:lnTo>
                    <a:pt x="39022" y="28884"/>
                  </a:lnTo>
                  <a:lnTo>
                    <a:pt x="53816" y="34145"/>
                  </a:lnTo>
                  <a:lnTo>
                    <a:pt x="6416201" y="34145"/>
                  </a:lnTo>
                  <a:lnTo>
                    <a:pt x="6411003" y="37657"/>
                  </a:lnTo>
                  <a:lnTo>
                    <a:pt x="6381416" y="43670"/>
                  </a:lnTo>
                  <a:close/>
                </a:path>
                <a:path w="6435725" h="43815">
                  <a:moveTo>
                    <a:pt x="6416201" y="34145"/>
                  </a:moveTo>
                  <a:lnTo>
                    <a:pt x="6381416" y="34145"/>
                  </a:lnTo>
                  <a:lnTo>
                    <a:pt x="6407305" y="28884"/>
                  </a:lnTo>
                  <a:lnTo>
                    <a:pt x="6428505" y="14559"/>
                  </a:lnTo>
                  <a:lnTo>
                    <a:pt x="6435232" y="21286"/>
                  </a:lnTo>
                  <a:lnTo>
                    <a:pt x="6416201" y="34145"/>
                  </a:lnTo>
                  <a:close/>
                </a:path>
              </a:pathLst>
            </a:custGeom>
            <a:solidFill>
              <a:srgbClr val="334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40000" y="6961643"/>
              <a:ext cx="43815" cy="584200"/>
            </a:xfrm>
            <a:custGeom>
              <a:avLst/>
              <a:gdLst/>
              <a:ahLst/>
              <a:cxnLst/>
              <a:rect l="l" t="t" r="r" b="b"/>
              <a:pathLst>
                <a:path w="43815" h="584200">
                  <a:moveTo>
                    <a:pt x="22383" y="583882"/>
                  </a:moveTo>
                  <a:lnTo>
                    <a:pt x="6012" y="559653"/>
                  </a:lnTo>
                  <a:lnTo>
                    <a:pt x="0" y="530066"/>
                  </a:lnTo>
                  <a:lnTo>
                    <a:pt x="0" y="53816"/>
                  </a:lnTo>
                  <a:lnTo>
                    <a:pt x="6012" y="24229"/>
                  </a:lnTo>
                  <a:lnTo>
                    <a:pt x="22383" y="0"/>
                  </a:lnTo>
                  <a:lnTo>
                    <a:pt x="43670" y="21286"/>
                  </a:lnTo>
                  <a:lnTo>
                    <a:pt x="41106" y="27927"/>
                  </a:lnTo>
                  <a:lnTo>
                    <a:pt x="38100" y="53816"/>
                  </a:lnTo>
                  <a:lnTo>
                    <a:pt x="38100" y="530066"/>
                  </a:lnTo>
                  <a:lnTo>
                    <a:pt x="41106" y="555954"/>
                  </a:lnTo>
                  <a:lnTo>
                    <a:pt x="43670" y="562595"/>
                  </a:lnTo>
                  <a:lnTo>
                    <a:pt x="22383" y="583882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62381" y="6939264"/>
              <a:ext cx="6457950" cy="606425"/>
            </a:xfrm>
            <a:custGeom>
              <a:avLst/>
              <a:gdLst/>
              <a:ahLst/>
              <a:cxnLst/>
              <a:rect l="l" t="t" r="r" b="b"/>
              <a:pathLst>
                <a:path w="6457950" h="606425">
                  <a:moveTo>
                    <a:pt x="6457607" y="76200"/>
                  </a:moveTo>
                  <a:lnTo>
                    <a:pt x="6435230" y="22390"/>
                  </a:lnTo>
                  <a:lnTo>
                    <a:pt x="6381407" y="0"/>
                  </a:lnTo>
                  <a:lnTo>
                    <a:pt x="53809" y="0"/>
                  </a:lnTo>
                  <a:lnTo>
                    <a:pt x="24231" y="6019"/>
                  </a:lnTo>
                  <a:lnTo>
                    <a:pt x="0" y="22390"/>
                  </a:lnTo>
                  <a:lnTo>
                    <a:pt x="21285" y="43675"/>
                  </a:lnTo>
                  <a:lnTo>
                    <a:pt x="26898" y="29108"/>
                  </a:lnTo>
                  <a:lnTo>
                    <a:pt x="39014" y="14782"/>
                  </a:lnTo>
                  <a:lnTo>
                    <a:pt x="53809" y="9525"/>
                  </a:lnTo>
                  <a:lnTo>
                    <a:pt x="6381407" y="9525"/>
                  </a:lnTo>
                  <a:lnTo>
                    <a:pt x="6407302" y="14782"/>
                  </a:lnTo>
                  <a:lnTo>
                    <a:pt x="6428499" y="29108"/>
                  </a:lnTo>
                  <a:lnTo>
                    <a:pt x="6442824" y="50317"/>
                  </a:lnTo>
                  <a:lnTo>
                    <a:pt x="6448082" y="76200"/>
                  </a:lnTo>
                  <a:lnTo>
                    <a:pt x="6448082" y="552450"/>
                  </a:lnTo>
                  <a:lnTo>
                    <a:pt x="6442824" y="578345"/>
                  </a:lnTo>
                  <a:lnTo>
                    <a:pt x="6428499" y="599541"/>
                  </a:lnTo>
                  <a:lnTo>
                    <a:pt x="6435230" y="606272"/>
                  </a:lnTo>
                  <a:lnTo>
                    <a:pt x="6451600" y="582041"/>
                  </a:lnTo>
                  <a:lnTo>
                    <a:pt x="6457607" y="552450"/>
                  </a:lnTo>
                  <a:lnTo>
                    <a:pt x="6457607" y="76200"/>
                  </a:lnTo>
                  <a:close/>
                </a:path>
              </a:pathLst>
            </a:custGeom>
            <a:solidFill>
              <a:srgbClr val="334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83670" y="7032743"/>
            <a:ext cx="640778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635" marR="123189">
              <a:lnSpc>
                <a:spcPct val="125000"/>
              </a:lnSpc>
              <a:spcBef>
                <a:spcPts val="100"/>
              </a:spcBef>
            </a:pPr>
            <a:r>
              <a:rPr sz="900" b="1" spc="-55" dirty="0">
                <a:solidFill>
                  <a:srgbClr val="F7F9FB"/>
                </a:solidFill>
                <a:latin typeface="Arial"/>
                <a:cs typeface="Arial"/>
              </a:rPr>
              <a:t>CATATAN</a:t>
            </a:r>
            <a:r>
              <a:rPr sz="900" b="1" spc="-10" dirty="0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7F9FB"/>
                </a:solidFill>
                <a:latin typeface="Arial"/>
                <a:cs typeface="Arial"/>
              </a:rPr>
              <a:t>PENTING:</a:t>
            </a:r>
            <a:r>
              <a:rPr sz="900" b="1" spc="-20" dirty="0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7F9FB"/>
                </a:solidFill>
                <a:latin typeface="Microsoft Sans Serif"/>
                <a:cs typeface="Microsoft Sans Serif"/>
              </a:rPr>
              <a:t>Hasil nilai yang sudah ditandatangani</a:t>
            </a:r>
            <a:r>
              <a:rPr sz="900" spc="-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F7F9FB"/>
                </a:solidFill>
                <a:latin typeface="Microsoft Sans Serif"/>
                <a:cs typeface="Microsoft Sans Serif"/>
              </a:rPr>
              <a:t>oleh peserta dan penilai bersifat</a:t>
            </a:r>
            <a:r>
              <a:rPr sz="9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F49E0A"/>
                </a:solidFill>
                <a:latin typeface="Microsoft Sans Serif"/>
                <a:cs typeface="Microsoft Sans Serif"/>
              </a:rPr>
              <a:t>MUTLAK</a:t>
            </a:r>
            <a:r>
              <a:rPr sz="900" dirty="0">
                <a:solidFill>
                  <a:srgbClr val="F7F9FB"/>
                </a:solidFill>
                <a:latin typeface="Microsoft Sans Serif"/>
                <a:cs typeface="Microsoft Sans Serif"/>
              </a:rPr>
              <a:t>.</a:t>
            </a:r>
            <a:r>
              <a:rPr sz="900" spc="-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F7F9FB"/>
                </a:solidFill>
                <a:latin typeface="Microsoft Sans Serif"/>
                <a:cs typeface="Microsoft Sans Serif"/>
              </a:rPr>
              <a:t>Dilarang </a:t>
            </a:r>
            <a:r>
              <a:rPr sz="9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membuat </a:t>
            </a:r>
            <a:r>
              <a:rPr sz="900" dirty="0">
                <a:solidFill>
                  <a:srgbClr val="F7F9FB"/>
                </a:solidFill>
                <a:latin typeface="Microsoft Sans Serif"/>
                <a:cs typeface="Microsoft Sans Serif"/>
              </a:rPr>
              <a:t>kegaduhan</a:t>
            </a:r>
            <a:r>
              <a:rPr sz="9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F7F9FB"/>
                </a:solidFill>
                <a:latin typeface="Microsoft Sans Serif"/>
                <a:cs typeface="Microsoft Sans Serif"/>
              </a:rPr>
              <a:t>atau</a:t>
            </a:r>
            <a:r>
              <a:rPr sz="900" spc="-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F7F9FB"/>
                </a:solidFill>
                <a:latin typeface="Microsoft Sans Serif"/>
                <a:cs typeface="Microsoft Sans Serif"/>
              </a:rPr>
              <a:t>sengaja</a:t>
            </a:r>
            <a:r>
              <a:rPr sz="900" spc="-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F7F9FB"/>
                </a:solidFill>
                <a:latin typeface="Microsoft Sans Serif"/>
                <a:cs typeface="Microsoft Sans Serif"/>
              </a:rPr>
              <a:t>mengganggu</a:t>
            </a:r>
            <a:r>
              <a:rPr sz="900" spc="-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F7F9FB"/>
                </a:solidFill>
                <a:latin typeface="Microsoft Sans Serif"/>
                <a:cs typeface="Microsoft Sans Serif"/>
              </a:rPr>
              <a:t>petembak</a:t>
            </a:r>
            <a:r>
              <a:rPr sz="9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F7F9FB"/>
                </a:solidFill>
                <a:latin typeface="Microsoft Sans Serif"/>
                <a:cs typeface="Microsoft Sans Serif"/>
              </a:rPr>
              <a:t>lain</a:t>
            </a:r>
            <a:r>
              <a:rPr sz="900" spc="-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F7F9FB"/>
                </a:solidFill>
                <a:latin typeface="Microsoft Sans Serif"/>
                <a:cs typeface="Microsoft Sans Serif"/>
              </a:rPr>
              <a:t>yang</a:t>
            </a:r>
            <a:r>
              <a:rPr sz="900" spc="-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F7F9FB"/>
                </a:solidFill>
                <a:latin typeface="Microsoft Sans Serif"/>
                <a:cs typeface="Microsoft Sans Serif"/>
              </a:rPr>
              <a:t>sedang</a:t>
            </a:r>
            <a:r>
              <a:rPr sz="900" spc="-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berlomba.</a:t>
            </a:r>
            <a:endParaRPr sz="900">
              <a:latin typeface="Microsoft Sans Serif"/>
              <a:cs typeface="Microsoft Sans Serif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30B1759F-57DB-4ED7-BFA6-4C43F65F749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1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11" b="93388" l="9936" r="89904">
                        <a14:foregroundMark x1="31571" y1="18595" x2="31571" y2="18595"/>
                        <a14:foregroundMark x1="38622" y1="19215" x2="38622" y2="19215"/>
                        <a14:foregroundMark x1="61218" y1="20041" x2="61218" y2="20041"/>
                        <a14:foregroundMark x1="56571" y1="14876" x2="56571" y2="14876"/>
                        <a14:foregroundMark x1="66026" y1="19835" x2="66026" y2="19835"/>
                        <a14:foregroundMark x1="76603" y1="36570" x2="76603" y2="36570"/>
                        <a14:foregroundMark x1="54647" y1="91942" x2="54647" y2="91942"/>
                        <a14:foregroundMark x1="48718" y1="92562" x2="45833" y2="90909"/>
                        <a14:foregroundMark x1="45833" y1="91942" x2="43429" y2="89669"/>
                        <a14:foregroundMark x1="45833" y1="91322" x2="45833" y2="91322"/>
                        <a14:foregroundMark x1="45833" y1="91322" x2="45833" y2="91322"/>
                        <a14:foregroundMark x1="45833" y1="91322" x2="45833" y2="91322"/>
                        <a14:foregroundMark x1="46314" y1="92355" x2="44231" y2="90083"/>
                        <a14:foregroundMark x1="48397" y1="92355" x2="52885" y2="92355"/>
                        <a14:foregroundMark x1="48397" y1="91322" x2="50160" y2="92355"/>
                        <a14:foregroundMark x1="51923" y1="92975" x2="52083" y2="93182"/>
                        <a14:foregroundMark x1="52244" y1="93388" x2="52244" y2="93388"/>
                        <a14:foregroundMark x1="53045" y1="93182" x2="50801" y2="92562"/>
                        <a14:foregroundMark x1="39583" y1="15496" x2="38622" y2="14050"/>
                        <a14:foregroundMark x1="39583" y1="17355" x2="39103" y2="14876"/>
                        <a14:foregroundMark x1="39744" y1="17355" x2="39744" y2="15909"/>
                        <a14:foregroundMark x1="40064" y1="15702" x2="37821" y2="13430"/>
                        <a14:foregroundMark x1="30609" y1="38017" x2="30609" y2="38017"/>
                        <a14:foregroundMark x1="32853" y1="20248" x2="32853" y2="20248"/>
                        <a14:foregroundMark x1="32853" y1="20248" x2="32853" y2="20248"/>
                        <a14:foregroundMark x1="32853" y1="20248" x2="32853" y2="20248"/>
                        <a14:foregroundMark x1="32853" y1="20248" x2="32853" y2="20248"/>
                        <a14:foregroundMark x1="31891" y1="16736" x2="31891" y2="16736"/>
                        <a14:foregroundMark x1="32372" y1="17355" x2="32372" y2="17355"/>
                        <a14:foregroundMark x1="32372" y1="17355" x2="31090" y2="18182"/>
                        <a14:foregroundMark x1="32372" y1="16942" x2="31891" y2="17355"/>
                        <a14:foregroundMark x1="32212" y1="17355" x2="30929" y2="17562"/>
                        <a14:backgroundMark x1="53586" y1="94425" x2="58494" y2="9628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28024" y="1383241"/>
            <a:ext cx="9612548" cy="745964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20"/>
          <p:cNvSpPr txBox="1"/>
          <p:nvPr/>
        </p:nvSpPr>
        <p:spPr>
          <a:xfrm>
            <a:off x="717799" y="510282"/>
            <a:ext cx="3466465" cy="488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F7F9FB"/>
                </a:solidFill>
                <a:latin typeface="Microsoft Sans Serif"/>
                <a:cs typeface="Microsoft Sans Serif"/>
              </a:rPr>
              <a:t>MATERI:</a:t>
            </a:r>
            <a:r>
              <a:rPr sz="1600" spc="-5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600" spc="-25" dirty="0">
                <a:solidFill>
                  <a:srgbClr val="F7F9FB"/>
                </a:solidFill>
                <a:latin typeface="Microsoft Sans Serif"/>
                <a:cs typeface="Microsoft Sans Serif"/>
              </a:rPr>
              <a:t>PISTOL</a:t>
            </a:r>
            <a:r>
              <a:rPr sz="1600" spc="-4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PRESISI</a:t>
            </a:r>
            <a:r>
              <a:rPr sz="1600" spc="-5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F7F9FB"/>
                </a:solidFill>
                <a:latin typeface="Microsoft Sans Serif"/>
                <a:cs typeface="Microsoft Sans Serif"/>
              </a:rPr>
              <a:t>20</a:t>
            </a:r>
            <a:r>
              <a:rPr sz="1600" spc="-4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METER</a:t>
            </a:r>
            <a:endParaRPr sz="16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900" spc="-10" dirty="0">
                <a:solidFill>
                  <a:srgbClr val="93A3B8"/>
                </a:solidFill>
                <a:latin typeface="Microsoft Sans Serif"/>
                <a:cs typeface="Microsoft Sans Serif"/>
              </a:rPr>
              <a:t>SPESIFIKASI,</a:t>
            </a:r>
            <a:r>
              <a:rPr sz="900" spc="-15" dirty="0">
                <a:solidFill>
                  <a:srgbClr val="93A3B8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93A3B8"/>
                </a:solidFill>
                <a:latin typeface="Microsoft Sans Serif"/>
                <a:cs typeface="Microsoft Sans Serif"/>
              </a:rPr>
              <a:t>TEKNIS,</a:t>
            </a:r>
            <a:r>
              <a:rPr sz="900" spc="-15" dirty="0">
                <a:solidFill>
                  <a:srgbClr val="93A3B8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93A3B8"/>
                </a:solidFill>
                <a:latin typeface="Microsoft Sans Serif"/>
                <a:cs typeface="Microsoft Sans Serif"/>
              </a:rPr>
              <a:t>DAN</a:t>
            </a:r>
            <a:r>
              <a:rPr sz="900" spc="-15" dirty="0">
                <a:solidFill>
                  <a:srgbClr val="93A3B8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93A3B8"/>
                </a:solidFill>
                <a:latin typeface="Microsoft Sans Serif"/>
                <a:cs typeface="Microsoft Sans Serif"/>
              </a:rPr>
              <a:t>METODE</a:t>
            </a:r>
            <a:r>
              <a:rPr sz="900" spc="-15" dirty="0">
                <a:solidFill>
                  <a:srgbClr val="93A3B8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93A3B8"/>
                </a:solidFill>
                <a:latin typeface="Microsoft Sans Serif"/>
                <a:cs typeface="Microsoft Sans Serif"/>
              </a:rPr>
              <a:t>PENILAIAN</a:t>
            </a:r>
            <a:endParaRPr sz="900">
              <a:latin typeface="Microsoft Sans Serif"/>
              <a:cs typeface="Microsoft Sans Serif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578100" y="1346400"/>
            <a:ext cx="3811904" cy="3171825"/>
            <a:chOff x="578100" y="1346400"/>
            <a:chExt cx="3811904" cy="3171825"/>
          </a:xfrm>
        </p:grpSpPr>
        <p:sp>
          <p:nvSpPr>
            <p:cNvPr id="3" name="object 3"/>
            <p:cNvSpPr/>
            <p:nvPr/>
          </p:nvSpPr>
          <p:spPr>
            <a:xfrm>
              <a:off x="578100" y="1346400"/>
              <a:ext cx="3811904" cy="3171825"/>
            </a:xfrm>
            <a:custGeom>
              <a:avLst/>
              <a:gdLst/>
              <a:ahLst/>
              <a:cxnLst/>
              <a:rect l="l" t="t" r="r" b="b"/>
              <a:pathLst>
                <a:path w="3811904" h="3171825">
                  <a:moveTo>
                    <a:pt x="3735600" y="3171825"/>
                  </a:moveTo>
                  <a:lnTo>
                    <a:pt x="76200" y="3171825"/>
                  </a:lnTo>
                  <a:lnTo>
                    <a:pt x="46612" y="3165812"/>
                  </a:lnTo>
                  <a:lnTo>
                    <a:pt x="22383" y="3149441"/>
                  </a:lnTo>
                  <a:lnTo>
                    <a:pt x="6012" y="3125212"/>
                  </a:lnTo>
                  <a:lnTo>
                    <a:pt x="0" y="3095625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3735600" y="0"/>
                  </a:lnTo>
                  <a:lnTo>
                    <a:pt x="3765187" y="6012"/>
                  </a:lnTo>
                  <a:lnTo>
                    <a:pt x="3789416" y="22383"/>
                  </a:lnTo>
                  <a:lnTo>
                    <a:pt x="3805787" y="46612"/>
                  </a:lnTo>
                  <a:lnTo>
                    <a:pt x="3811800" y="76200"/>
                  </a:lnTo>
                  <a:lnTo>
                    <a:pt x="3811800" y="3095625"/>
                  </a:lnTo>
                  <a:lnTo>
                    <a:pt x="3805787" y="3125212"/>
                  </a:lnTo>
                  <a:lnTo>
                    <a:pt x="3789416" y="3149441"/>
                  </a:lnTo>
                  <a:lnTo>
                    <a:pt x="3765187" y="3165812"/>
                  </a:lnTo>
                  <a:lnTo>
                    <a:pt x="3735600" y="3171825"/>
                  </a:lnTo>
                  <a:close/>
                </a:path>
              </a:pathLst>
            </a:custGeom>
            <a:solidFill>
              <a:srgbClr val="1D28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78091" y="1368789"/>
              <a:ext cx="3811904" cy="3149600"/>
            </a:xfrm>
            <a:custGeom>
              <a:avLst/>
              <a:gdLst/>
              <a:ahLst/>
              <a:cxnLst/>
              <a:rect l="l" t="t" r="r" b="b"/>
              <a:pathLst>
                <a:path w="3811904" h="3149600">
                  <a:moveTo>
                    <a:pt x="3811803" y="53822"/>
                  </a:moveTo>
                  <a:lnTo>
                    <a:pt x="3805796" y="24231"/>
                  </a:lnTo>
                  <a:lnTo>
                    <a:pt x="3789413" y="0"/>
                  </a:lnTo>
                  <a:lnTo>
                    <a:pt x="3773614" y="15798"/>
                  </a:lnTo>
                  <a:lnTo>
                    <a:pt x="3782695" y="20180"/>
                  </a:lnTo>
                  <a:lnTo>
                    <a:pt x="3797020" y="35318"/>
                  </a:lnTo>
                  <a:lnTo>
                    <a:pt x="3802278" y="53822"/>
                  </a:lnTo>
                  <a:lnTo>
                    <a:pt x="3802278" y="3073247"/>
                  </a:lnTo>
                  <a:lnTo>
                    <a:pt x="3797020" y="3099130"/>
                  </a:lnTo>
                  <a:lnTo>
                    <a:pt x="3782695" y="3120326"/>
                  </a:lnTo>
                  <a:lnTo>
                    <a:pt x="3761486" y="3134652"/>
                  </a:lnTo>
                  <a:lnTo>
                    <a:pt x="3735603" y="3139922"/>
                  </a:lnTo>
                  <a:lnTo>
                    <a:pt x="76200" y="3139922"/>
                  </a:lnTo>
                  <a:lnTo>
                    <a:pt x="50317" y="3134652"/>
                  </a:lnTo>
                  <a:lnTo>
                    <a:pt x="29108" y="3120326"/>
                  </a:lnTo>
                  <a:lnTo>
                    <a:pt x="14782" y="3099130"/>
                  </a:lnTo>
                  <a:lnTo>
                    <a:pt x="9525" y="3073247"/>
                  </a:lnTo>
                  <a:lnTo>
                    <a:pt x="9525" y="53822"/>
                  </a:lnTo>
                  <a:lnTo>
                    <a:pt x="14782" y="35318"/>
                  </a:lnTo>
                  <a:lnTo>
                    <a:pt x="29108" y="20180"/>
                  </a:lnTo>
                  <a:lnTo>
                    <a:pt x="38188" y="15798"/>
                  </a:lnTo>
                  <a:lnTo>
                    <a:pt x="22390" y="0"/>
                  </a:lnTo>
                  <a:lnTo>
                    <a:pt x="6019" y="24231"/>
                  </a:lnTo>
                  <a:lnTo>
                    <a:pt x="0" y="53822"/>
                  </a:lnTo>
                  <a:lnTo>
                    <a:pt x="0" y="3073247"/>
                  </a:lnTo>
                  <a:lnTo>
                    <a:pt x="6019" y="3102826"/>
                  </a:lnTo>
                  <a:lnTo>
                    <a:pt x="22390" y="3127057"/>
                  </a:lnTo>
                  <a:lnTo>
                    <a:pt x="46621" y="3143427"/>
                  </a:lnTo>
                  <a:lnTo>
                    <a:pt x="76200" y="3149447"/>
                  </a:lnTo>
                  <a:lnTo>
                    <a:pt x="3735603" y="3149447"/>
                  </a:lnTo>
                  <a:lnTo>
                    <a:pt x="3789413" y="3127057"/>
                  </a:lnTo>
                  <a:lnTo>
                    <a:pt x="3811803" y="3073247"/>
                  </a:lnTo>
                  <a:lnTo>
                    <a:pt x="3811803" y="53822"/>
                  </a:lnTo>
                  <a:close/>
                </a:path>
              </a:pathLst>
            </a:custGeom>
            <a:solidFill>
              <a:srgbClr val="334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0483" y="1346400"/>
              <a:ext cx="3767454" cy="38735"/>
            </a:xfrm>
            <a:custGeom>
              <a:avLst/>
              <a:gdLst/>
              <a:ahLst/>
              <a:cxnLst/>
              <a:rect l="l" t="t" r="r" b="b"/>
              <a:pathLst>
                <a:path w="3767454" h="38734">
                  <a:moveTo>
                    <a:pt x="15801" y="38185"/>
                  </a:moveTo>
                  <a:lnTo>
                    <a:pt x="0" y="22383"/>
                  </a:lnTo>
                  <a:lnTo>
                    <a:pt x="24229" y="6012"/>
                  </a:lnTo>
                  <a:lnTo>
                    <a:pt x="53816" y="0"/>
                  </a:lnTo>
                  <a:lnTo>
                    <a:pt x="3713216" y="0"/>
                  </a:lnTo>
                  <a:lnTo>
                    <a:pt x="3742803" y="6012"/>
                  </a:lnTo>
                  <a:lnTo>
                    <a:pt x="3767032" y="22383"/>
                  </a:lnTo>
                  <a:lnTo>
                    <a:pt x="3760841" y="28575"/>
                  </a:lnTo>
                  <a:lnTo>
                    <a:pt x="53816" y="28575"/>
                  </a:lnTo>
                  <a:lnTo>
                    <a:pt x="27927" y="32332"/>
                  </a:lnTo>
                  <a:lnTo>
                    <a:pt x="15801" y="38185"/>
                  </a:lnTo>
                  <a:close/>
                </a:path>
                <a:path w="3767454" h="38734">
                  <a:moveTo>
                    <a:pt x="3751231" y="38185"/>
                  </a:moveTo>
                  <a:lnTo>
                    <a:pt x="3739105" y="32332"/>
                  </a:lnTo>
                  <a:lnTo>
                    <a:pt x="3713216" y="28575"/>
                  </a:lnTo>
                  <a:lnTo>
                    <a:pt x="3760841" y="28575"/>
                  </a:lnTo>
                  <a:lnTo>
                    <a:pt x="3751231" y="38185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20975" y="1775025"/>
              <a:ext cx="3526154" cy="9525"/>
            </a:xfrm>
            <a:custGeom>
              <a:avLst/>
              <a:gdLst/>
              <a:ahLst/>
              <a:cxnLst/>
              <a:rect l="l" t="t" r="r" b="b"/>
              <a:pathLst>
                <a:path w="3526154" h="9525">
                  <a:moveTo>
                    <a:pt x="3526050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3526050" y="0"/>
                  </a:lnTo>
                  <a:lnTo>
                    <a:pt x="3526050" y="9525"/>
                  </a:lnTo>
                  <a:close/>
                </a:path>
              </a:pathLst>
            </a:custGeom>
            <a:solidFill>
              <a:srgbClr val="334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720974" y="1492693"/>
            <a:ext cx="190055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solidFill>
                  <a:srgbClr val="F49E0A"/>
                </a:solidFill>
                <a:latin typeface="Microsoft Sans Serif"/>
                <a:cs typeface="Microsoft Sans Serif"/>
              </a:rPr>
              <a:t>KETENTUAN</a:t>
            </a:r>
            <a:r>
              <a:rPr sz="1100" dirty="0">
                <a:solidFill>
                  <a:srgbClr val="F49E0A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F49E0A"/>
                </a:solidFill>
                <a:latin typeface="Microsoft Sans Serif"/>
                <a:cs typeface="Microsoft Sans Serif"/>
              </a:rPr>
              <a:t>PELAKSANAAN</a:t>
            </a:r>
            <a:endParaRPr sz="1100">
              <a:latin typeface="Microsoft Sans Serif"/>
              <a:cs typeface="Microsoft Sans Serif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466095" y="1346400"/>
            <a:ext cx="2515870" cy="2200275"/>
            <a:chOff x="4466100" y="1346400"/>
            <a:chExt cx="2515870" cy="2200275"/>
          </a:xfrm>
        </p:grpSpPr>
        <p:sp>
          <p:nvSpPr>
            <p:cNvPr id="13" name="object 13"/>
            <p:cNvSpPr/>
            <p:nvPr/>
          </p:nvSpPr>
          <p:spPr>
            <a:xfrm>
              <a:off x="4466100" y="1346400"/>
              <a:ext cx="2515870" cy="2200275"/>
            </a:xfrm>
            <a:custGeom>
              <a:avLst/>
              <a:gdLst/>
              <a:ahLst/>
              <a:cxnLst/>
              <a:rect l="l" t="t" r="r" b="b"/>
              <a:pathLst>
                <a:path w="2515870" h="2200275">
                  <a:moveTo>
                    <a:pt x="2439600" y="2199768"/>
                  </a:moveTo>
                  <a:lnTo>
                    <a:pt x="76200" y="2199768"/>
                  </a:lnTo>
                  <a:lnTo>
                    <a:pt x="46612" y="2193755"/>
                  </a:lnTo>
                  <a:lnTo>
                    <a:pt x="22383" y="2177384"/>
                  </a:lnTo>
                  <a:lnTo>
                    <a:pt x="6012" y="2153155"/>
                  </a:lnTo>
                  <a:lnTo>
                    <a:pt x="0" y="2123568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2439600" y="0"/>
                  </a:lnTo>
                  <a:lnTo>
                    <a:pt x="2469187" y="6012"/>
                  </a:lnTo>
                  <a:lnTo>
                    <a:pt x="2493416" y="22383"/>
                  </a:lnTo>
                  <a:lnTo>
                    <a:pt x="2509787" y="46612"/>
                  </a:lnTo>
                  <a:lnTo>
                    <a:pt x="2515800" y="76200"/>
                  </a:lnTo>
                  <a:lnTo>
                    <a:pt x="2515800" y="2123568"/>
                  </a:lnTo>
                  <a:lnTo>
                    <a:pt x="2509787" y="2153155"/>
                  </a:lnTo>
                  <a:lnTo>
                    <a:pt x="2493416" y="2177384"/>
                  </a:lnTo>
                  <a:lnTo>
                    <a:pt x="2469187" y="2193755"/>
                  </a:lnTo>
                  <a:lnTo>
                    <a:pt x="2439600" y="2199768"/>
                  </a:lnTo>
                  <a:close/>
                </a:path>
              </a:pathLst>
            </a:custGeom>
            <a:solidFill>
              <a:srgbClr val="1D28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466100" y="1346400"/>
              <a:ext cx="2515870" cy="2200275"/>
            </a:xfrm>
            <a:custGeom>
              <a:avLst/>
              <a:gdLst/>
              <a:ahLst/>
              <a:cxnLst/>
              <a:rect l="l" t="t" r="r" b="b"/>
              <a:pathLst>
                <a:path w="2515870" h="2200275">
                  <a:moveTo>
                    <a:pt x="2439600" y="2199768"/>
                  </a:moveTo>
                  <a:lnTo>
                    <a:pt x="76200" y="2199768"/>
                  </a:lnTo>
                  <a:lnTo>
                    <a:pt x="46612" y="2193755"/>
                  </a:lnTo>
                  <a:lnTo>
                    <a:pt x="22383" y="2177384"/>
                  </a:lnTo>
                  <a:lnTo>
                    <a:pt x="6012" y="2153155"/>
                  </a:lnTo>
                  <a:lnTo>
                    <a:pt x="0" y="2123568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2439600" y="0"/>
                  </a:lnTo>
                  <a:lnTo>
                    <a:pt x="2469187" y="6012"/>
                  </a:lnTo>
                  <a:lnTo>
                    <a:pt x="2474385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2123568"/>
                  </a:lnTo>
                  <a:lnTo>
                    <a:pt x="14786" y="2149456"/>
                  </a:lnTo>
                  <a:lnTo>
                    <a:pt x="29110" y="2170657"/>
                  </a:lnTo>
                  <a:lnTo>
                    <a:pt x="50311" y="2184982"/>
                  </a:lnTo>
                  <a:lnTo>
                    <a:pt x="76200" y="2190243"/>
                  </a:lnTo>
                  <a:lnTo>
                    <a:pt x="2474385" y="2190243"/>
                  </a:lnTo>
                  <a:lnTo>
                    <a:pt x="2469187" y="2193755"/>
                  </a:lnTo>
                  <a:lnTo>
                    <a:pt x="2439600" y="2199768"/>
                  </a:lnTo>
                  <a:close/>
                </a:path>
                <a:path w="2515870" h="2200275">
                  <a:moveTo>
                    <a:pt x="2474385" y="2190243"/>
                  </a:moveTo>
                  <a:lnTo>
                    <a:pt x="2439600" y="2190243"/>
                  </a:lnTo>
                  <a:lnTo>
                    <a:pt x="2465488" y="2184982"/>
                  </a:lnTo>
                  <a:lnTo>
                    <a:pt x="2486689" y="2170657"/>
                  </a:lnTo>
                  <a:lnTo>
                    <a:pt x="2501013" y="2149456"/>
                  </a:lnTo>
                  <a:lnTo>
                    <a:pt x="2506275" y="2123568"/>
                  </a:lnTo>
                  <a:lnTo>
                    <a:pt x="2506275" y="76200"/>
                  </a:lnTo>
                  <a:lnTo>
                    <a:pt x="2501013" y="50311"/>
                  </a:lnTo>
                  <a:lnTo>
                    <a:pt x="2486689" y="29110"/>
                  </a:lnTo>
                  <a:lnTo>
                    <a:pt x="2465488" y="14786"/>
                  </a:lnTo>
                  <a:lnTo>
                    <a:pt x="2439600" y="9525"/>
                  </a:lnTo>
                  <a:lnTo>
                    <a:pt x="2474385" y="9525"/>
                  </a:lnTo>
                  <a:lnTo>
                    <a:pt x="2493416" y="22383"/>
                  </a:lnTo>
                  <a:lnTo>
                    <a:pt x="2509787" y="46612"/>
                  </a:lnTo>
                  <a:lnTo>
                    <a:pt x="2515800" y="76200"/>
                  </a:lnTo>
                  <a:lnTo>
                    <a:pt x="2515800" y="2123568"/>
                  </a:lnTo>
                  <a:lnTo>
                    <a:pt x="2509787" y="2153155"/>
                  </a:lnTo>
                  <a:lnTo>
                    <a:pt x="2493416" y="2177384"/>
                  </a:lnTo>
                  <a:lnTo>
                    <a:pt x="2474385" y="2190243"/>
                  </a:lnTo>
                  <a:close/>
                </a:path>
              </a:pathLst>
            </a:custGeom>
            <a:solidFill>
              <a:srgbClr val="334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4975949" y="1483700"/>
            <a:ext cx="14966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F49E0A"/>
                </a:solidFill>
                <a:latin typeface="Arial"/>
                <a:cs typeface="Arial"/>
              </a:rPr>
              <a:t>TARGET</a:t>
            </a:r>
            <a:r>
              <a:rPr sz="900" b="1" spc="-40" dirty="0">
                <a:solidFill>
                  <a:srgbClr val="F49E0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49E0A"/>
                </a:solidFill>
                <a:latin typeface="Arial"/>
                <a:cs typeface="Arial"/>
              </a:rPr>
              <a:t>RING</a:t>
            </a:r>
            <a:r>
              <a:rPr sz="900" b="1" spc="-35" dirty="0">
                <a:solidFill>
                  <a:srgbClr val="F49E0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49E0A"/>
                </a:solidFill>
                <a:latin typeface="Arial"/>
                <a:cs typeface="Arial"/>
              </a:rPr>
              <a:t>PISTOL</a:t>
            </a:r>
            <a:r>
              <a:rPr sz="900" b="1" spc="-35" dirty="0">
                <a:solidFill>
                  <a:srgbClr val="F49E0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F49E0A"/>
                </a:solidFill>
                <a:latin typeface="Arial"/>
                <a:cs typeface="Arial"/>
              </a:rPr>
              <a:t>20M</a:t>
            </a:r>
            <a:endParaRPr sz="9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78124" y="1921850"/>
            <a:ext cx="8058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CAD4E1"/>
                </a:solidFill>
                <a:latin typeface="Arial"/>
                <a:cs typeface="Arial"/>
              </a:rPr>
              <a:t>Jarak </a:t>
            </a:r>
            <a:r>
              <a:rPr sz="900" b="1" spc="-10" dirty="0">
                <a:solidFill>
                  <a:srgbClr val="CAD4E1"/>
                </a:solidFill>
                <a:latin typeface="Arial"/>
                <a:cs typeface="Arial"/>
              </a:rPr>
              <a:t>Tembak:</a:t>
            </a:r>
            <a:endParaRPr sz="9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011290" y="1921850"/>
            <a:ext cx="4616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CAD4E1"/>
                </a:solidFill>
                <a:latin typeface="Microsoft Sans Serif"/>
                <a:cs typeface="Microsoft Sans Serif"/>
              </a:rPr>
              <a:t>20</a:t>
            </a:r>
            <a:r>
              <a:rPr sz="900" spc="10" dirty="0">
                <a:solidFill>
                  <a:srgbClr val="CAD4E1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CAD4E1"/>
                </a:solidFill>
                <a:latin typeface="Microsoft Sans Serif"/>
                <a:cs typeface="Microsoft Sans Serif"/>
              </a:rPr>
              <a:t>Meter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78124" y="2188550"/>
            <a:ext cx="355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CAD4E1"/>
                </a:solidFill>
                <a:latin typeface="Arial"/>
                <a:cs typeface="Arial"/>
              </a:rPr>
              <a:t>Sikap:</a:t>
            </a:r>
            <a:endParaRPr sz="9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011290" y="2154260"/>
            <a:ext cx="195008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25000"/>
              </a:lnSpc>
              <a:spcBef>
                <a:spcPts val="100"/>
              </a:spcBef>
            </a:pPr>
            <a:r>
              <a:rPr sz="900" dirty="0">
                <a:solidFill>
                  <a:srgbClr val="CAD4E1"/>
                </a:solidFill>
                <a:latin typeface="Microsoft Sans Serif"/>
                <a:cs typeface="Microsoft Sans Serif"/>
              </a:rPr>
              <a:t>Berdiri,</a:t>
            </a:r>
            <a:r>
              <a:rPr sz="900" spc="5" dirty="0">
                <a:solidFill>
                  <a:srgbClr val="CAD4E1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CAD4E1"/>
                </a:solidFill>
                <a:latin typeface="Microsoft Sans Serif"/>
                <a:cs typeface="Microsoft Sans Serif"/>
              </a:rPr>
              <a:t>menembak</a:t>
            </a:r>
            <a:r>
              <a:rPr sz="900" spc="5" dirty="0">
                <a:solidFill>
                  <a:srgbClr val="CAD4E1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CAD4E1"/>
                </a:solidFill>
                <a:latin typeface="Microsoft Sans Serif"/>
                <a:cs typeface="Microsoft Sans Serif"/>
              </a:rPr>
              <a:t>menggunakan</a:t>
            </a:r>
            <a:r>
              <a:rPr sz="900" spc="10" dirty="0">
                <a:solidFill>
                  <a:srgbClr val="CAD4E1"/>
                </a:solidFill>
                <a:latin typeface="Microsoft Sans Serif"/>
                <a:cs typeface="Microsoft Sans Serif"/>
              </a:rPr>
              <a:t> </a:t>
            </a:r>
            <a:r>
              <a:rPr sz="900" spc="-25" dirty="0">
                <a:solidFill>
                  <a:srgbClr val="CAD4E1"/>
                </a:solidFill>
                <a:latin typeface="Microsoft Sans Serif"/>
                <a:cs typeface="Microsoft Sans Serif"/>
              </a:rPr>
              <a:t>dua </a:t>
            </a:r>
            <a:r>
              <a:rPr sz="900" spc="-10" dirty="0">
                <a:solidFill>
                  <a:srgbClr val="CAD4E1"/>
                </a:solidFill>
                <a:latin typeface="Microsoft Sans Serif"/>
                <a:cs typeface="Microsoft Sans Serif"/>
              </a:rPr>
              <a:t>tangan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78124" y="2592410"/>
            <a:ext cx="74930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25000"/>
              </a:lnSpc>
              <a:spcBef>
                <a:spcPts val="100"/>
              </a:spcBef>
            </a:pPr>
            <a:r>
              <a:rPr sz="900" b="1" dirty="0">
                <a:solidFill>
                  <a:srgbClr val="CAD4E1"/>
                </a:solidFill>
                <a:latin typeface="Arial"/>
                <a:cs typeface="Arial"/>
              </a:rPr>
              <a:t>Tinggi</a:t>
            </a:r>
            <a:r>
              <a:rPr sz="900" b="1" spc="-35" dirty="0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CAD4E1"/>
                </a:solidFill>
                <a:latin typeface="Arial"/>
                <a:cs typeface="Arial"/>
              </a:rPr>
              <a:t>Center Target:</a:t>
            </a:r>
            <a:endParaRPr sz="9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011290" y="2626700"/>
            <a:ext cx="3879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CAD4E1"/>
                </a:solidFill>
                <a:latin typeface="Microsoft Sans Serif"/>
                <a:cs typeface="Microsoft Sans Serif"/>
              </a:rPr>
              <a:t>140</a:t>
            </a:r>
            <a:r>
              <a:rPr sz="900" spc="10" dirty="0">
                <a:solidFill>
                  <a:srgbClr val="CAD4E1"/>
                </a:solidFill>
                <a:latin typeface="Microsoft Sans Serif"/>
                <a:cs typeface="Microsoft Sans Serif"/>
              </a:rPr>
              <a:t> </a:t>
            </a:r>
            <a:r>
              <a:rPr sz="900" spc="-25" dirty="0">
                <a:solidFill>
                  <a:srgbClr val="CAD4E1"/>
                </a:solidFill>
                <a:latin typeface="Microsoft Sans Serif"/>
                <a:cs typeface="Microsoft Sans Serif"/>
              </a:rPr>
              <a:t>cm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78124" y="3064850"/>
            <a:ext cx="4965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CAD4E1"/>
                </a:solidFill>
                <a:latin typeface="Arial"/>
                <a:cs typeface="Arial"/>
              </a:rPr>
              <a:t>Sasaran:</a:t>
            </a:r>
            <a:endParaRPr sz="9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011290" y="3064850"/>
            <a:ext cx="16465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CAD4E1"/>
                </a:solidFill>
                <a:latin typeface="Microsoft Sans Serif"/>
                <a:cs typeface="Microsoft Sans Serif"/>
              </a:rPr>
              <a:t>1</a:t>
            </a:r>
            <a:r>
              <a:rPr sz="900" spc="-15" dirty="0">
                <a:solidFill>
                  <a:srgbClr val="CAD4E1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CAD4E1"/>
                </a:solidFill>
                <a:latin typeface="Microsoft Sans Serif"/>
                <a:cs typeface="Microsoft Sans Serif"/>
              </a:rPr>
              <a:t>Lesan Ring Pistol</a:t>
            </a:r>
            <a:r>
              <a:rPr sz="900" spc="-5" dirty="0">
                <a:solidFill>
                  <a:srgbClr val="CAD4E1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CAD4E1"/>
                </a:solidFill>
                <a:latin typeface="Microsoft Sans Serif"/>
                <a:cs typeface="Microsoft Sans Serif"/>
              </a:rPr>
              <a:t>(Nilai 1 - </a:t>
            </a:r>
            <a:r>
              <a:rPr sz="900" spc="-25" dirty="0">
                <a:solidFill>
                  <a:srgbClr val="CAD4E1"/>
                </a:solidFill>
                <a:latin typeface="Microsoft Sans Serif"/>
                <a:cs typeface="Microsoft Sans Serif"/>
              </a:rPr>
              <a:t>10)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092486" y="3226536"/>
            <a:ext cx="12636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93A3B8"/>
                </a:solidFill>
                <a:latin typeface="Microsoft Sans Serif"/>
                <a:cs typeface="Microsoft Sans Serif"/>
              </a:rPr>
              <a:t>Ring</a:t>
            </a:r>
            <a:r>
              <a:rPr sz="800" spc="-20" dirty="0">
                <a:solidFill>
                  <a:srgbClr val="93A3B8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93A3B8"/>
                </a:solidFill>
                <a:latin typeface="Microsoft Sans Serif"/>
                <a:cs typeface="Microsoft Sans Serif"/>
              </a:rPr>
              <a:t>Nilai</a:t>
            </a:r>
            <a:r>
              <a:rPr sz="800" spc="-15" dirty="0">
                <a:solidFill>
                  <a:srgbClr val="93A3B8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93A3B8"/>
                </a:solidFill>
                <a:latin typeface="Microsoft Sans Serif"/>
                <a:cs typeface="Microsoft Sans Serif"/>
              </a:rPr>
              <a:t>1</a:t>
            </a:r>
            <a:r>
              <a:rPr sz="800" spc="-15" dirty="0">
                <a:solidFill>
                  <a:srgbClr val="93A3B8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93A3B8"/>
                </a:solidFill>
                <a:latin typeface="Microsoft Sans Serif"/>
                <a:cs typeface="Microsoft Sans Serif"/>
              </a:rPr>
              <a:t>-</a:t>
            </a:r>
            <a:r>
              <a:rPr sz="800" spc="-20" dirty="0">
                <a:solidFill>
                  <a:srgbClr val="93A3B8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93A3B8"/>
                </a:solidFill>
                <a:latin typeface="Microsoft Sans Serif"/>
                <a:cs typeface="Microsoft Sans Serif"/>
              </a:rPr>
              <a:t>10</a:t>
            </a:r>
            <a:r>
              <a:rPr sz="800" spc="-15" dirty="0">
                <a:solidFill>
                  <a:srgbClr val="93A3B8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93A3B8"/>
                </a:solidFill>
                <a:latin typeface="Microsoft Sans Serif"/>
                <a:cs typeface="Microsoft Sans Serif"/>
              </a:rPr>
              <a:t>+</a:t>
            </a:r>
            <a:r>
              <a:rPr sz="800" spc="-15" dirty="0">
                <a:solidFill>
                  <a:srgbClr val="93A3B8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93A3B8"/>
                </a:solidFill>
                <a:latin typeface="Microsoft Sans Serif"/>
                <a:cs typeface="Microsoft Sans Serif"/>
              </a:rPr>
              <a:t>Center</a:t>
            </a:r>
            <a:r>
              <a:rPr sz="800" spc="-20" dirty="0">
                <a:solidFill>
                  <a:srgbClr val="93A3B8"/>
                </a:solidFill>
                <a:latin typeface="Microsoft Sans Serif"/>
                <a:cs typeface="Microsoft Sans Serif"/>
              </a:rPr>
              <a:t> </a:t>
            </a:r>
            <a:r>
              <a:rPr sz="800" spc="-50" dirty="0">
                <a:solidFill>
                  <a:srgbClr val="93A3B8"/>
                </a:solidFill>
                <a:latin typeface="Microsoft Sans Serif"/>
                <a:cs typeface="Microsoft Sans Serif"/>
              </a:rPr>
              <a:t>X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78124" y="3331550"/>
            <a:ext cx="8432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CAD4E1"/>
                </a:solidFill>
                <a:latin typeface="Arial"/>
                <a:cs typeface="Arial"/>
              </a:rPr>
              <a:t>Total</a:t>
            </a:r>
            <a:r>
              <a:rPr sz="900" b="1" spc="-25" dirty="0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CAD4E1"/>
                </a:solidFill>
                <a:latin typeface="Arial"/>
                <a:cs typeface="Arial"/>
              </a:rPr>
              <a:t>Nilai</a:t>
            </a:r>
            <a:r>
              <a:rPr sz="900" b="1" spc="-25" dirty="0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CAD4E1"/>
                </a:solidFill>
                <a:latin typeface="Arial"/>
                <a:cs typeface="Arial"/>
              </a:rPr>
              <a:t>Max:</a:t>
            </a:r>
            <a:endParaRPr sz="9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011290" y="3331550"/>
            <a:ext cx="3625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CAD4E1"/>
                </a:solidFill>
                <a:latin typeface="Microsoft Sans Serif"/>
                <a:cs typeface="Microsoft Sans Serif"/>
              </a:rPr>
              <a:t>100.10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78124" y="3598250"/>
            <a:ext cx="50228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CAD4E1"/>
                </a:solidFill>
                <a:latin typeface="Arial"/>
                <a:cs typeface="Arial"/>
              </a:rPr>
              <a:t>Amunisi:</a:t>
            </a:r>
            <a:endParaRPr sz="9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011290" y="3598250"/>
            <a:ext cx="13430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CAD4E1"/>
                </a:solidFill>
                <a:latin typeface="Microsoft Sans Serif"/>
                <a:cs typeface="Microsoft Sans Serif"/>
              </a:rPr>
              <a:t>13</a:t>
            </a:r>
            <a:r>
              <a:rPr sz="900" spc="5" dirty="0">
                <a:solidFill>
                  <a:srgbClr val="CAD4E1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CAD4E1"/>
                </a:solidFill>
                <a:latin typeface="Microsoft Sans Serif"/>
                <a:cs typeface="Microsoft Sans Serif"/>
              </a:rPr>
              <a:t>Butir</a:t>
            </a:r>
            <a:r>
              <a:rPr sz="900" spc="5" dirty="0">
                <a:solidFill>
                  <a:srgbClr val="CAD4E1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CAD4E1"/>
                </a:solidFill>
                <a:latin typeface="Microsoft Sans Serif"/>
                <a:cs typeface="Microsoft Sans Serif"/>
              </a:rPr>
              <a:t>dalam</a:t>
            </a:r>
            <a:r>
              <a:rPr sz="900" spc="5" dirty="0">
                <a:solidFill>
                  <a:srgbClr val="CAD4E1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CAD4E1"/>
                </a:solidFill>
                <a:latin typeface="Microsoft Sans Serif"/>
                <a:cs typeface="Microsoft Sans Serif"/>
              </a:rPr>
              <a:t>2</a:t>
            </a:r>
            <a:r>
              <a:rPr sz="900" spc="10" dirty="0">
                <a:solidFill>
                  <a:srgbClr val="CAD4E1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CAD4E1"/>
                </a:solidFill>
                <a:latin typeface="Microsoft Sans Serif"/>
                <a:cs typeface="Microsoft Sans Serif"/>
              </a:rPr>
              <a:t>Magazen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78124" y="3864950"/>
            <a:ext cx="6661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1120" indent="-71120">
              <a:lnSpc>
                <a:spcPct val="100000"/>
              </a:lnSpc>
              <a:spcBef>
                <a:spcPts val="100"/>
              </a:spcBef>
              <a:buChar char="•"/>
              <a:tabLst>
                <a:tab pos="71120" algn="l"/>
              </a:tabLst>
            </a:pPr>
            <a:r>
              <a:rPr sz="900" spc="-10" dirty="0">
                <a:solidFill>
                  <a:srgbClr val="CAD4E1"/>
                </a:solidFill>
                <a:latin typeface="Microsoft Sans Serif"/>
                <a:cs typeface="Microsoft Sans Serif"/>
              </a:rPr>
              <a:t>Percobaan: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011290" y="3864950"/>
            <a:ext cx="11791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CAD4E1"/>
                </a:solidFill>
                <a:latin typeface="Microsoft Sans Serif"/>
                <a:cs typeface="Microsoft Sans Serif"/>
              </a:rPr>
              <a:t>3</a:t>
            </a:r>
            <a:r>
              <a:rPr sz="900" spc="-5" dirty="0">
                <a:solidFill>
                  <a:srgbClr val="CAD4E1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CAD4E1"/>
                </a:solidFill>
                <a:latin typeface="Microsoft Sans Serif"/>
                <a:cs typeface="Microsoft Sans Serif"/>
              </a:rPr>
              <a:t>Butir (Waktu 1</a:t>
            </a:r>
            <a:r>
              <a:rPr sz="900" spc="-5" dirty="0">
                <a:solidFill>
                  <a:srgbClr val="CAD4E1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CAD4E1"/>
                </a:solidFill>
                <a:latin typeface="Microsoft Sans Serif"/>
                <a:cs typeface="Microsoft Sans Serif"/>
              </a:rPr>
              <a:t>Menit)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78124" y="4131650"/>
            <a:ext cx="5880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1120" indent="-71120">
              <a:lnSpc>
                <a:spcPct val="100000"/>
              </a:lnSpc>
              <a:spcBef>
                <a:spcPts val="100"/>
              </a:spcBef>
              <a:buChar char="•"/>
              <a:tabLst>
                <a:tab pos="71120" algn="l"/>
              </a:tabLst>
            </a:pPr>
            <a:r>
              <a:rPr sz="900" dirty="0">
                <a:solidFill>
                  <a:srgbClr val="CAD4E1"/>
                </a:solidFill>
                <a:latin typeface="Microsoft Sans Serif"/>
                <a:cs typeface="Microsoft Sans Serif"/>
              </a:rPr>
              <a:t>Slow</a:t>
            </a:r>
            <a:r>
              <a:rPr sz="900" spc="-15" dirty="0">
                <a:solidFill>
                  <a:srgbClr val="CAD4E1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CAD4E1"/>
                </a:solidFill>
                <a:latin typeface="Microsoft Sans Serif"/>
                <a:cs typeface="Microsoft Sans Serif"/>
              </a:rPr>
              <a:t>Fire: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011290" y="4131650"/>
            <a:ext cx="12426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CAD4E1"/>
                </a:solidFill>
                <a:latin typeface="Microsoft Sans Serif"/>
                <a:cs typeface="Microsoft Sans Serif"/>
              </a:rPr>
              <a:t>10</a:t>
            </a:r>
            <a:r>
              <a:rPr sz="900" spc="-5" dirty="0">
                <a:solidFill>
                  <a:srgbClr val="CAD4E1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CAD4E1"/>
                </a:solidFill>
                <a:latin typeface="Microsoft Sans Serif"/>
                <a:cs typeface="Microsoft Sans Serif"/>
              </a:rPr>
              <a:t>Butir (Waktu 3</a:t>
            </a:r>
            <a:r>
              <a:rPr sz="900" spc="-5" dirty="0">
                <a:solidFill>
                  <a:srgbClr val="CAD4E1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CAD4E1"/>
                </a:solidFill>
                <a:latin typeface="Microsoft Sans Serif"/>
                <a:cs typeface="Microsoft Sans Serif"/>
              </a:rPr>
              <a:t>Menit)</a:t>
            </a:r>
            <a:endParaRPr sz="900">
              <a:latin typeface="Microsoft Sans Serif"/>
              <a:cs typeface="Microsoft Sans Serif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78100" y="4661100"/>
            <a:ext cx="3811904" cy="2790190"/>
            <a:chOff x="578100" y="4661100"/>
            <a:chExt cx="3811904" cy="2790190"/>
          </a:xfrm>
        </p:grpSpPr>
        <p:sp>
          <p:nvSpPr>
            <p:cNvPr id="8" name="object 8"/>
            <p:cNvSpPr/>
            <p:nvPr/>
          </p:nvSpPr>
          <p:spPr>
            <a:xfrm>
              <a:off x="578100" y="4661100"/>
              <a:ext cx="3811904" cy="2790190"/>
            </a:xfrm>
            <a:custGeom>
              <a:avLst/>
              <a:gdLst/>
              <a:ahLst/>
              <a:cxnLst/>
              <a:rect l="l" t="t" r="r" b="b"/>
              <a:pathLst>
                <a:path w="3811904" h="2790190">
                  <a:moveTo>
                    <a:pt x="3735600" y="2790175"/>
                  </a:moveTo>
                  <a:lnTo>
                    <a:pt x="76200" y="2790175"/>
                  </a:lnTo>
                  <a:lnTo>
                    <a:pt x="46612" y="2784162"/>
                  </a:lnTo>
                  <a:lnTo>
                    <a:pt x="22383" y="2767791"/>
                  </a:lnTo>
                  <a:lnTo>
                    <a:pt x="6012" y="2743562"/>
                  </a:lnTo>
                  <a:lnTo>
                    <a:pt x="0" y="2713975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3735600" y="0"/>
                  </a:lnTo>
                  <a:lnTo>
                    <a:pt x="3765187" y="6012"/>
                  </a:lnTo>
                  <a:lnTo>
                    <a:pt x="3789416" y="22383"/>
                  </a:lnTo>
                  <a:lnTo>
                    <a:pt x="3805787" y="46612"/>
                  </a:lnTo>
                  <a:lnTo>
                    <a:pt x="3811800" y="76200"/>
                  </a:lnTo>
                  <a:lnTo>
                    <a:pt x="3811800" y="2713975"/>
                  </a:lnTo>
                  <a:lnTo>
                    <a:pt x="3805787" y="2743562"/>
                  </a:lnTo>
                  <a:lnTo>
                    <a:pt x="3789416" y="2767791"/>
                  </a:lnTo>
                  <a:lnTo>
                    <a:pt x="3765187" y="2784162"/>
                  </a:lnTo>
                  <a:lnTo>
                    <a:pt x="3735600" y="2790175"/>
                  </a:lnTo>
                  <a:close/>
                </a:path>
              </a:pathLst>
            </a:custGeom>
            <a:solidFill>
              <a:srgbClr val="1D28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8091" y="4683489"/>
              <a:ext cx="3811904" cy="2767965"/>
            </a:xfrm>
            <a:custGeom>
              <a:avLst/>
              <a:gdLst/>
              <a:ahLst/>
              <a:cxnLst/>
              <a:rect l="l" t="t" r="r" b="b"/>
              <a:pathLst>
                <a:path w="3811904" h="2767965">
                  <a:moveTo>
                    <a:pt x="3811803" y="53822"/>
                  </a:moveTo>
                  <a:lnTo>
                    <a:pt x="3805796" y="24231"/>
                  </a:lnTo>
                  <a:lnTo>
                    <a:pt x="3789413" y="0"/>
                  </a:lnTo>
                  <a:lnTo>
                    <a:pt x="3773614" y="15798"/>
                  </a:lnTo>
                  <a:lnTo>
                    <a:pt x="3782695" y="20180"/>
                  </a:lnTo>
                  <a:lnTo>
                    <a:pt x="3797020" y="35318"/>
                  </a:lnTo>
                  <a:lnTo>
                    <a:pt x="3802278" y="53822"/>
                  </a:lnTo>
                  <a:lnTo>
                    <a:pt x="3802278" y="2691587"/>
                  </a:lnTo>
                  <a:lnTo>
                    <a:pt x="3797020" y="2717482"/>
                  </a:lnTo>
                  <a:lnTo>
                    <a:pt x="3782695" y="2738678"/>
                  </a:lnTo>
                  <a:lnTo>
                    <a:pt x="3761486" y="2753004"/>
                  </a:lnTo>
                  <a:lnTo>
                    <a:pt x="3735603" y="2758262"/>
                  </a:lnTo>
                  <a:lnTo>
                    <a:pt x="76200" y="2758262"/>
                  </a:lnTo>
                  <a:lnTo>
                    <a:pt x="50317" y="2753004"/>
                  </a:lnTo>
                  <a:lnTo>
                    <a:pt x="29108" y="2738678"/>
                  </a:lnTo>
                  <a:lnTo>
                    <a:pt x="14782" y="2717482"/>
                  </a:lnTo>
                  <a:lnTo>
                    <a:pt x="9525" y="2691587"/>
                  </a:lnTo>
                  <a:lnTo>
                    <a:pt x="9525" y="53822"/>
                  </a:lnTo>
                  <a:lnTo>
                    <a:pt x="14782" y="35318"/>
                  </a:lnTo>
                  <a:lnTo>
                    <a:pt x="29108" y="20180"/>
                  </a:lnTo>
                  <a:lnTo>
                    <a:pt x="38188" y="15798"/>
                  </a:lnTo>
                  <a:lnTo>
                    <a:pt x="22390" y="0"/>
                  </a:lnTo>
                  <a:lnTo>
                    <a:pt x="6019" y="24231"/>
                  </a:lnTo>
                  <a:lnTo>
                    <a:pt x="0" y="53822"/>
                  </a:lnTo>
                  <a:lnTo>
                    <a:pt x="0" y="2691587"/>
                  </a:lnTo>
                  <a:lnTo>
                    <a:pt x="6019" y="2721178"/>
                  </a:lnTo>
                  <a:lnTo>
                    <a:pt x="22390" y="2745409"/>
                  </a:lnTo>
                  <a:lnTo>
                    <a:pt x="46621" y="2761780"/>
                  </a:lnTo>
                  <a:lnTo>
                    <a:pt x="76200" y="2767787"/>
                  </a:lnTo>
                  <a:lnTo>
                    <a:pt x="3735603" y="2767787"/>
                  </a:lnTo>
                  <a:lnTo>
                    <a:pt x="3765194" y="2761780"/>
                  </a:lnTo>
                  <a:lnTo>
                    <a:pt x="3770388" y="2758262"/>
                  </a:lnTo>
                  <a:lnTo>
                    <a:pt x="3789413" y="2745409"/>
                  </a:lnTo>
                  <a:lnTo>
                    <a:pt x="3805796" y="2721178"/>
                  </a:lnTo>
                  <a:lnTo>
                    <a:pt x="3811803" y="2691587"/>
                  </a:lnTo>
                  <a:lnTo>
                    <a:pt x="3811803" y="53822"/>
                  </a:lnTo>
                  <a:close/>
                </a:path>
              </a:pathLst>
            </a:custGeom>
            <a:solidFill>
              <a:srgbClr val="334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00483" y="4661100"/>
              <a:ext cx="3767454" cy="38735"/>
            </a:xfrm>
            <a:custGeom>
              <a:avLst/>
              <a:gdLst/>
              <a:ahLst/>
              <a:cxnLst/>
              <a:rect l="l" t="t" r="r" b="b"/>
              <a:pathLst>
                <a:path w="3767454" h="38735">
                  <a:moveTo>
                    <a:pt x="15801" y="38185"/>
                  </a:moveTo>
                  <a:lnTo>
                    <a:pt x="0" y="22383"/>
                  </a:lnTo>
                  <a:lnTo>
                    <a:pt x="24229" y="6012"/>
                  </a:lnTo>
                  <a:lnTo>
                    <a:pt x="53816" y="0"/>
                  </a:lnTo>
                  <a:lnTo>
                    <a:pt x="3713216" y="0"/>
                  </a:lnTo>
                  <a:lnTo>
                    <a:pt x="3742803" y="6012"/>
                  </a:lnTo>
                  <a:lnTo>
                    <a:pt x="3767032" y="22383"/>
                  </a:lnTo>
                  <a:lnTo>
                    <a:pt x="3760841" y="28575"/>
                  </a:lnTo>
                  <a:lnTo>
                    <a:pt x="53816" y="28575"/>
                  </a:lnTo>
                  <a:lnTo>
                    <a:pt x="27927" y="32332"/>
                  </a:lnTo>
                  <a:lnTo>
                    <a:pt x="15801" y="38185"/>
                  </a:lnTo>
                  <a:close/>
                </a:path>
                <a:path w="3767454" h="38735">
                  <a:moveTo>
                    <a:pt x="3751231" y="38185"/>
                  </a:moveTo>
                  <a:lnTo>
                    <a:pt x="3739105" y="32332"/>
                  </a:lnTo>
                  <a:lnTo>
                    <a:pt x="3713216" y="28575"/>
                  </a:lnTo>
                  <a:lnTo>
                    <a:pt x="3760841" y="28575"/>
                  </a:lnTo>
                  <a:lnTo>
                    <a:pt x="3751231" y="38185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0975" y="5089725"/>
              <a:ext cx="3526154" cy="9525"/>
            </a:xfrm>
            <a:custGeom>
              <a:avLst/>
              <a:gdLst/>
              <a:ahLst/>
              <a:cxnLst/>
              <a:rect l="l" t="t" r="r" b="b"/>
              <a:pathLst>
                <a:path w="3526154" h="9525">
                  <a:moveTo>
                    <a:pt x="3526050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3526050" y="0"/>
                  </a:lnTo>
                  <a:lnTo>
                    <a:pt x="3526050" y="9525"/>
                  </a:lnTo>
                  <a:close/>
                </a:path>
              </a:pathLst>
            </a:custGeom>
            <a:solidFill>
              <a:srgbClr val="334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4466100" y="3689043"/>
            <a:ext cx="2515870" cy="2524125"/>
            <a:chOff x="4466100" y="3689043"/>
            <a:chExt cx="2515870" cy="2524125"/>
          </a:xfrm>
        </p:grpSpPr>
        <p:sp>
          <p:nvSpPr>
            <p:cNvPr id="16" name="object 16"/>
            <p:cNvSpPr/>
            <p:nvPr/>
          </p:nvSpPr>
          <p:spPr>
            <a:xfrm>
              <a:off x="4466100" y="3689043"/>
              <a:ext cx="2515870" cy="2524125"/>
            </a:xfrm>
            <a:custGeom>
              <a:avLst/>
              <a:gdLst/>
              <a:ahLst/>
              <a:cxnLst/>
              <a:rect l="l" t="t" r="r" b="b"/>
              <a:pathLst>
                <a:path w="2515870" h="2524125">
                  <a:moveTo>
                    <a:pt x="2439600" y="2524125"/>
                  </a:moveTo>
                  <a:lnTo>
                    <a:pt x="76200" y="2524125"/>
                  </a:lnTo>
                  <a:lnTo>
                    <a:pt x="46612" y="2518112"/>
                  </a:lnTo>
                  <a:lnTo>
                    <a:pt x="22383" y="2501741"/>
                  </a:lnTo>
                  <a:lnTo>
                    <a:pt x="6012" y="2477512"/>
                  </a:lnTo>
                  <a:lnTo>
                    <a:pt x="0" y="2447925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2439600" y="0"/>
                  </a:lnTo>
                  <a:lnTo>
                    <a:pt x="2469187" y="6012"/>
                  </a:lnTo>
                  <a:lnTo>
                    <a:pt x="2493416" y="22383"/>
                  </a:lnTo>
                  <a:lnTo>
                    <a:pt x="2509787" y="46612"/>
                  </a:lnTo>
                  <a:lnTo>
                    <a:pt x="2515800" y="76200"/>
                  </a:lnTo>
                  <a:lnTo>
                    <a:pt x="2515800" y="2447925"/>
                  </a:lnTo>
                  <a:lnTo>
                    <a:pt x="2509787" y="2477512"/>
                  </a:lnTo>
                  <a:lnTo>
                    <a:pt x="2493416" y="2501741"/>
                  </a:lnTo>
                  <a:lnTo>
                    <a:pt x="2469187" y="2518112"/>
                  </a:lnTo>
                  <a:lnTo>
                    <a:pt x="2439600" y="2524125"/>
                  </a:lnTo>
                  <a:close/>
                </a:path>
              </a:pathLst>
            </a:custGeom>
            <a:solidFill>
              <a:srgbClr val="1D28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466095" y="3711431"/>
              <a:ext cx="2515870" cy="2501900"/>
            </a:xfrm>
            <a:custGeom>
              <a:avLst/>
              <a:gdLst/>
              <a:ahLst/>
              <a:cxnLst/>
              <a:rect l="l" t="t" r="r" b="b"/>
              <a:pathLst>
                <a:path w="2515870" h="2501900">
                  <a:moveTo>
                    <a:pt x="2515793" y="53822"/>
                  </a:moveTo>
                  <a:lnTo>
                    <a:pt x="2509786" y="24231"/>
                  </a:lnTo>
                  <a:lnTo>
                    <a:pt x="2493416" y="0"/>
                  </a:lnTo>
                  <a:lnTo>
                    <a:pt x="2477617" y="15798"/>
                  </a:lnTo>
                  <a:lnTo>
                    <a:pt x="2486685" y="20180"/>
                  </a:lnTo>
                  <a:lnTo>
                    <a:pt x="2501011" y="35331"/>
                  </a:lnTo>
                  <a:lnTo>
                    <a:pt x="2506268" y="53822"/>
                  </a:lnTo>
                  <a:lnTo>
                    <a:pt x="2506268" y="2425547"/>
                  </a:lnTo>
                  <a:lnTo>
                    <a:pt x="2501011" y="2451430"/>
                  </a:lnTo>
                  <a:lnTo>
                    <a:pt x="2486685" y="2472626"/>
                  </a:lnTo>
                  <a:lnTo>
                    <a:pt x="2465489" y="2486952"/>
                  </a:lnTo>
                  <a:lnTo>
                    <a:pt x="2439593" y="2492222"/>
                  </a:lnTo>
                  <a:lnTo>
                    <a:pt x="76200" y="2492222"/>
                  </a:lnTo>
                  <a:lnTo>
                    <a:pt x="50304" y="2486952"/>
                  </a:lnTo>
                  <a:lnTo>
                    <a:pt x="29108" y="2472626"/>
                  </a:lnTo>
                  <a:lnTo>
                    <a:pt x="14782" y="2451430"/>
                  </a:lnTo>
                  <a:lnTo>
                    <a:pt x="9525" y="2425547"/>
                  </a:lnTo>
                  <a:lnTo>
                    <a:pt x="9525" y="53822"/>
                  </a:lnTo>
                  <a:lnTo>
                    <a:pt x="14782" y="35331"/>
                  </a:lnTo>
                  <a:lnTo>
                    <a:pt x="29108" y="20180"/>
                  </a:lnTo>
                  <a:lnTo>
                    <a:pt x="38188" y="15798"/>
                  </a:lnTo>
                  <a:lnTo>
                    <a:pt x="22377" y="0"/>
                  </a:lnTo>
                  <a:lnTo>
                    <a:pt x="6007" y="24231"/>
                  </a:lnTo>
                  <a:lnTo>
                    <a:pt x="0" y="53822"/>
                  </a:lnTo>
                  <a:lnTo>
                    <a:pt x="0" y="2425547"/>
                  </a:lnTo>
                  <a:lnTo>
                    <a:pt x="6007" y="2455126"/>
                  </a:lnTo>
                  <a:lnTo>
                    <a:pt x="22377" y="2479357"/>
                  </a:lnTo>
                  <a:lnTo>
                    <a:pt x="46609" y="2495727"/>
                  </a:lnTo>
                  <a:lnTo>
                    <a:pt x="76200" y="2501747"/>
                  </a:lnTo>
                  <a:lnTo>
                    <a:pt x="2439593" y="2501747"/>
                  </a:lnTo>
                  <a:lnTo>
                    <a:pt x="2493416" y="2479357"/>
                  </a:lnTo>
                  <a:lnTo>
                    <a:pt x="2515793" y="2425547"/>
                  </a:lnTo>
                  <a:lnTo>
                    <a:pt x="2515793" y="53822"/>
                  </a:lnTo>
                  <a:close/>
                </a:path>
              </a:pathLst>
            </a:custGeom>
            <a:solidFill>
              <a:srgbClr val="334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88484" y="3689043"/>
              <a:ext cx="2471420" cy="38735"/>
            </a:xfrm>
            <a:custGeom>
              <a:avLst/>
              <a:gdLst/>
              <a:ahLst/>
              <a:cxnLst/>
              <a:rect l="l" t="t" r="r" b="b"/>
              <a:pathLst>
                <a:path w="2471420" h="38735">
                  <a:moveTo>
                    <a:pt x="15801" y="38185"/>
                  </a:moveTo>
                  <a:lnTo>
                    <a:pt x="0" y="22383"/>
                  </a:lnTo>
                  <a:lnTo>
                    <a:pt x="24229" y="6012"/>
                  </a:lnTo>
                  <a:lnTo>
                    <a:pt x="53816" y="0"/>
                  </a:lnTo>
                  <a:lnTo>
                    <a:pt x="2417216" y="0"/>
                  </a:lnTo>
                  <a:lnTo>
                    <a:pt x="2446803" y="6012"/>
                  </a:lnTo>
                  <a:lnTo>
                    <a:pt x="2471032" y="22383"/>
                  </a:lnTo>
                  <a:lnTo>
                    <a:pt x="2464841" y="28575"/>
                  </a:lnTo>
                  <a:lnTo>
                    <a:pt x="53816" y="28575"/>
                  </a:lnTo>
                  <a:lnTo>
                    <a:pt x="27927" y="32332"/>
                  </a:lnTo>
                  <a:lnTo>
                    <a:pt x="15801" y="38185"/>
                  </a:lnTo>
                  <a:close/>
                </a:path>
                <a:path w="2471420" h="38735">
                  <a:moveTo>
                    <a:pt x="2455231" y="38185"/>
                  </a:moveTo>
                  <a:lnTo>
                    <a:pt x="2443105" y="32332"/>
                  </a:lnTo>
                  <a:lnTo>
                    <a:pt x="2417216" y="28575"/>
                  </a:lnTo>
                  <a:lnTo>
                    <a:pt x="2464841" y="28575"/>
                  </a:lnTo>
                  <a:lnTo>
                    <a:pt x="2455231" y="38185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608975" y="4117668"/>
              <a:ext cx="2230120" cy="9525"/>
            </a:xfrm>
            <a:custGeom>
              <a:avLst/>
              <a:gdLst/>
              <a:ahLst/>
              <a:cxnLst/>
              <a:rect l="l" t="t" r="r" b="b"/>
              <a:pathLst>
                <a:path w="2230120" h="9525">
                  <a:moveTo>
                    <a:pt x="2230050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2230050" y="0"/>
                  </a:lnTo>
                  <a:lnTo>
                    <a:pt x="2230050" y="9525"/>
                  </a:lnTo>
                  <a:close/>
                </a:path>
              </a:pathLst>
            </a:custGeom>
            <a:solidFill>
              <a:srgbClr val="334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4504285" y="3835336"/>
            <a:ext cx="2439670" cy="2156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F49E0A"/>
                </a:solidFill>
                <a:latin typeface="Microsoft Sans Serif"/>
                <a:cs typeface="Microsoft Sans Serif"/>
              </a:rPr>
              <a:t>METODE</a:t>
            </a:r>
            <a:r>
              <a:rPr sz="1100" spc="-20" dirty="0">
                <a:solidFill>
                  <a:srgbClr val="F49E0A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F49E0A"/>
                </a:solidFill>
                <a:latin typeface="Microsoft Sans Serif"/>
                <a:cs typeface="Microsoft Sans Serif"/>
              </a:rPr>
              <a:t>PENILAIAN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100">
              <a:latin typeface="Microsoft Sans Serif"/>
              <a:cs typeface="Microsoft Sans Serif"/>
            </a:endParaRPr>
          </a:p>
          <a:p>
            <a:pPr marL="275590" marR="269875" indent="-67945">
              <a:lnSpc>
                <a:spcPct val="125000"/>
              </a:lnSpc>
              <a:buChar char="•"/>
              <a:tabLst>
                <a:tab pos="275590" algn="l"/>
              </a:tabLst>
            </a:pP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Jumlah</a:t>
            </a:r>
            <a:r>
              <a:rPr sz="850" spc="-1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perkenaan</a:t>
            </a:r>
            <a:r>
              <a:rPr sz="850" spc="-1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ring</a:t>
            </a:r>
            <a:r>
              <a:rPr sz="850" spc="-1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1-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10</a:t>
            </a:r>
            <a:r>
              <a:rPr sz="850" spc="-1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(X</a:t>
            </a:r>
            <a:r>
              <a:rPr sz="850" spc="-1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sebagai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penentu</a:t>
            </a:r>
            <a:r>
              <a:rPr sz="850" spc="-3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jika</a:t>
            </a:r>
            <a:r>
              <a:rPr sz="850" spc="-3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nilai</a:t>
            </a:r>
            <a:r>
              <a:rPr sz="850" spc="-3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sama).</a:t>
            </a:r>
            <a:endParaRPr sz="850">
              <a:latin typeface="Microsoft Sans Serif"/>
              <a:cs typeface="Microsoft Sans Serif"/>
            </a:endParaRPr>
          </a:p>
          <a:p>
            <a:pPr marL="275590" marR="137795" indent="-67945">
              <a:lnSpc>
                <a:spcPct val="125000"/>
              </a:lnSpc>
              <a:spcBef>
                <a:spcPts val="450"/>
              </a:spcBef>
              <a:buFont typeface="Microsoft Sans Serif"/>
              <a:buChar char="•"/>
              <a:tabLst>
                <a:tab pos="275590" algn="l"/>
              </a:tabLst>
            </a:pPr>
            <a:r>
              <a:rPr sz="850" b="1" spc="-10" dirty="0">
                <a:solidFill>
                  <a:srgbClr val="F7F9FB"/>
                </a:solidFill>
                <a:latin typeface="Arial"/>
                <a:cs typeface="Arial"/>
              </a:rPr>
              <a:t>Kelebihan</a:t>
            </a:r>
            <a:r>
              <a:rPr sz="850" b="1" spc="25" dirty="0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sz="850" b="1" spc="-10" dirty="0">
                <a:solidFill>
                  <a:srgbClr val="F7F9FB"/>
                </a:solidFill>
                <a:latin typeface="Arial"/>
                <a:cs typeface="Arial"/>
              </a:rPr>
              <a:t>perkenaan:</a:t>
            </a:r>
            <a:r>
              <a:rPr sz="850" b="1" spc="30" dirty="0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Dikurangi</a:t>
            </a:r>
            <a:r>
              <a:rPr sz="850" spc="4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nilai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terkecil</a:t>
            </a:r>
            <a:r>
              <a:rPr sz="850" spc="-3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jika</a:t>
            </a:r>
            <a:r>
              <a:rPr sz="850" spc="-2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kesalahan</a:t>
            </a:r>
            <a:r>
              <a:rPr sz="850" spc="-2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petembak</a:t>
            </a:r>
            <a:r>
              <a:rPr sz="850" spc="-2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lain,</a:t>
            </a:r>
            <a:r>
              <a:rPr sz="850" spc="-3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atau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dikurangi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nilai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terbesar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jika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kesalahan sendiri.</a:t>
            </a:r>
            <a:endParaRPr sz="850">
              <a:latin typeface="Microsoft Sans Serif"/>
              <a:cs typeface="Microsoft Sans Serif"/>
            </a:endParaRPr>
          </a:p>
          <a:p>
            <a:pPr marL="275590" marR="231775" indent="-67945">
              <a:lnSpc>
                <a:spcPct val="125000"/>
              </a:lnSpc>
              <a:spcBef>
                <a:spcPts val="450"/>
              </a:spcBef>
              <a:buFont typeface="Microsoft Sans Serif"/>
              <a:buChar char="•"/>
              <a:tabLst>
                <a:tab pos="275590" algn="l"/>
              </a:tabLst>
            </a:pPr>
            <a:r>
              <a:rPr sz="850" b="1" dirty="0">
                <a:solidFill>
                  <a:srgbClr val="F7F9FB"/>
                </a:solidFill>
                <a:latin typeface="Arial"/>
                <a:cs typeface="Arial"/>
              </a:rPr>
              <a:t>Nilai</a:t>
            </a:r>
            <a:r>
              <a:rPr sz="850" b="1" spc="-20" dirty="0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F7F9FB"/>
                </a:solidFill>
                <a:latin typeface="Arial"/>
                <a:cs typeface="Arial"/>
              </a:rPr>
              <a:t>Sama:</a:t>
            </a:r>
            <a:r>
              <a:rPr sz="850" b="1" spc="-15" dirty="0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Ditentukan</a:t>
            </a:r>
            <a:r>
              <a:rPr sz="850" spc="-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dari</a:t>
            </a:r>
            <a:r>
              <a:rPr sz="850" spc="-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jumlah</a:t>
            </a:r>
            <a:r>
              <a:rPr sz="850" spc="-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X</a:t>
            </a:r>
            <a:r>
              <a:rPr sz="850" spc="-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50" dirty="0">
                <a:solidFill>
                  <a:srgbClr val="F7F9FB"/>
                </a:solidFill>
                <a:latin typeface="Microsoft Sans Serif"/>
                <a:cs typeface="Microsoft Sans Serif"/>
              </a:rPr>
              <a:t>→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 Poin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9</a:t>
            </a:r>
            <a:r>
              <a:rPr sz="850" spc="-1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→</a:t>
            </a:r>
            <a:r>
              <a:rPr sz="850" spc="-1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Tanding</a:t>
            </a:r>
            <a:r>
              <a:rPr sz="850" spc="-1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Ulang.</a:t>
            </a:r>
            <a:endParaRPr sz="850">
              <a:latin typeface="Microsoft Sans Serif"/>
              <a:cs typeface="Microsoft Sans Serif"/>
            </a:endParaRPr>
          </a:p>
          <a:p>
            <a:pPr marL="275590" marR="354965" indent="-67945">
              <a:lnSpc>
                <a:spcPct val="125000"/>
              </a:lnSpc>
              <a:spcBef>
                <a:spcPts val="450"/>
              </a:spcBef>
              <a:buChar char="•"/>
              <a:tabLst>
                <a:tab pos="275590" algn="l"/>
              </a:tabLst>
            </a:pP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Ranking</a:t>
            </a:r>
            <a:r>
              <a:rPr sz="850" spc="-1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1,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2,</a:t>
            </a:r>
            <a:r>
              <a:rPr sz="850" spc="-1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dan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3</a:t>
            </a:r>
            <a:r>
              <a:rPr sz="850" spc="-1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Presisi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 tergabung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menjadi</a:t>
            </a:r>
            <a:r>
              <a:rPr sz="850" spc="-5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satu.</a:t>
            </a:r>
            <a:endParaRPr sz="850">
              <a:latin typeface="Microsoft Sans Serif"/>
              <a:cs typeface="Microsoft Sans Serif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16285" y="4807393"/>
            <a:ext cx="3735704" cy="2371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49E0A"/>
                </a:solidFill>
                <a:latin typeface="Microsoft Sans Serif"/>
                <a:cs typeface="Microsoft Sans Serif"/>
              </a:rPr>
              <a:t>TEKNIS</a:t>
            </a:r>
            <a:r>
              <a:rPr sz="1100" spc="-55" dirty="0">
                <a:solidFill>
                  <a:srgbClr val="F49E0A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F49E0A"/>
                </a:solidFill>
                <a:latin typeface="Microsoft Sans Serif"/>
                <a:cs typeface="Microsoft Sans Serif"/>
              </a:rPr>
              <a:t>PELAKSANAAN</a:t>
            </a:r>
            <a:r>
              <a:rPr sz="1100" spc="-55" dirty="0">
                <a:solidFill>
                  <a:srgbClr val="F49E0A"/>
                </a:solidFill>
                <a:latin typeface="Microsoft Sans Serif"/>
                <a:cs typeface="Microsoft Sans Serif"/>
              </a:rPr>
              <a:t> </a:t>
            </a:r>
            <a:r>
              <a:rPr sz="1100" spc="-15" dirty="0">
                <a:solidFill>
                  <a:srgbClr val="F49E0A"/>
                </a:solidFill>
                <a:latin typeface="Microsoft Sans Serif"/>
                <a:cs typeface="Microsoft Sans Serif"/>
              </a:rPr>
              <a:t>(ABA-</a:t>
            </a:r>
            <a:r>
              <a:rPr sz="1100" spc="-20" dirty="0">
                <a:solidFill>
                  <a:srgbClr val="F49E0A"/>
                </a:solidFill>
                <a:latin typeface="Microsoft Sans Serif"/>
                <a:cs typeface="Microsoft Sans Serif"/>
              </a:rPr>
              <a:t>ABA)</a:t>
            </a:r>
            <a:endParaRPr sz="11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1100" dirty="0">
              <a:latin typeface="Microsoft Sans Serif"/>
              <a:cs typeface="Microsoft Sans Serif"/>
            </a:endParaRPr>
          </a:p>
          <a:p>
            <a:pPr marL="246379" indent="-119380">
              <a:lnSpc>
                <a:spcPct val="100000"/>
              </a:lnSpc>
              <a:buAutoNum type="arabicPeriod"/>
              <a:tabLst>
                <a:tab pos="246379" algn="l"/>
              </a:tabLst>
            </a:pP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Petembak</a:t>
            </a:r>
            <a:r>
              <a:rPr sz="850" spc="-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persiapan (pasang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pelindung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telinga</a:t>
            </a:r>
            <a:r>
              <a:rPr sz="850" spc="-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&amp;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mata).</a:t>
            </a:r>
            <a:endParaRPr sz="850" dirty="0">
              <a:latin typeface="Microsoft Sans Serif"/>
              <a:cs typeface="Microsoft Sans Serif"/>
            </a:endParaRPr>
          </a:p>
          <a:p>
            <a:pPr marL="246379" indent="-119380">
              <a:lnSpc>
                <a:spcPct val="100000"/>
              </a:lnSpc>
              <a:spcBef>
                <a:spcPts val="785"/>
              </a:spcBef>
              <a:buAutoNum type="arabicPeriod"/>
              <a:tabLst>
                <a:tab pos="246379" algn="l"/>
              </a:tabLst>
            </a:pP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Aba-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aba:</a:t>
            </a:r>
            <a:r>
              <a:rPr sz="850" spc="-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i="1" spc="-20" dirty="0">
                <a:solidFill>
                  <a:srgbClr val="F7F9FB"/>
                </a:solidFill>
                <a:latin typeface="Arial"/>
                <a:cs typeface="Arial"/>
              </a:rPr>
              <a:t>"PASANG</a:t>
            </a:r>
            <a:r>
              <a:rPr sz="850" i="1" spc="-15" dirty="0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7F9FB"/>
                </a:solidFill>
                <a:latin typeface="Arial"/>
                <a:cs typeface="Arial"/>
              </a:rPr>
              <a:t>MAGAZEN,</a:t>
            </a:r>
            <a:r>
              <a:rPr sz="850" i="1" spc="-15" dirty="0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7F9FB"/>
                </a:solidFill>
                <a:latin typeface="Arial"/>
                <a:cs typeface="Arial"/>
              </a:rPr>
              <a:t>LETAKKAN</a:t>
            </a:r>
            <a:r>
              <a:rPr sz="850" i="1" spc="-15" dirty="0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sz="850" i="1" spc="-30" dirty="0">
                <a:solidFill>
                  <a:srgbClr val="F7F9FB"/>
                </a:solidFill>
                <a:latin typeface="Arial"/>
                <a:cs typeface="Arial"/>
              </a:rPr>
              <a:t>SENJATA</a:t>
            </a:r>
            <a:r>
              <a:rPr sz="850" i="1" spc="-15" dirty="0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7F9FB"/>
                </a:solidFill>
                <a:latin typeface="Arial"/>
                <a:cs typeface="Arial"/>
              </a:rPr>
              <a:t>DI</a:t>
            </a:r>
            <a:r>
              <a:rPr sz="850" i="1" spc="-15" dirty="0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sz="850" i="1" spc="-10" dirty="0">
                <a:solidFill>
                  <a:srgbClr val="F7F9FB"/>
                </a:solidFill>
                <a:latin typeface="Arial"/>
                <a:cs typeface="Arial"/>
              </a:rPr>
              <a:t>MEJA"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.</a:t>
            </a:r>
            <a:endParaRPr sz="850" dirty="0">
              <a:latin typeface="Microsoft Sans Serif"/>
              <a:cs typeface="Microsoft Sans Serif"/>
            </a:endParaRPr>
          </a:p>
          <a:p>
            <a:pPr marL="245745" marR="119380" indent="-119380">
              <a:lnSpc>
                <a:spcPct val="125000"/>
              </a:lnSpc>
              <a:spcBef>
                <a:spcPts val="530"/>
              </a:spcBef>
              <a:buAutoNum type="arabicPeriod"/>
              <a:tabLst>
                <a:tab pos="247015" algn="l"/>
              </a:tabLst>
            </a:pP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Aba-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aba: </a:t>
            </a:r>
            <a:r>
              <a:rPr sz="850" i="1" spc="-10" dirty="0">
                <a:solidFill>
                  <a:srgbClr val="F7F9FB"/>
                </a:solidFill>
                <a:latin typeface="Arial"/>
                <a:cs typeface="Arial"/>
              </a:rPr>
              <a:t>"PETEMBAK</a:t>
            </a:r>
            <a:r>
              <a:rPr sz="850" i="1" spc="-5" dirty="0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7F9FB"/>
                </a:solidFill>
                <a:latin typeface="Arial"/>
                <a:cs typeface="Arial"/>
              </a:rPr>
              <a:t>SIAP?</a:t>
            </a:r>
            <a:r>
              <a:rPr sz="850" i="1" spc="-5" dirty="0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sz="850" i="1" dirty="0">
                <a:solidFill>
                  <a:srgbClr val="F7F9FB"/>
                </a:solidFill>
                <a:latin typeface="Arial"/>
                <a:cs typeface="Arial"/>
              </a:rPr>
              <a:t>...</a:t>
            </a:r>
            <a:r>
              <a:rPr sz="850" i="1" spc="-5" dirty="0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sz="850" i="1" spc="-25" dirty="0">
                <a:solidFill>
                  <a:srgbClr val="F7F9FB"/>
                </a:solidFill>
                <a:latin typeface="Arial"/>
                <a:cs typeface="Arial"/>
              </a:rPr>
              <a:t>STANDBY"</a:t>
            </a:r>
            <a:r>
              <a:rPr sz="850" i="1" spc="-10" dirty="0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→</a:t>
            </a:r>
            <a:r>
              <a:rPr sz="850" spc="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Petembak</a:t>
            </a:r>
            <a:r>
              <a:rPr sz="850" spc="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mengangkat 	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kedua</a:t>
            </a:r>
            <a:r>
              <a:rPr sz="850" spc="-1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tangan</a:t>
            </a:r>
            <a:r>
              <a:rPr sz="850" spc="-1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setinggi</a:t>
            </a:r>
            <a:r>
              <a:rPr sz="850" spc="-1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bahu.</a:t>
            </a:r>
            <a:endParaRPr sz="850" dirty="0">
              <a:latin typeface="Microsoft Sans Serif"/>
              <a:cs typeface="Microsoft Sans Serif"/>
            </a:endParaRPr>
          </a:p>
          <a:p>
            <a:pPr marL="245745" marR="664845" indent="-119380">
              <a:lnSpc>
                <a:spcPct val="125000"/>
              </a:lnSpc>
              <a:spcBef>
                <a:spcPts val="535"/>
              </a:spcBef>
              <a:buAutoNum type="arabicPeriod"/>
              <a:tabLst>
                <a:tab pos="247015" algn="l"/>
              </a:tabLst>
            </a:pP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Aba-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aba:</a:t>
            </a:r>
            <a:r>
              <a:rPr sz="850" spc="-1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i="1" dirty="0">
                <a:solidFill>
                  <a:srgbClr val="F7F9FB"/>
                </a:solidFill>
                <a:latin typeface="Arial"/>
                <a:cs typeface="Arial"/>
              </a:rPr>
              <a:t>"GO"</a:t>
            </a:r>
            <a:r>
              <a:rPr sz="850" i="1" spc="-20" dirty="0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→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 Petembak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mengisi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senjata</a:t>
            </a:r>
            <a:r>
              <a:rPr sz="850" spc="-1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dan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 langsung 	menembak.</a:t>
            </a:r>
            <a:endParaRPr sz="850" dirty="0">
              <a:latin typeface="Microsoft Sans Serif"/>
              <a:cs typeface="Microsoft Sans Serif"/>
            </a:endParaRPr>
          </a:p>
          <a:p>
            <a:pPr marL="246379" indent="-119380">
              <a:lnSpc>
                <a:spcPct val="100000"/>
              </a:lnSpc>
              <a:spcBef>
                <a:spcPts val="705"/>
              </a:spcBef>
              <a:buFont typeface="Microsoft Sans Serif"/>
              <a:buAutoNum type="arabicPeriod"/>
              <a:tabLst>
                <a:tab pos="246379" algn="l"/>
              </a:tabLst>
            </a:pPr>
            <a:r>
              <a:rPr sz="850" b="1" spc="-10" dirty="0">
                <a:solidFill>
                  <a:srgbClr val="F7F9FB"/>
                </a:solidFill>
                <a:latin typeface="Arial"/>
                <a:cs typeface="Arial"/>
              </a:rPr>
              <a:t>Tembakan</a:t>
            </a:r>
            <a:r>
              <a:rPr sz="850" b="1" spc="-30" dirty="0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F7F9FB"/>
                </a:solidFill>
                <a:latin typeface="Arial"/>
                <a:cs typeface="Arial"/>
              </a:rPr>
              <a:t>1:</a:t>
            </a:r>
            <a:r>
              <a:rPr sz="850" b="1" spc="-30" dirty="0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Percobaan</a:t>
            </a:r>
            <a:r>
              <a:rPr sz="850" spc="-1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3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butir.</a:t>
            </a:r>
            <a:endParaRPr sz="850" dirty="0">
              <a:latin typeface="Microsoft Sans Serif"/>
              <a:cs typeface="Microsoft Sans Serif"/>
            </a:endParaRPr>
          </a:p>
          <a:p>
            <a:pPr marL="246379" indent="-119380">
              <a:lnSpc>
                <a:spcPct val="100000"/>
              </a:lnSpc>
              <a:spcBef>
                <a:spcPts val="705"/>
              </a:spcBef>
              <a:buFont typeface="Microsoft Sans Serif"/>
              <a:buAutoNum type="arabicPeriod"/>
              <a:tabLst>
                <a:tab pos="246379" algn="l"/>
              </a:tabLst>
            </a:pPr>
            <a:r>
              <a:rPr sz="850" b="1" spc="-10" dirty="0">
                <a:solidFill>
                  <a:srgbClr val="F7F9FB"/>
                </a:solidFill>
                <a:latin typeface="Arial"/>
                <a:cs typeface="Arial"/>
              </a:rPr>
              <a:t>Tembakan</a:t>
            </a:r>
            <a:r>
              <a:rPr sz="850" b="1" spc="-35" dirty="0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F7F9FB"/>
                </a:solidFill>
                <a:latin typeface="Arial"/>
                <a:cs typeface="Arial"/>
              </a:rPr>
              <a:t>2:</a:t>
            </a:r>
            <a:r>
              <a:rPr sz="850" b="1" spc="-35" dirty="0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Slow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Fire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10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butir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(Waktu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3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menit).</a:t>
            </a:r>
            <a:endParaRPr sz="850" dirty="0">
              <a:latin typeface="Microsoft Sans Serif"/>
              <a:cs typeface="Microsoft Sans Serif"/>
            </a:endParaRPr>
          </a:p>
          <a:p>
            <a:pPr marL="245745" marR="127000" indent="-119380">
              <a:lnSpc>
                <a:spcPct val="125000"/>
              </a:lnSpc>
              <a:spcBef>
                <a:spcPts val="450"/>
              </a:spcBef>
              <a:buAutoNum type="arabicPeriod"/>
              <a:tabLst>
                <a:tab pos="247015" algn="l"/>
              </a:tabLst>
            </a:pP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Waktu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habis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→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Lepas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magazen,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kosongkan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senjata,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dan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paraf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lembar 	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scor</a:t>
            </a:r>
            <a:r>
              <a:rPr sz="850" spc="-1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sheet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&amp;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lesan</a:t>
            </a:r>
            <a:r>
              <a:rPr sz="850" spc="-1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bersama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 Wasjur.</a:t>
            </a:r>
            <a:endParaRPr sz="850" dirty="0">
              <a:latin typeface="Microsoft Sans Serif"/>
              <a:cs typeface="Microsoft Sans Serif"/>
            </a:endParaRP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F17680F1-5129-45EF-A176-4E2466E7BF1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8680" y="1753818"/>
            <a:ext cx="1330699" cy="1330699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9EC8586B-D771-476E-99D1-4034449D44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12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711" b="93388" l="9936" r="89904">
                        <a14:foregroundMark x1="31571" y1="18595" x2="31571" y2="18595"/>
                        <a14:foregroundMark x1="38622" y1="19215" x2="38622" y2="19215"/>
                        <a14:foregroundMark x1="61218" y1="20041" x2="61218" y2="20041"/>
                        <a14:foregroundMark x1="56571" y1="14876" x2="56571" y2="14876"/>
                        <a14:foregroundMark x1="66026" y1="19835" x2="66026" y2="19835"/>
                        <a14:foregroundMark x1="76603" y1="36570" x2="76603" y2="36570"/>
                        <a14:foregroundMark x1="54647" y1="91942" x2="54647" y2="91942"/>
                        <a14:foregroundMark x1="48718" y1="92562" x2="45833" y2="90909"/>
                        <a14:foregroundMark x1="45833" y1="91942" x2="43429" y2="89669"/>
                        <a14:foregroundMark x1="45833" y1="91322" x2="45833" y2="91322"/>
                        <a14:foregroundMark x1="45833" y1="91322" x2="45833" y2="91322"/>
                        <a14:foregroundMark x1="45833" y1="91322" x2="45833" y2="91322"/>
                        <a14:foregroundMark x1="46314" y1="92355" x2="44231" y2="90083"/>
                        <a14:foregroundMark x1="48397" y1="92355" x2="52885" y2="92355"/>
                        <a14:foregroundMark x1="48397" y1="91322" x2="50160" y2="92355"/>
                        <a14:foregroundMark x1="51923" y1="92975" x2="52083" y2="93182"/>
                        <a14:foregroundMark x1="52244" y1="93388" x2="52244" y2="93388"/>
                        <a14:foregroundMark x1="53045" y1="93182" x2="50801" y2="92562"/>
                        <a14:foregroundMark x1="39583" y1="15496" x2="38622" y2="14050"/>
                        <a14:foregroundMark x1="39583" y1="17355" x2="39103" y2="14876"/>
                        <a14:foregroundMark x1="39744" y1="17355" x2="39744" y2="15909"/>
                        <a14:foregroundMark x1="40064" y1="15702" x2="37821" y2="13430"/>
                        <a14:foregroundMark x1="30609" y1="38017" x2="30609" y2="38017"/>
                        <a14:foregroundMark x1="32853" y1="20248" x2="32853" y2="20248"/>
                        <a14:foregroundMark x1="32853" y1="20248" x2="32853" y2="20248"/>
                        <a14:foregroundMark x1="32853" y1="20248" x2="32853" y2="20248"/>
                        <a14:foregroundMark x1="32853" y1="20248" x2="32853" y2="20248"/>
                        <a14:foregroundMark x1="31891" y1="16736" x2="31891" y2="16736"/>
                        <a14:foregroundMark x1="32372" y1="17355" x2="32372" y2="17355"/>
                        <a14:foregroundMark x1="32372" y1="17355" x2="31090" y2="18182"/>
                        <a14:foregroundMark x1="32372" y1="16942" x2="31891" y2="17355"/>
                        <a14:foregroundMark x1="32212" y1="17355" x2="30929" y2="17562"/>
                        <a14:backgroundMark x1="53586" y1="94425" x2="58494" y2="9628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48429" y="1183744"/>
            <a:ext cx="9612548" cy="745964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20"/>
          <p:cNvSpPr txBox="1"/>
          <p:nvPr/>
        </p:nvSpPr>
        <p:spPr>
          <a:xfrm>
            <a:off x="717799" y="510282"/>
            <a:ext cx="4846955" cy="488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PRESISI</a:t>
            </a:r>
            <a:r>
              <a:rPr sz="1600" spc="-3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F7F9FB"/>
                </a:solidFill>
                <a:latin typeface="Microsoft Sans Serif"/>
                <a:cs typeface="Microsoft Sans Serif"/>
              </a:rPr>
              <a:t>20</a:t>
            </a:r>
            <a:r>
              <a:rPr sz="1600" spc="-3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F7F9FB"/>
                </a:solidFill>
                <a:latin typeface="Microsoft Sans Serif"/>
                <a:cs typeface="Microsoft Sans Serif"/>
              </a:rPr>
              <a:t>M:</a:t>
            </a:r>
            <a:r>
              <a:rPr sz="1600" spc="-3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ATURAN</a:t>
            </a:r>
            <a:r>
              <a:rPr sz="1600" spc="-3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F7F9FB"/>
                </a:solidFill>
                <a:latin typeface="Microsoft Sans Serif"/>
                <a:cs typeface="Microsoft Sans Serif"/>
              </a:rPr>
              <a:t>PELANGGARAN</a:t>
            </a:r>
            <a:r>
              <a:rPr sz="1600" spc="-3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F7F9FB"/>
                </a:solidFill>
                <a:latin typeface="Microsoft Sans Serif"/>
                <a:cs typeface="Microsoft Sans Serif"/>
              </a:rPr>
              <a:t>&amp;</a:t>
            </a:r>
            <a:r>
              <a:rPr sz="1600" spc="-3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SANHSI</a:t>
            </a:r>
            <a:endParaRPr sz="16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900" dirty="0">
                <a:solidFill>
                  <a:srgbClr val="93A3B8"/>
                </a:solidFill>
                <a:latin typeface="Microsoft Sans Serif"/>
                <a:cs typeface="Microsoft Sans Serif"/>
              </a:rPr>
              <a:t>DISKUALIFIKASI</a:t>
            </a:r>
            <a:r>
              <a:rPr sz="900" spc="-20" dirty="0">
                <a:solidFill>
                  <a:srgbClr val="93A3B8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93A3B8"/>
                </a:solidFill>
                <a:latin typeface="Microsoft Sans Serif"/>
                <a:cs typeface="Microsoft Sans Serif"/>
              </a:rPr>
              <a:t>(DQ),</a:t>
            </a:r>
            <a:r>
              <a:rPr sz="900" spc="-15" dirty="0">
                <a:solidFill>
                  <a:srgbClr val="93A3B8"/>
                </a:solidFill>
                <a:latin typeface="Microsoft Sans Serif"/>
                <a:cs typeface="Microsoft Sans Serif"/>
              </a:rPr>
              <a:t> </a:t>
            </a:r>
            <a:r>
              <a:rPr sz="900" spc="-25" dirty="0">
                <a:solidFill>
                  <a:srgbClr val="93A3B8"/>
                </a:solidFill>
                <a:latin typeface="Microsoft Sans Serif"/>
                <a:cs typeface="Microsoft Sans Serif"/>
              </a:rPr>
              <a:t>PENALTY,</a:t>
            </a:r>
            <a:r>
              <a:rPr sz="900" spc="-20" dirty="0">
                <a:solidFill>
                  <a:srgbClr val="93A3B8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93A3B8"/>
                </a:solidFill>
                <a:latin typeface="Microsoft Sans Serif"/>
                <a:cs typeface="Microsoft Sans Serif"/>
              </a:rPr>
              <a:t>DNS,</a:t>
            </a:r>
            <a:r>
              <a:rPr sz="900" spc="-15" dirty="0">
                <a:solidFill>
                  <a:srgbClr val="93A3B8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93A3B8"/>
                </a:solidFill>
                <a:latin typeface="Microsoft Sans Serif"/>
                <a:cs typeface="Microsoft Sans Serif"/>
              </a:rPr>
              <a:t>DAN</a:t>
            </a:r>
            <a:r>
              <a:rPr sz="900" spc="-20" dirty="0">
                <a:solidFill>
                  <a:srgbClr val="93A3B8"/>
                </a:solidFill>
                <a:latin typeface="Microsoft Sans Serif"/>
                <a:cs typeface="Microsoft Sans Serif"/>
              </a:rPr>
              <a:t> </a:t>
            </a:r>
            <a:r>
              <a:rPr sz="900" spc="-25" dirty="0">
                <a:solidFill>
                  <a:srgbClr val="93A3B8"/>
                </a:solidFill>
                <a:latin typeface="Microsoft Sans Serif"/>
                <a:cs typeface="Microsoft Sans Serif"/>
              </a:rPr>
              <a:t>DNF</a:t>
            </a:r>
            <a:endParaRPr sz="900">
              <a:latin typeface="Microsoft Sans Serif"/>
              <a:cs typeface="Microsoft Sans Serif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578100" y="1346400"/>
            <a:ext cx="3164205" cy="2925445"/>
            <a:chOff x="578100" y="1346400"/>
            <a:chExt cx="3164205" cy="2925445"/>
          </a:xfrm>
        </p:grpSpPr>
        <p:sp>
          <p:nvSpPr>
            <p:cNvPr id="3" name="object 3"/>
            <p:cNvSpPr/>
            <p:nvPr/>
          </p:nvSpPr>
          <p:spPr>
            <a:xfrm>
              <a:off x="578100" y="1346400"/>
              <a:ext cx="3164205" cy="2925445"/>
            </a:xfrm>
            <a:custGeom>
              <a:avLst/>
              <a:gdLst/>
              <a:ahLst/>
              <a:cxnLst/>
              <a:rect l="l" t="t" r="r" b="b"/>
              <a:pathLst>
                <a:path w="3164204" h="2925445">
                  <a:moveTo>
                    <a:pt x="3087600" y="2925016"/>
                  </a:moveTo>
                  <a:lnTo>
                    <a:pt x="76200" y="2925016"/>
                  </a:lnTo>
                  <a:lnTo>
                    <a:pt x="46612" y="2919004"/>
                  </a:lnTo>
                  <a:lnTo>
                    <a:pt x="22383" y="2902633"/>
                  </a:lnTo>
                  <a:lnTo>
                    <a:pt x="6012" y="2878403"/>
                  </a:lnTo>
                  <a:lnTo>
                    <a:pt x="0" y="2848816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3087600" y="0"/>
                  </a:lnTo>
                  <a:lnTo>
                    <a:pt x="3117187" y="6012"/>
                  </a:lnTo>
                  <a:lnTo>
                    <a:pt x="3141416" y="22383"/>
                  </a:lnTo>
                  <a:lnTo>
                    <a:pt x="3157787" y="46612"/>
                  </a:lnTo>
                  <a:lnTo>
                    <a:pt x="3163800" y="76200"/>
                  </a:lnTo>
                  <a:lnTo>
                    <a:pt x="3163800" y="2848816"/>
                  </a:lnTo>
                  <a:lnTo>
                    <a:pt x="3157787" y="2878403"/>
                  </a:lnTo>
                  <a:lnTo>
                    <a:pt x="3141416" y="2902633"/>
                  </a:lnTo>
                  <a:lnTo>
                    <a:pt x="3117187" y="2919004"/>
                  </a:lnTo>
                  <a:lnTo>
                    <a:pt x="3087600" y="2925016"/>
                  </a:lnTo>
                  <a:close/>
                </a:path>
              </a:pathLst>
            </a:custGeom>
            <a:solidFill>
              <a:srgbClr val="1D28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78091" y="1368789"/>
              <a:ext cx="3164205" cy="2903220"/>
            </a:xfrm>
            <a:custGeom>
              <a:avLst/>
              <a:gdLst/>
              <a:ahLst/>
              <a:cxnLst/>
              <a:rect l="l" t="t" r="r" b="b"/>
              <a:pathLst>
                <a:path w="3164204" h="2903220">
                  <a:moveTo>
                    <a:pt x="3163798" y="53822"/>
                  </a:moveTo>
                  <a:lnTo>
                    <a:pt x="3157791" y="24231"/>
                  </a:lnTo>
                  <a:lnTo>
                    <a:pt x="3141421" y="0"/>
                  </a:lnTo>
                  <a:lnTo>
                    <a:pt x="3125622" y="15798"/>
                  </a:lnTo>
                  <a:lnTo>
                    <a:pt x="3134690" y="20180"/>
                  </a:lnTo>
                  <a:lnTo>
                    <a:pt x="3149015" y="35318"/>
                  </a:lnTo>
                  <a:lnTo>
                    <a:pt x="3154273" y="53822"/>
                  </a:lnTo>
                  <a:lnTo>
                    <a:pt x="3154273" y="2826435"/>
                  </a:lnTo>
                  <a:lnTo>
                    <a:pt x="3149015" y="2852318"/>
                  </a:lnTo>
                  <a:lnTo>
                    <a:pt x="3134690" y="2873527"/>
                  </a:lnTo>
                  <a:lnTo>
                    <a:pt x="3113494" y="2887853"/>
                  </a:lnTo>
                  <a:lnTo>
                    <a:pt x="3087598" y="2893110"/>
                  </a:lnTo>
                  <a:lnTo>
                    <a:pt x="76200" y="2893110"/>
                  </a:lnTo>
                  <a:lnTo>
                    <a:pt x="50317" y="2887853"/>
                  </a:lnTo>
                  <a:lnTo>
                    <a:pt x="29108" y="2873527"/>
                  </a:lnTo>
                  <a:lnTo>
                    <a:pt x="14782" y="2852318"/>
                  </a:lnTo>
                  <a:lnTo>
                    <a:pt x="9525" y="2826435"/>
                  </a:lnTo>
                  <a:lnTo>
                    <a:pt x="9525" y="53822"/>
                  </a:lnTo>
                  <a:lnTo>
                    <a:pt x="14782" y="35318"/>
                  </a:lnTo>
                  <a:lnTo>
                    <a:pt x="29108" y="20180"/>
                  </a:lnTo>
                  <a:lnTo>
                    <a:pt x="38188" y="15798"/>
                  </a:lnTo>
                  <a:lnTo>
                    <a:pt x="22390" y="0"/>
                  </a:lnTo>
                  <a:lnTo>
                    <a:pt x="6019" y="24231"/>
                  </a:lnTo>
                  <a:lnTo>
                    <a:pt x="0" y="53822"/>
                  </a:lnTo>
                  <a:lnTo>
                    <a:pt x="0" y="2826435"/>
                  </a:lnTo>
                  <a:lnTo>
                    <a:pt x="6019" y="2856014"/>
                  </a:lnTo>
                  <a:lnTo>
                    <a:pt x="22390" y="2880245"/>
                  </a:lnTo>
                  <a:lnTo>
                    <a:pt x="46621" y="2896616"/>
                  </a:lnTo>
                  <a:lnTo>
                    <a:pt x="76200" y="2902635"/>
                  </a:lnTo>
                  <a:lnTo>
                    <a:pt x="3087598" y="2902635"/>
                  </a:lnTo>
                  <a:lnTo>
                    <a:pt x="3141421" y="2880245"/>
                  </a:lnTo>
                  <a:lnTo>
                    <a:pt x="3163798" y="2826435"/>
                  </a:lnTo>
                  <a:lnTo>
                    <a:pt x="3163798" y="53822"/>
                  </a:lnTo>
                  <a:close/>
                </a:path>
              </a:pathLst>
            </a:custGeom>
            <a:solidFill>
              <a:srgbClr val="334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0483" y="1346400"/>
              <a:ext cx="3119120" cy="38735"/>
            </a:xfrm>
            <a:custGeom>
              <a:avLst/>
              <a:gdLst/>
              <a:ahLst/>
              <a:cxnLst/>
              <a:rect l="l" t="t" r="r" b="b"/>
              <a:pathLst>
                <a:path w="3119120" h="38734">
                  <a:moveTo>
                    <a:pt x="15801" y="38185"/>
                  </a:moveTo>
                  <a:lnTo>
                    <a:pt x="0" y="22383"/>
                  </a:lnTo>
                  <a:lnTo>
                    <a:pt x="24229" y="6012"/>
                  </a:lnTo>
                  <a:lnTo>
                    <a:pt x="53816" y="0"/>
                  </a:lnTo>
                  <a:lnTo>
                    <a:pt x="3065216" y="0"/>
                  </a:lnTo>
                  <a:lnTo>
                    <a:pt x="3094803" y="6012"/>
                  </a:lnTo>
                  <a:lnTo>
                    <a:pt x="3119032" y="22383"/>
                  </a:lnTo>
                  <a:lnTo>
                    <a:pt x="3112841" y="28575"/>
                  </a:lnTo>
                  <a:lnTo>
                    <a:pt x="53816" y="28575"/>
                  </a:lnTo>
                  <a:lnTo>
                    <a:pt x="27927" y="32332"/>
                  </a:lnTo>
                  <a:lnTo>
                    <a:pt x="15801" y="38185"/>
                  </a:lnTo>
                  <a:close/>
                </a:path>
                <a:path w="3119120" h="38734">
                  <a:moveTo>
                    <a:pt x="3103231" y="38185"/>
                  </a:moveTo>
                  <a:lnTo>
                    <a:pt x="3091105" y="32332"/>
                  </a:lnTo>
                  <a:lnTo>
                    <a:pt x="3065216" y="28575"/>
                  </a:lnTo>
                  <a:lnTo>
                    <a:pt x="3112841" y="28575"/>
                  </a:lnTo>
                  <a:lnTo>
                    <a:pt x="3103231" y="38185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20975" y="1775025"/>
              <a:ext cx="2878455" cy="9525"/>
            </a:xfrm>
            <a:custGeom>
              <a:avLst/>
              <a:gdLst/>
              <a:ahLst/>
              <a:cxnLst/>
              <a:rect l="l" t="t" r="r" b="b"/>
              <a:pathLst>
                <a:path w="2878454" h="9525">
                  <a:moveTo>
                    <a:pt x="2878050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2878050" y="0"/>
                  </a:lnTo>
                  <a:lnTo>
                    <a:pt x="2878050" y="9525"/>
                  </a:lnTo>
                  <a:close/>
                </a:path>
              </a:pathLst>
            </a:custGeom>
            <a:solidFill>
              <a:srgbClr val="334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16285" y="1492693"/>
            <a:ext cx="3088005" cy="2557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F49E0A"/>
                </a:solidFill>
                <a:latin typeface="Microsoft Sans Serif"/>
                <a:cs typeface="Microsoft Sans Serif"/>
              </a:rPr>
              <a:t>DISKUALIFIKASI</a:t>
            </a:r>
            <a:r>
              <a:rPr sz="1100" spc="45" dirty="0">
                <a:solidFill>
                  <a:srgbClr val="F49E0A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F49E0A"/>
                </a:solidFill>
                <a:latin typeface="Microsoft Sans Serif"/>
                <a:cs typeface="Microsoft Sans Serif"/>
              </a:rPr>
              <a:t>(DQ)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100">
              <a:latin typeface="Microsoft Sans Serif"/>
              <a:cs typeface="Microsoft Sans Serif"/>
            </a:endParaRPr>
          </a:p>
          <a:p>
            <a:pPr marL="275590" marR="468630" indent="-67945">
              <a:lnSpc>
                <a:spcPct val="125000"/>
              </a:lnSpc>
              <a:buChar char="•"/>
              <a:tabLst>
                <a:tab pos="275590" algn="l"/>
              </a:tabLst>
            </a:pP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Tembakan</a:t>
            </a:r>
            <a:r>
              <a:rPr sz="850" spc="-3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tidak</a:t>
            </a:r>
            <a:r>
              <a:rPr sz="850" spc="-2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terarah</a:t>
            </a:r>
            <a:r>
              <a:rPr sz="850" spc="-3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(kurang</a:t>
            </a:r>
            <a:r>
              <a:rPr sz="850" spc="-3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dari</a:t>
            </a:r>
            <a:r>
              <a:rPr sz="850" spc="-2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3</a:t>
            </a:r>
            <a:r>
              <a:rPr sz="850" spc="-3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meter</a:t>
            </a:r>
            <a:r>
              <a:rPr sz="850" spc="-2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dari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petembak).</a:t>
            </a:r>
            <a:endParaRPr sz="850">
              <a:latin typeface="Microsoft Sans Serif"/>
              <a:cs typeface="Microsoft Sans Serif"/>
            </a:endParaRPr>
          </a:p>
          <a:p>
            <a:pPr marL="275590" marR="221615" indent="-67945">
              <a:lnSpc>
                <a:spcPct val="125000"/>
              </a:lnSpc>
              <a:spcBef>
                <a:spcPts val="450"/>
              </a:spcBef>
              <a:buChar char="•"/>
              <a:tabLst>
                <a:tab pos="275590" algn="l"/>
              </a:tabLst>
            </a:pP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Menembak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sebelum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ada</a:t>
            </a:r>
            <a:r>
              <a:rPr sz="850" spc="-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instruksi/perintah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dari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Range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Officer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(RO).</a:t>
            </a:r>
            <a:endParaRPr sz="850">
              <a:latin typeface="Microsoft Sans Serif"/>
              <a:cs typeface="Microsoft Sans Serif"/>
            </a:endParaRPr>
          </a:p>
          <a:p>
            <a:pPr marL="275590" indent="-67310">
              <a:lnSpc>
                <a:spcPct val="100000"/>
              </a:lnSpc>
              <a:spcBef>
                <a:spcPts val="705"/>
              </a:spcBef>
              <a:buChar char="•"/>
              <a:tabLst>
                <a:tab pos="275590" algn="l"/>
              </a:tabLst>
            </a:pP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Menembak</a:t>
            </a:r>
            <a:r>
              <a:rPr sz="850" spc="-3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silang</a:t>
            </a:r>
            <a:r>
              <a:rPr sz="850" spc="-3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untuk</a:t>
            </a:r>
            <a:r>
              <a:rPr sz="850" spc="-3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membantu</a:t>
            </a:r>
            <a:r>
              <a:rPr sz="850" spc="-3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sasaran</a:t>
            </a:r>
            <a:r>
              <a:rPr sz="850" spc="-3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teman/tim.</a:t>
            </a:r>
            <a:endParaRPr sz="850">
              <a:latin typeface="Microsoft Sans Serif"/>
              <a:cs typeface="Microsoft Sans Serif"/>
            </a:endParaRPr>
          </a:p>
          <a:p>
            <a:pPr marL="275590" indent="-67310">
              <a:lnSpc>
                <a:spcPct val="100000"/>
              </a:lnSpc>
              <a:spcBef>
                <a:spcPts val="705"/>
              </a:spcBef>
              <a:buChar char="•"/>
              <a:tabLst>
                <a:tab pos="275590" algn="l"/>
              </a:tabLst>
            </a:pP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Membahayakan</a:t>
            </a:r>
            <a:r>
              <a:rPr sz="850" spc="-1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keselamatan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diri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sendiri</a:t>
            </a:r>
            <a:r>
              <a:rPr sz="850" spc="-1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atau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orang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 lain.</a:t>
            </a:r>
            <a:endParaRPr sz="850">
              <a:latin typeface="Microsoft Sans Serif"/>
              <a:cs typeface="Microsoft Sans Serif"/>
            </a:endParaRPr>
          </a:p>
          <a:p>
            <a:pPr marL="275590" indent="-67310">
              <a:lnSpc>
                <a:spcPct val="100000"/>
              </a:lnSpc>
              <a:spcBef>
                <a:spcPts val="785"/>
              </a:spcBef>
              <a:buChar char="•"/>
              <a:tabLst>
                <a:tab pos="275590" algn="l"/>
              </a:tabLst>
            </a:pP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Mencabut/mengoperasikan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 senjata</a:t>
            </a:r>
            <a:r>
              <a:rPr sz="850" spc="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di luar </a:t>
            </a:r>
            <a:r>
              <a:rPr sz="850" i="1" dirty="0">
                <a:solidFill>
                  <a:srgbClr val="F7F9FB"/>
                </a:solidFill>
                <a:latin typeface="Arial"/>
                <a:cs typeface="Arial"/>
              </a:rPr>
              <a:t>Safety</a:t>
            </a:r>
            <a:r>
              <a:rPr sz="850" i="1" spc="-10" dirty="0">
                <a:solidFill>
                  <a:srgbClr val="F7F9FB"/>
                </a:solidFill>
                <a:latin typeface="Arial"/>
                <a:cs typeface="Arial"/>
              </a:rPr>
              <a:t> </a:t>
            </a:r>
            <a:r>
              <a:rPr sz="850" i="1" spc="-20" dirty="0">
                <a:solidFill>
                  <a:srgbClr val="F7F9FB"/>
                </a:solidFill>
                <a:latin typeface="Arial"/>
                <a:cs typeface="Arial"/>
              </a:rPr>
              <a:t>Area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.</a:t>
            </a:r>
            <a:endParaRPr sz="850">
              <a:latin typeface="Microsoft Sans Serif"/>
              <a:cs typeface="Microsoft Sans Serif"/>
            </a:endParaRPr>
          </a:p>
          <a:p>
            <a:pPr marL="275590" indent="-67310">
              <a:lnSpc>
                <a:spcPct val="100000"/>
              </a:lnSpc>
              <a:spcBef>
                <a:spcPts val="705"/>
              </a:spcBef>
              <a:buChar char="•"/>
              <a:tabLst>
                <a:tab pos="275590" algn="l"/>
              </a:tabLst>
            </a:pP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Arah</a:t>
            </a:r>
            <a:r>
              <a:rPr sz="850" spc="-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laras</a:t>
            </a:r>
            <a:r>
              <a:rPr sz="850" spc="-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melanggar</a:t>
            </a:r>
            <a:r>
              <a:rPr sz="850" spc="-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sudut 60°</a:t>
            </a:r>
            <a:r>
              <a:rPr sz="850" spc="-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(kiri/kanan/atas/bawah).</a:t>
            </a:r>
            <a:endParaRPr sz="850">
              <a:latin typeface="Microsoft Sans Serif"/>
              <a:cs typeface="Microsoft Sans Serif"/>
            </a:endParaRPr>
          </a:p>
          <a:p>
            <a:pPr marL="275590" indent="-67310">
              <a:lnSpc>
                <a:spcPct val="100000"/>
              </a:lnSpc>
              <a:spcBef>
                <a:spcPts val="705"/>
              </a:spcBef>
              <a:buChar char="•"/>
              <a:tabLst>
                <a:tab pos="275590" algn="l"/>
              </a:tabLst>
            </a:pP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Terjadi</a:t>
            </a:r>
            <a:r>
              <a:rPr sz="850" spc="-2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letusan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yang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tidak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pada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tempatnya.</a:t>
            </a:r>
            <a:endParaRPr sz="850">
              <a:latin typeface="Microsoft Sans Serif"/>
              <a:cs typeface="Microsoft Sans Serif"/>
            </a:endParaRPr>
          </a:p>
          <a:p>
            <a:pPr marL="275590" marR="526415" indent="-67945">
              <a:lnSpc>
                <a:spcPct val="125000"/>
              </a:lnSpc>
              <a:spcBef>
                <a:spcPts val="450"/>
              </a:spcBef>
              <a:buChar char="•"/>
              <a:tabLst>
                <a:tab pos="275590" algn="l"/>
              </a:tabLst>
            </a:pP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Tidak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hadir</a:t>
            </a:r>
            <a:r>
              <a:rPr sz="850" spc="-1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saat</a:t>
            </a:r>
            <a:r>
              <a:rPr sz="850" spc="-1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pemanggilan</a:t>
            </a:r>
            <a:r>
              <a:rPr sz="850" spc="-1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gelombang</a:t>
            </a:r>
            <a:r>
              <a:rPr sz="850" spc="-1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tanpa konfirmasi.</a:t>
            </a:r>
            <a:endParaRPr sz="850">
              <a:latin typeface="Microsoft Sans Serif"/>
              <a:cs typeface="Microsoft Sans Serif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818100" y="1346400"/>
            <a:ext cx="3164205" cy="2400300"/>
            <a:chOff x="3818100" y="1346400"/>
            <a:chExt cx="3164205" cy="2400300"/>
          </a:xfrm>
        </p:grpSpPr>
        <p:sp>
          <p:nvSpPr>
            <p:cNvPr id="13" name="object 13"/>
            <p:cNvSpPr/>
            <p:nvPr/>
          </p:nvSpPr>
          <p:spPr>
            <a:xfrm>
              <a:off x="3818100" y="1346400"/>
              <a:ext cx="3164205" cy="2400300"/>
            </a:xfrm>
            <a:custGeom>
              <a:avLst/>
              <a:gdLst/>
              <a:ahLst/>
              <a:cxnLst/>
              <a:rect l="l" t="t" r="r" b="b"/>
              <a:pathLst>
                <a:path w="3164204" h="2400300">
                  <a:moveTo>
                    <a:pt x="3087600" y="2400300"/>
                  </a:moveTo>
                  <a:lnTo>
                    <a:pt x="76200" y="2400300"/>
                  </a:lnTo>
                  <a:lnTo>
                    <a:pt x="46612" y="2394287"/>
                  </a:lnTo>
                  <a:lnTo>
                    <a:pt x="22383" y="2377916"/>
                  </a:lnTo>
                  <a:lnTo>
                    <a:pt x="6012" y="2353687"/>
                  </a:lnTo>
                  <a:lnTo>
                    <a:pt x="0" y="232410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3087600" y="0"/>
                  </a:lnTo>
                  <a:lnTo>
                    <a:pt x="3117187" y="6012"/>
                  </a:lnTo>
                  <a:lnTo>
                    <a:pt x="3141416" y="22383"/>
                  </a:lnTo>
                  <a:lnTo>
                    <a:pt x="3157787" y="46612"/>
                  </a:lnTo>
                  <a:lnTo>
                    <a:pt x="3163800" y="76200"/>
                  </a:lnTo>
                  <a:lnTo>
                    <a:pt x="3163800" y="2324100"/>
                  </a:lnTo>
                  <a:lnTo>
                    <a:pt x="3157787" y="2353687"/>
                  </a:lnTo>
                  <a:lnTo>
                    <a:pt x="3141416" y="2377916"/>
                  </a:lnTo>
                  <a:lnTo>
                    <a:pt x="3117187" y="2394287"/>
                  </a:lnTo>
                  <a:lnTo>
                    <a:pt x="3087600" y="2400300"/>
                  </a:lnTo>
                  <a:close/>
                </a:path>
              </a:pathLst>
            </a:custGeom>
            <a:solidFill>
              <a:srgbClr val="1D28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18090" y="1346399"/>
              <a:ext cx="3164205" cy="2400300"/>
            </a:xfrm>
            <a:custGeom>
              <a:avLst/>
              <a:gdLst/>
              <a:ahLst/>
              <a:cxnLst/>
              <a:rect l="l" t="t" r="r" b="b"/>
              <a:pathLst>
                <a:path w="3164204" h="2400300">
                  <a:moveTo>
                    <a:pt x="3020923" y="409587"/>
                  </a:moveTo>
                  <a:lnTo>
                    <a:pt x="142875" y="409587"/>
                  </a:lnTo>
                  <a:lnTo>
                    <a:pt x="142875" y="419112"/>
                  </a:lnTo>
                  <a:lnTo>
                    <a:pt x="3020923" y="419112"/>
                  </a:lnTo>
                  <a:lnTo>
                    <a:pt x="3020923" y="409587"/>
                  </a:lnTo>
                  <a:close/>
                </a:path>
                <a:path w="3164204" h="2400300">
                  <a:moveTo>
                    <a:pt x="3163798" y="76200"/>
                  </a:moveTo>
                  <a:lnTo>
                    <a:pt x="3157791" y="46621"/>
                  </a:lnTo>
                  <a:lnTo>
                    <a:pt x="3154273" y="41414"/>
                  </a:lnTo>
                  <a:lnTo>
                    <a:pt x="3154273" y="76200"/>
                  </a:lnTo>
                  <a:lnTo>
                    <a:pt x="3154273" y="2324100"/>
                  </a:lnTo>
                  <a:lnTo>
                    <a:pt x="3149015" y="2349995"/>
                  </a:lnTo>
                  <a:lnTo>
                    <a:pt x="3134690" y="2371191"/>
                  </a:lnTo>
                  <a:lnTo>
                    <a:pt x="3113494" y="2385517"/>
                  </a:lnTo>
                  <a:lnTo>
                    <a:pt x="3087598" y="2390775"/>
                  </a:lnTo>
                  <a:lnTo>
                    <a:pt x="76200" y="2390775"/>
                  </a:lnTo>
                  <a:lnTo>
                    <a:pt x="50317" y="2385517"/>
                  </a:lnTo>
                  <a:lnTo>
                    <a:pt x="29108" y="2371191"/>
                  </a:lnTo>
                  <a:lnTo>
                    <a:pt x="14795" y="2349995"/>
                  </a:lnTo>
                  <a:lnTo>
                    <a:pt x="9525" y="2324100"/>
                  </a:lnTo>
                  <a:lnTo>
                    <a:pt x="9525" y="76200"/>
                  </a:lnTo>
                  <a:lnTo>
                    <a:pt x="14795" y="50317"/>
                  </a:lnTo>
                  <a:lnTo>
                    <a:pt x="29108" y="29121"/>
                  </a:lnTo>
                  <a:lnTo>
                    <a:pt x="50317" y="14795"/>
                  </a:lnTo>
                  <a:lnTo>
                    <a:pt x="76200" y="9525"/>
                  </a:lnTo>
                  <a:lnTo>
                    <a:pt x="3087598" y="9525"/>
                  </a:lnTo>
                  <a:lnTo>
                    <a:pt x="3113494" y="14795"/>
                  </a:lnTo>
                  <a:lnTo>
                    <a:pt x="3134690" y="29121"/>
                  </a:lnTo>
                  <a:lnTo>
                    <a:pt x="3149015" y="50317"/>
                  </a:lnTo>
                  <a:lnTo>
                    <a:pt x="3154273" y="76200"/>
                  </a:lnTo>
                  <a:lnTo>
                    <a:pt x="3154273" y="41414"/>
                  </a:lnTo>
                  <a:lnTo>
                    <a:pt x="3141421" y="22390"/>
                  </a:lnTo>
                  <a:lnTo>
                    <a:pt x="3122384" y="9525"/>
                  </a:lnTo>
                  <a:lnTo>
                    <a:pt x="3117189" y="6019"/>
                  </a:lnTo>
                  <a:lnTo>
                    <a:pt x="3087598" y="0"/>
                  </a:lnTo>
                  <a:lnTo>
                    <a:pt x="76200" y="0"/>
                  </a:lnTo>
                  <a:lnTo>
                    <a:pt x="46621" y="6019"/>
                  </a:lnTo>
                  <a:lnTo>
                    <a:pt x="22390" y="22390"/>
                  </a:lnTo>
                  <a:lnTo>
                    <a:pt x="6019" y="46621"/>
                  </a:lnTo>
                  <a:lnTo>
                    <a:pt x="0" y="76200"/>
                  </a:lnTo>
                  <a:lnTo>
                    <a:pt x="0" y="2324100"/>
                  </a:lnTo>
                  <a:lnTo>
                    <a:pt x="6019" y="2353691"/>
                  </a:lnTo>
                  <a:lnTo>
                    <a:pt x="22390" y="2377922"/>
                  </a:lnTo>
                  <a:lnTo>
                    <a:pt x="46621" y="2394293"/>
                  </a:lnTo>
                  <a:lnTo>
                    <a:pt x="76200" y="2400300"/>
                  </a:lnTo>
                  <a:lnTo>
                    <a:pt x="3087598" y="2400300"/>
                  </a:lnTo>
                  <a:lnTo>
                    <a:pt x="3117189" y="2394293"/>
                  </a:lnTo>
                  <a:lnTo>
                    <a:pt x="3122384" y="2390775"/>
                  </a:lnTo>
                  <a:lnTo>
                    <a:pt x="3141421" y="2377922"/>
                  </a:lnTo>
                  <a:lnTo>
                    <a:pt x="3157791" y="2353691"/>
                  </a:lnTo>
                  <a:lnTo>
                    <a:pt x="3163798" y="2324100"/>
                  </a:lnTo>
                  <a:lnTo>
                    <a:pt x="3163798" y="76200"/>
                  </a:lnTo>
                  <a:close/>
                </a:path>
              </a:pathLst>
            </a:custGeom>
            <a:solidFill>
              <a:srgbClr val="334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960975" y="3184725"/>
              <a:ext cx="2878455" cy="419100"/>
            </a:xfrm>
            <a:custGeom>
              <a:avLst/>
              <a:gdLst/>
              <a:ahLst/>
              <a:cxnLst/>
              <a:rect l="l" t="t" r="r" b="b"/>
              <a:pathLst>
                <a:path w="2878454" h="419100">
                  <a:moveTo>
                    <a:pt x="2839950" y="419100"/>
                  </a:moveTo>
                  <a:lnTo>
                    <a:pt x="38100" y="419100"/>
                  </a:lnTo>
                  <a:lnTo>
                    <a:pt x="23306" y="416093"/>
                  </a:lnTo>
                  <a:lnTo>
                    <a:pt x="11191" y="407908"/>
                  </a:lnTo>
                  <a:lnTo>
                    <a:pt x="3006" y="395793"/>
                  </a:lnTo>
                  <a:lnTo>
                    <a:pt x="0" y="381000"/>
                  </a:lnTo>
                  <a:lnTo>
                    <a:pt x="0" y="38100"/>
                  </a:lnTo>
                  <a:lnTo>
                    <a:pt x="3006" y="23306"/>
                  </a:lnTo>
                  <a:lnTo>
                    <a:pt x="11191" y="11191"/>
                  </a:lnTo>
                  <a:lnTo>
                    <a:pt x="23306" y="3006"/>
                  </a:lnTo>
                  <a:lnTo>
                    <a:pt x="38100" y="0"/>
                  </a:lnTo>
                  <a:lnTo>
                    <a:pt x="2839950" y="0"/>
                  </a:lnTo>
                  <a:lnTo>
                    <a:pt x="2854743" y="3006"/>
                  </a:lnTo>
                  <a:lnTo>
                    <a:pt x="2866858" y="11191"/>
                  </a:lnTo>
                  <a:lnTo>
                    <a:pt x="2875043" y="23306"/>
                  </a:lnTo>
                  <a:lnTo>
                    <a:pt x="2878050" y="38100"/>
                  </a:lnTo>
                  <a:lnTo>
                    <a:pt x="2878050" y="381000"/>
                  </a:lnTo>
                  <a:lnTo>
                    <a:pt x="2875043" y="395793"/>
                  </a:lnTo>
                  <a:lnTo>
                    <a:pt x="2866858" y="407908"/>
                  </a:lnTo>
                  <a:lnTo>
                    <a:pt x="2854743" y="416093"/>
                  </a:lnTo>
                  <a:lnTo>
                    <a:pt x="2839950" y="419100"/>
                  </a:lnTo>
                  <a:close/>
                </a:path>
              </a:pathLst>
            </a:custGeom>
            <a:solidFill>
              <a:srgbClr val="0F16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948274" y="1473643"/>
            <a:ext cx="155194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49E0A"/>
                </a:solidFill>
                <a:latin typeface="Microsoft Sans Serif"/>
                <a:cs typeface="Microsoft Sans Serif"/>
              </a:rPr>
              <a:t>DNS</a:t>
            </a:r>
            <a:r>
              <a:rPr sz="1100" spc="-25" dirty="0">
                <a:solidFill>
                  <a:srgbClr val="F49E0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F49E0A"/>
                </a:solidFill>
                <a:latin typeface="Microsoft Sans Serif"/>
                <a:cs typeface="Microsoft Sans Serif"/>
              </a:rPr>
              <a:t>(DID</a:t>
            </a:r>
            <a:r>
              <a:rPr sz="1100" spc="-25" dirty="0">
                <a:solidFill>
                  <a:srgbClr val="F49E0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F49E0A"/>
                </a:solidFill>
                <a:latin typeface="Microsoft Sans Serif"/>
                <a:cs typeface="Microsoft Sans Serif"/>
              </a:rPr>
              <a:t>NOT</a:t>
            </a:r>
            <a:r>
              <a:rPr sz="1100" spc="-25" dirty="0">
                <a:solidFill>
                  <a:srgbClr val="F49E0A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F49E0A"/>
                </a:solidFill>
                <a:latin typeface="Microsoft Sans Serif"/>
                <a:cs typeface="Microsoft Sans Serif"/>
              </a:rPr>
              <a:t>SHOOT)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948274" y="1845781"/>
            <a:ext cx="139890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CAD4E1"/>
                </a:solidFill>
                <a:latin typeface="Microsoft Sans Serif"/>
                <a:cs typeface="Microsoft Sans Serif"/>
              </a:rPr>
              <a:t>Kondisi</a:t>
            </a:r>
            <a:r>
              <a:rPr sz="850" spc="-20" dirty="0">
                <a:solidFill>
                  <a:srgbClr val="CAD4E1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CAD4E1"/>
                </a:solidFill>
                <a:latin typeface="Microsoft Sans Serif"/>
                <a:cs typeface="Microsoft Sans Serif"/>
              </a:rPr>
              <a:t>yang</a:t>
            </a:r>
            <a:r>
              <a:rPr sz="850" spc="-20" dirty="0">
                <a:solidFill>
                  <a:srgbClr val="CAD4E1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CAD4E1"/>
                </a:solidFill>
                <a:latin typeface="Microsoft Sans Serif"/>
                <a:cs typeface="Microsoft Sans Serif"/>
              </a:rPr>
              <a:t>dianggap</a:t>
            </a:r>
            <a:r>
              <a:rPr sz="850" spc="-15" dirty="0">
                <a:solidFill>
                  <a:srgbClr val="CAD4E1"/>
                </a:solidFill>
                <a:latin typeface="Microsoft Sans Serif"/>
                <a:cs typeface="Microsoft Sans Serif"/>
              </a:rPr>
              <a:t> </a:t>
            </a:r>
            <a:r>
              <a:rPr sz="850" spc="-20" dirty="0">
                <a:solidFill>
                  <a:srgbClr val="CAD4E1"/>
                </a:solidFill>
                <a:latin typeface="Microsoft Sans Serif"/>
                <a:cs typeface="Microsoft Sans Serif"/>
              </a:rPr>
              <a:t>DNS:</a:t>
            </a:r>
            <a:endParaRPr sz="850">
              <a:latin typeface="Microsoft Sans Serif"/>
              <a:cs typeface="Microsoft Sans Serif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055914" y="2034513"/>
            <a:ext cx="27533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930" marR="5080" indent="-62865">
              <a:lnSpc>
                <a:spcPct val="125000"/>
              </a:lnSpc>
              <a:spcBef>
                <a:spcPts val="100"/>
              </a:spcBef>
              <a:buChar char="•"/>
              <a:tabLst>
                <a:tab pos="76200" algn="l"/>
              </a:tabLst>
            </a:pPr>
            <a:r>
              <a:rPr sz="800" dirty="0">
                <a:solidFill>
                  <a:srgbClr val="F7F9FB"/>
                </a:solidFill>
                <a:latin typeface="Microsoft Sans Serif"/>
                <a:cs typeface="Microsoft Sans Serif"/>
              </a:rPr>
              <a:t>Tidak</a:t>
            </a:r>
            <a:r>
              <a:rPr sz="80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F7F9FB"/>
                </a:solidFill>
                <a:latin typeface="Microsoft Sans Serif"/>
                <a:cs typeface="Microsoft Sans Serif"/>
              </a:rPr>
              <a:t>dapat</a:t>
            </a:r>
            <a:r>
              <a:rPr sz="80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F7F9FB"/>
                </a:solidFill>
                <a:latin typeface="Microsoft Sans Serif"/>
                <a:cs typeface="Microsoft Sans Serif"/>
              </a:rPr>
              <a:t>menembak</a:t>
            </a:r>
            <a:r>
              <a:rPr sz="80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setelah</a:t>
            </a:r>
            <a:r>
              <a:rPr sz="80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aba-</a:t>
            </a:r>
            <a:r>
              <a:rPr sz="800" dirty="0">
                <a:solidFill>
                  <a:srgbClr val="F7F9FB"/>
                </a:solidFill>
                <a:latin typeface="Microsoft Sans Serif"/>
                <a:cs typeface="Microsoft Sans Serif"/>
              </a:rPr>
              <a:t>aba</a:t>
            </a:r>
            <a:r>
              <a:rPr sz="80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"TEMBAK"</a:t>
            </a:r>
            <a:r>
              <a:rPr sz="80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karena 	gangguan</a:t>
            </a:r>
            <a:r>
              <a:rPr sz="800" spc="1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senjata/hal</a:t>
            </a:r>
            <a:r>
              <a:rPr sz="800" spc="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lain.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055914" y="2396463"/>
            <a:ext cx="270065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930" marR="5080" indent="-62865">
              <a:lnSpc>
                <a:spcPct val="125000"/>
              </a:lnSpc>
              <a:spcBef>
                <a:spcPts val="100"/>
              </a:spcBef>
              <a:buChar char="•"/>
              <a:tabLst>
                <a:tab pos="76200" algn="l"/>
              </a:tabLst>
            </a:pPr>
            <a:r>
              <a:rPr sz="8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Sengaja</a:t>
            </a:r>
            <a:r>
              <a:rPr sz="800" spc="-2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F7F9FB"/>
                </a:solidFill>
                <a:latin typeface="Microsoft Sans Serif"/>
                <a:cs typeface="Microsoft Sans Serif"/>
              </a:rPr>
              <a:t>tidak</a:t>
            </a:r>
            <a:r>
              <a:rPr sz="80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F7F9FB"/>
                </a:solidFill>
                <a:latin typeface="Microsoft Sans Serif"/>
                <a:cs typeface="Microsoft Sans Serif"/>
              </a:rPr>
              <a:t>menembak</a:t>
            </a:r>
            <a:r>
              <a:rPr sz="80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F7F9FB"/>
                </a:solidFill>
                <a:latin typeface="Microsoft Sans Serif"/>
                <a:cs typeface="Microsoft Sans Serif"/>
              </a:rPr>
              <a:t>di</a:t>
            </a:r>
            <a:r>
              <a:rPr sz="80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F7F9FB"/>
                </a:solidFill>
                <a:latin typeface="Microsoft Sans Serif"/>
                <a:cs typeface="Microsoft Sans Serif"/>
              </a:rPr>
              <a:t>garis</a:t>
            </a:r>
            <a:r>
              <a:rPr sz="80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F7F9FB"/>
                </a:solidFill>
                <a:latin typeface="Microsoft Sans Serif"/>
                <a:cs typeface="Microsoft Sans Serif"/>
              </a:rPr>
              <a:t>tembak</a:t>
            </a:r>
            <a:r>
              <a:rPr sz="800" spc="-2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setelah</a:t>
            </a:r>
            <a:r>
              <a:rPr sz="80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aba-</a:t>
            </a:r>
            <a:r>
              <a:rPr sz="800" spc="-25" dirty="0">
                <a:solidFill>
                  <a:srgbClr val="F7F9FB"/>
                </a:solidFill>
                <a:latin typeface="Microsoft Sans Serif"/>
                <a:cs typeface="Microsoft Sans Serif"/>
              </a:rPr>
              <a:t>aba</a:t>
            </a:r>
            <a:r>
              <a:rPr sz="8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 	dimulai.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055914" y="2758413"/>
            <a:ext cx="25507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930" marR="5080" indent="-62865">
              <a:lnSpc>
                <a:spcPct val="125000"/>
              </a:lnSpc>
              <a:spcBef>
                <a:spcPts val="100"/>
              </a:spcBef>
              <a:buChar char="•"/>
              <a:tabLst>
                <a:tab pos="76200" algn="l"/>
              </a:tabLst>
            </a:pPr>
            <a:r>
              <a:rPr sz="8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Meninggalkan</a:t>
            </a:r>
            <a:r>
              <a:rPr sz="800" dirty="0">
                <a:solidFill>
                  <a:srgbClr val="F7F9FB"/>
                </a:solidFill>
                <a:latin typeface="Microsoft Sans Serif"/>
                <a:cs typeface="Microsoft Sans Serif"/>
              </a:rPr>
              <a:t> garis tembak </a:t>
            </a:r>
            <a:r>
              <a:rPr sz="8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sebelum/sesudah</a:t>
            </a:r>
            <a:r>
              <a:rPr sz="800" spc="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aba-</a:t>
            </a:r>
            <a:r>
              <a:rPr sz="800" spc="-25" dirty="0">
                <a:solidFill>
                  <a:srgbClr val="F7F9FB"/>
                </a:solidFill>
                <a:latin typeface="Microsoft Sans Serif"/>
                <a:cs typeface="Microsoft Sans Serif"/>
              </a:rPr>
              <a:t>aba</a:t>
            </a:r>
            <a:r>
              <a:rPr sz="800" dirty="0">
                <a:solidFill>
                  <a:srgbClr val="F7F9FB"/>
                </a:solidFill>
                <a:latin typeface="Microsoft Sans Serif"/>
                <a:cs typeface="Microsoft Sans Serif"/>
              </a:rPr>
              <a:t> 	tanpa</a:t>
            </a:r>
            <a:r>
              <a:rPr sz="800" spc="-3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F7F9FB"/>
                </a:solidFill>
                <a:latin typeface="Microsoft Sans Serif"/>
                <a:cs typeface="Microsoft Sans Serif"/>
              </a:rPr>
              <a:t>menembak</a:t>
            </a:r>
            <a:r>
              <a:rPr sz="800" spc="-3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F7F9FB"/>
                </a:solidFill>
                <a:latin typeface="Microsoft Sans Serif"/>
                <a:cs typeface="Microsoft Sans Serif"/>
              </a:rPr>
              <a:t>sama</a:t>
            </a:r>
            <a:r>
              <a:rPr sz="800" spc="-3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sekali.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005424" y="3196563"/>
            <a:ext cx="24765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800" b="1" dirty="0">
                <a:solidFill>
                  <a:srgbClr val="EF4444"/>
                </a:solidFill>
                <a:latin typeface="Arial"/>
                <a:cs typeface="Arial"/>
              </a:rPr>
              <a:t>Sanksi</a:t>
            </a:r>
            <a:r>
              <a:rPr sz="800" b="1" spc="-30" dirty="0">
                <a:solidFill>
                  <a:srgbClr val="EF4444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EF4444"/>
                </a:solidFill>
                <a:latin typeface="Arial"/>
                <a:cs typeface="Arial"/>
              </a:rPr>
              <a:t>DNS:</a:t>
            </a:r>
            <a:r>
              <a:rPr sz="800" b="1" spc="-35" dirty="0">
                <a:solidFill>
                  <a:srgbClr val="EF4444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EF4444"/>
                </a:solidFill>
                <a:latin typeface="Microsoft Sans Serif"/>
                <a:cs typeface="Microsoft Sans Serif"/>
              </a:rPr>
              <a:t>Nilai</a:t>
            </a:r>
            <a:r>
              <a:rPr sz="800" spc="-25" dirty="0">
                <a:solidFill>
                  <a:srgbClr val="EF4444"/>
                </a:solidFill>
                <a:latin typeface="Microsoft Sans Serif"/>
                <a:cs typeface="Microsoft Sans Serif"/>
              </a:rPr>
              <a:t> </a:t>
            </a:r>
            <a:r>
              <a:rPr sz="800" spc="-10" dirty="0">
                <a:solidFill>
                  <a:srgbClr val="EF4444"/>
                </a:solidFill>
                <a:latin typeface="Microsoft Sans Serif"/>
                <a:cs typeface="Microsoft Sans Serif"/>
              </a:rPr>
              <a:t>dinyatakan</a:t>
            </a:r>
            <a:r>
              <a:rPr sz="800" spc="-25" dirty="0">
                <a:solidFill>
                  <a:srgbClr val="EF4444"/>
                </a:solidFill>
                <a:latin typeface="Microsoft Sans Serif"/>
                <a:cs typeface="Microsoft Sans Serif"/>
              </a:rPr>
              <a:t> </a:t>
            </a:r>
            <a:r>
              <a:rPr sz="800" b="1" dirty="0">
                <a:solidFill>
                  <a:srgbClr val="EF4444"/>
                </a:solidFill>
                <a:latin typeface="Arial"/>
                <a:cs typeface="Arial"/>
              </a:rPr>
              <a:t>0</a:t>
            </a:r>
            <a:r>
              <a:rPr sz="800" b="1" spc="-30" dirty="0">
                <a:solidFill>
                  <a:srgbClr val="EF4444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EF4444"/>
                </a:solidFill>
                <a:latin typeface="Arial"/>
                <a:cs typeface="Arial"/>
              </a:rPr>
              <a:t>(NOL)</a:t>
            </a:r>
            <a:r>
              <a:rPr sz="800" b="1" spc="-35" dirty="0">
                <a:solidFill>
                  <a:srgbClr val="EF4444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EF4444"/>
                </a:solidFill>
                <a:latin typeface="Microsoft Sans Serif"/>
                <a:cs typeface="Microsoft Sans Serif"/>
              </a:rPr>
              <a:t>dan</a:t>
            </a:r>
            <a:r>
              <a:rPr sz="800" spc="-20" dirty="0">
                <a:solidFill>
                  <a:srgbClr val="EF4444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EF4444"/>
                </a:solidFill>
                <a:latin typeface="Microsoft Sans Serif"/>
                <a:cs typeface="Microsoft Sans Serif"/>
              </a:rPr>
              <a:t>tidak</a:t>
            </a:r>
            <a:r>
              <a:rPr sz="800" spc="-25" dirty="0">
                <a:solidFill>
                  <a:srgbClr val="EF4444"/>
                </a:solidFill>
                <a:latin typeface="Microsoft Sans Serif"/>
                <a:cs typeface="Microsoft Sans Serif"/>
              </a:rPr>
              <a:t> </a:t>
            </a:r>
            <a:r>
              <a:rPr sz="800" spc="-10" dirty="0">
                <a:solidFill>
                  <a:srgbClr val="EF4444"/>
                </a:solidFill>
                <a:latin typeface="Microsoft Sans Serif"/>
                <a:cs typeface="Microsoft Sans Serif"/>
              </a:rPr>
              <a:t>diberi kesempatan</a:t>
            </a:r>
            <a:r>
              <a:rPr sz="800" spc="-15" dirty="0">
                <a:solidFill>
                  <a:srgbClr val="EF4444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EF4444"/>
                </a:solidFill>
                <a:latin typeface="Microsoft Sans Serif"/>
                <a:cs typeface="Microsoft Sans Serif"/>
              </a:rPr>
              <a:t>pada</a:t>
            </a:r>
            <a:r>
              <a:rPr sz="800" spc="-10" dirty="0">
                <a:solidFill>
                  <a:srgbClr val="EF4444"/>
                </a:solidFill>
                <a:latin typeface="Microsoft Sans Serif"/>
                <a:cs typeface="Microsoft Sans Serif"/>
              </a:rPr>
              <a:t> gelombang selanjutnya.</a:t>
            </a:r>
            <a:endParaRPr sz="800">
              <a:latin typeface="Microsoft Sans Serif"/>
              <a:cs typeface="Microsoft Sans Serif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78100" y="4414292"/>
            <a:ext cx="3164205" cy="1162050"/>
            <a:chOff x="578100" y="4414292"/>
            <a:chExt cx="3164205" cy="1162050"/>
          </a:xfrm>
        </p:grpSpPr>
        <p:sp>
          <p:nvSpPr>
            <p:cNvPr id="8" name="object 8"/>
            <p:cNvSpPr/>
            <p:nvPr/>
          </p:nvSpPr>
          <p:spPr>
            <a:xfrm>
              <a:off x="578100" y="4414292"/>
              <a:ext cx="3164205" cy="1162050"/>
            </a:xfrm>
            <a:custGeom>
              <a:avLst/>
              <a:gdLst/>
              <a:ahLst/>
              <a:cxnLst/>
              <a:rect l="l" t="t" r="r" b="b"/>
              <a:pathLst>
                <a:path w="3164204" h="1162050">
                  <a:moveTo>
                    <a:pt x="3087600" y="1162050"/>
                  </a:moveTo>
                  <a:lnTo>
                    <a:pt x="76200" y="1162050"/>
                  </a:lnTo>
                  <a:lnTo>
                    <a:pt x="46612" y="1156037"/>
                  </a:lnTo>
                  <a:lnTo>
                    <a:pt x="22383" y="1139666"/>
                  </a:lnTo>
                  <a:lnTo>
                    <a:pt x="6012" y="1115437"/>
                  </a:lnTo>
                  <a:lnTo>
                    <a:pt x="0" y="108585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3087600" y="0"/>
                  </a:lnTo>
                  <a:lnTo>
                    <a:pt x="3117187" y="6012"/>
                  </a:lnTo>
                  <a:lnTo>
                    <a:pt x="3141416" y="22383"/>
                  </a:lnTo>
                  <a:lnTo>
                    <a:pt x="3157787" y="46612"/>
                  </a:lnTo>
                  <a:lnTo>
                    <a:pt x="3163800" y="76200"/>
                  </a:lnTo>
                  <a:lnTo>
                    <a:pt x="3163800" y="1085850"/>
                  </a:lnTo>
                  <a:lnTo>
                    <a:pt x="3157787" y="1115437"/>
                  </a:lnTo>
                  <a:lnTo>
                    <a:pt x="3141416" y="1139666"/>
                  </a:lnTo>
                  <a:lnTo>
                    <a:pt x="3117187" y="1156037"/>
                  </a:lnTo>
                  <a:lnTo>
                    <a:pt x="3087600" y="1162050"/>
                  </a:lnTo>
                  <a:close/>
                </a:path>
              </a:pathLst>
            </a:custGeom>
            <a:solidFill>
              <a:srgbClr val="1D28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8091" y="4436678"/>
              <a:ext cx="3164205" cy="1139825"/>
            </a:xfrm>
            <a:custGeom>
              <a:avLst/>
              <a:gdLst/>
              <a:ahLst/>
              <a:cxnLst/>
              <a:rect l="l" t="t" r="r" b="b"/>
              <a:pathLst>
                <a:path w="3164204" h="1139825">
                  <a:moveTo>
                    <a:pt x="3163798" y="53822"/>
                  </a:moveTo>
                  <a:lnTo>
                    <a:pt x="3157791" y="24231"/>
                  </a:lnTo>
                  <a:lnTo>
                    <a:pt x="3141421" y="0"/>
                  </a:lnTo>
                  <a:lnTo>
                    <a:pt x="3125622" y="15811"/>
                  </a:lnTo>
                  <a:lnTo>
                    <a:pt x="3134690" y="20180"/>
                  </a:lnTo>
                  <a:lnTo>
                    <a:pt x="3149015" y="35331"/>
                  </a:lnTo>
                  <a:lnTo>
                    <a:pt x="3154273" y="53822"/>
                  </a:lnTo>
                  <a:lnTo>
                    <a:pt x="3154273" y="1063472"/>
                  </a:lnTo>
                  <a:lnTo>
                    <a:pt x="3149015" y="1089355"/>
                  </a:lnTo>
                  <a:lnTo>
                    <a:pt x="3134690" y="1110564"/>
                  </a:lnTo>
                  <a:lnTo>
                    <a:pt x="3113494" y="1124889"/>
                  </a:lnTo>
                  <a:lnTo>
                    <a:pt x="3087598" y="1130147"/>
                  </a:lnTo>
                  <a:lnTo>
                    <a:pt x="76200" y="1130147"/>
                  </a:lnTo>
                  <a:lnTo>
                    <a:pt x="50317" y="1124889"/>
                  </a:lnTo>
                  <a:lnTo>
                    <a:pt x="29108" y="1110564"/>
                  </a:lnTo>
                  <a:lnTo>
                    <a:pt x="14782" y="1089355"/>
                  </a:lnTo>
                  <a:lnTo>
                    <a:pt x="9525" y="1063472"/>
                  </a:lnTo>
                  <a:lnTo>
                    <a:pt x="9525" y="53822"/>
                  </a:lnTo>
                  <a:lnTo>
                    <a:pt x="14782" y="35331"/>
                  </a:lnTo>
                  <a:lnTo>
                    <a:pt x="29108" y="20180"/>
                  </a:lnTo>
                  <a:lnTo>
                    <a:pt x="38188" y="15811"/>
                  </a:lnTo>
                  <a:lnTo>
                    <a:pt x="22390" y="0"/>
                  </a:lnTo>
                  <a:lnTo>
                    <a:pt x="6019" y="24231"/>
                  </a:lnTo>
                  <a:lnTo>
                    <a:pt x="0" y="53822"/>
                  </a:lnTo>
                  <a:lnTo>
                    <a:pt x="0" y="1063472"/>
                  </a:lnTo>
                  <a:lnTo>
                    <a:pt x="6019" y="1093063"/>
                  </a:lnTo>
                  <a:lnTo>
                    <a:pt x="22390" y="1117282"/>
                  </a:lnTo>
                  <a:lnTo>
                    <a:pt x="46621" y="1133652"/>
                  </a:lnTo>
                  <a:lnTo>
                    <a:pt x="76200" y="1139672"/>
                  </a:lnTo>
                  <a:lnTo>
                    <a:pt x="3087598" y="1139672"/>
                  </a:lnTo>
                  <a:lnTo>
                    <a:pt x="3141421" y="1117282"/>
                  </a:lnTo>
                  <a:lnTo>
                    <a:pt x="3163798" y="1063472"/>
                  </a:lnTo>
                  <a:lnTo>
                    <a:pt x="3163798" y="53822"/>
                  </a:lnTo>
                  <a:close/>
                </a:path>
              </a:pathLst>
            </a:custGeom>
            <a:solidFill>
              <a:srgbClr val="334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00483" y="4414292"/>
              <a:ext cx="3119120" cy="38735"/>
            </a:xfrm>
            <a:custGeom>
              <a:avLst/>
              <a:gdLst/>
              <a:ahLst/>
              <a:cxnLst/>
              <a:rect l="l" t="t" r="r" b="b"/>
              <a:pathLst>
                <a:path w="3119120" h="38735">
                  <a:moveTo>
                    <a:pt x="15801" y="38185"/>
                  </a:moveTo>
                  <a:lnTo>
                    <a:pt x="0" y="22383"/>
                  </a:lnTo>
                  <a:lnTo>
                    <a:pt x="24229" y="6012"/>
                  </a:lnTo>
                  <a:lnTo>
                    <a:pt x="53816" y="0"/>
                  </a:lnTo>
                  <a:lnTo>
                    <a:pt x="3065216" y="0"/>
                  </a:lnTo>
                  <a:lnTo>
                    <a:pt x="3094803" y="6012"/>
                  </a:lnTo>
                  <a:lnTo>
                    <a:pt x="3119032" y="22383"/>
                  </a:lnTo>
                  <a:lnTo>
                    <a:pt x="3112841" y="28575"/>
                  </a:lnTo>
                  <a:lnTo>
                    <a:pt x="53816" y="28575"/>
                  </a:lnTo>
                  <a:lnTo>
                    <a:pt x="27927" y="32332"/>
                  </a:lnTo>
                  <a:lnTo>
                    <a:pt x="15801" y="38185"/>
                  </a:lnTo>
                  <a:close/>
                </a:path>
                <a:path w="3119120" h="38735">
                  <a:moveTo>
                    <a:pt x="3103231" y="38185"/>
                  </a:moveTo>
                  <a:lnTo>
                    <a:pt x="3091105" y="32332"/>
                  </a:lnTo>
                  <a:lnTo>
                    <a:pt x="3065216" y="28575"/>
                  </a:lnTo>
                  <a:lnTo>
                    <a:pt x="3112841" y="28575"/>
                  </a:lnTo>
                  <a:lnTo>
                    <a:pt x="3103231" y="38185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0975" y="4842917"/>
              <a:ext cx="2878455" cy="9525"/>
            </a:xfrm>
            <a:custGeom>
              <a:avLst/>
              <a:gdLst/>
              <a:ahLst/>
              <a:cxnLst/>
              <a:rect l="l" t="t" r="r" b="b"/>
              <a:pathLst>
                <a:path w="2878454" h="9525">
                  <a:moveTo>
                    <a:pt x="2878050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2878050" y="0"/>
                  </a:lnTo>
                  <a:lnTo>
                    <a:pt x="2878050" y="9525"/>
                  </a:lnTo>
                  <a:close/>
                </a:path>
              </a:pathLst>
            </a:custGeom>
            <a:solidFill>
              <a:srgbClr val="334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16285" y="4560585"/>
            <a:ext cx="3088005" cy="851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F49E0A"/>
                </a:solidFill>
                <a:latin typeface="Microsoft Sans Serif"/>
                <a:cs typeface="Microsoft Sans Serif"/>
              </a:rPr>
              <a:t>PENALTY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100">
              <a:latin typeface="Microsoft Sans Serif"/>
              <a:cs typeface="Microsoft Sans Serif"/>
            </a:endParaRPr>
          </a:p>
          <a:p>
            <a:pPr marL="104139" marR="171450">
              <a:lnSpc>
                <a:spcPct val="125000"/>
              </a:lnSpc>
            </a:pP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Apabila</a:t>
            </a:r>
            <a:r>
              <a:rPr sz="850" spc="-3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waktu</a:t>
            </a:r>
            <a:r>
              <a:rPr sz="850" spc="-2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telah</a:t>
            </a:r>
            <a:r>
              <a:rPr sz="850" spc="-2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habis</a:t>
            </a:r>
            <a:r>
              <a:rPr sz="850" spc="-2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namun</a:t>
            </a:r>
            <a:r>
              <a:rPr sz="850" spc="-2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petembak</a:t>
            </a:r>
            <a:r>
              <a:rPr sz="850" spc="-2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masih melakukan</a:t>
            </a:r>
            <a:r>
              <a:rPr sz="850" spc="-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penembakan,</a:t>
            </a:r>
            <a:r>
              <a:rPr sz="850" spc="-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maka</a:t>
            </a:r>
            <a:r>
              <a:rPr sz="850" spc="-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akan</a:t>
            </a:r>
            <a:r>
              <a:rPr sz="850" spc="-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dikenakan </a:t>
            </a:r>
            <a:r>
              <a:rPr sz="850" b="1" spc="-10" dirty="0">
                <a:solidFill>
                  <a:srgbClr val="F7F9FB"/>
                </a:solidFill>
                <a:latin typeface="Arial"/>
                <a:cs typeface="Arial"/>
              </a:rPr>
              <a:t>PENALTY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berupa</a:t>
            </a:r>
            <a:r>
              <a:rPr sz="850" spc="-4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EF4444"/>
                </a:solidFill>
                <a:latin typeface="Microsoft Sans Serif"/>
                <a:cs typeface="Microsoft Sans Serif"/>
              </a:rPr>
              <a:t>pengurangan</a:t>
            </a:r>
            <a:r>
              <a:rPr sz="850" spc="-35" dirty="0">
                <a:solidFill>
                  <a:srgbClr val="EF4444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EF4444"/>
                </a:solidFill>
                <a:latin typeface="Microsoft Sans Serif"/>
                <a:cs typeface="Microsoft Sans Serif"/>
              </a:rPr>
              <a:t>nilai</a:t>
            </a:r>
            <a:r>
              <a:rPr sz="850" spc="-35" dirty="0">
                <a:solidFill>
                  <a:srgbClr val="EF4444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EF4444"/>
                </a:solidFill>
                <a:latin typeface="Microsoft Sans Serif"/>
                <a:cs typeface="Microsoft Sans Serif"/>
              </a:rPr>
              <a:t>terbesar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.</a:t>
            </a:r>
            <a:endParaRPr sz="850">
              <a:latin typeface="Microsoft Sans Serif"/>
              <a:cs typeface="Microsoft Sans Serif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818100" y="3889575"/>
            <a:ext cx="3164205" cy="2457450"/>
            <a:chOff x="3818100" y="3889575"/>
            <a:chExt cx="3164205" cy="2457450"/>
          </a:xfrm>
        </p:grpSpPr>
        <p:sp>
          <p:nvSpPr>
            <p:cNvPr id="17" name="object 17"/>
            <p:cNvSpPr/>
            <p:nvPr/>
          </p:nvSpPr>
          <p:spPr>
            <a:xfrm>
              <a:off x="3818100" y="3889575"/>
              <a:ext cx="3164205" cy="2457450"/>
            </a:xfrm>
            <a:custGeom>
              <a:avLst/>
              <a:gdLst/>
              <a:ahLst/>
              <a:cxnLst/>
              <a:rect l="l" t="t" r="r" b="b"/>
              <a:pathLst>
                <a:path w="3164204" h="2457450">
                  <a:moveTo>
                    <a:pt x="3087600" y="2457450"/>
                  </a:moveTo>
                  <a:lnTo>
                    <a:pt x="76200" y="2457450"/>
                  </a:lnTo>
                  <a:lnTo>
                    <a:pt x="46612" y="2451437"/>
                  </a:lnTo>
                  <a:lnTo>
                    <a:pt x="22383" y="2435066"/>
                  </a:lnTo>
                  <a:lnTo>
                    <a:pt x="6012" y="2410837"/>
                  </a:lnTo>
                  <a:lnTo>
                    <a:pt x="0" y="238125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3087600" y="0"/>
                  </a:lnTo>
                  <a:lnTo>
                    <a:pt x="3117187" y="6012"/>
                  </a:lnTo>
                  <a:lnTo>
                    <a:pt x="3141416" y="22383"/>
                  </a:lnTo>
                  <a:lnTo>
                    <a:pt x="3157787" y="46612"/>
                  </a:lnTo>
                  <a:lnTo>
                    <a:pt x="3163800" y="76200"/>
                  </a:lnTo>
                  <a:lnTo>
                    <a:pt x="3163800" y="2381250"/>
                  </a:lnTo>
                  <a:lnTo>
                    <a:pt x="3157787" y="2410837"/>
                  </a:lnTo>
                  <a:lnTo>
                    <a:pt x="3141416" y="2435066"/>
                  </a:lnTo>
                  <a:lnTo>
                    <a:pt x="3117187" y="2451437"/>
                  </a:lnTo>
                  <a:lnTo>
                    <a:pt x="3087600" y="2457450"/>
                  </a:lnTo>
                  <a:close/>
                </a:path>
              </a:pathLst>
            </a:custGeom>
            <a:solidFill>
              <a:srgbClr val="1D28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818090" y="3889575"/>
              <a:ext cx="3164205" cy="2457450"/>
            </a:xfrm>
            <a:custGeom>
              <a:avLst/>
              <a:gdLst/>
              <a:ahLst/>
              <a:cxnLst/>
              <a:rect l="l" t="t" r="r" b="b"/>
              <a:pathLst>
                <a:path w="3164204" h="2457450">
                  <a:moveTo>
                    <a:pt x="3020923" y="409587"/>
                  </a:moveTo>
                  <a:lnTo>
                    <a:pt x="142875" y="409587"/>
                  </a:lnTo>
                  <a:lnTo>
                    <a:pt x="142875" y="419112"/>
                  </a:lnTo>
                  <a:lnTo>
                    <a:pt x="3020923" y="419112"/>
                  </a:lnTo>
                  <a:lnTo>
                    <a:pt x="3020923" y="409587"/>
                  </a:lnTo>
                  <a:close/>
                </a:path>
                <a:path w="3164204" h="2457450">
                  <a:moveTo>
                    <a:pt x="3163798" y="76200"/>
                  </a:moveTo>
                  <a:lnTo>
                    <a:pt x="3157791" y="46621"/>
                  </a:lnTo>
                  <a:lnTo>
                    <a:pt x="3154273" y="41414"/>
                  </a:lnTo>
                  <a:lnTo>
                    <a:pt x="3154273" y="76200"/>
                  </a:lnTo>
                  <a:lnTo>
                    <a:pt x="3154273" y="2381250"/>
                  </a:lnTo>
                  <a:lnTo>
                    <a:pt x="3149015" y="2407145"/>
                  </a:lnTo>
                  <a:lnTo>
                    <a:pt x="3134690" y="2428341"/>
                  </a:lnTo>
                  <a:lnTo>
                    <a:pt x="3113494" y="2442667"/>
                  </a:lnTo>
                  <a:lnTo>
                    <a:pt x="3087598" y="2447925"/>
                  </a:lnTo>
                  <a:lnTo>
                    <a:pt x="76200" y="2447925"/>
                  </a:lnTo>
                  <a:lnTo>
                    <a:pt x="50317" y="2442667"/>
                  </a:lnTo>
                  <a:lnTo>
                    <a:pt x="29108" y="2428341"/>
                  </a:lnTo>
                  <a:lnTo>
                    <a:pt x="14795" y="2407145"/>
                  </a:lnTo>
                  <a:lnTo>
                    <a:pt x="9525" y="2381250"/>
                  </a:lnTo>
                  <a:lnTo>
                    <a:pt x="9525" y="76200"/>
                  </a:lnTo>
                  <a:lnTo>
                    <a:pt x="14795" y="50317"/>
                  </a:lnTo>
                  <a:lnTo>
                    <a:pt x="29108" y="29121"/>
                  </a:lnTo>
                  <a:lnTo>
                    <a:pt x="50317" y="14795"/>
                  </a:lnTo>
                  <a:lnTo>
                    <a:pt x="76200" y="9525"/>
                  </a:lnTo>
                  <a:lnTo>
                    <a:pt x="3087598" y="9525"/>
                  </a:lnTo>
                  <a:lnTo>
                    <a:pt x="3113494" y="14795"/>
                  </a:lnTo>
                  <a:lnTo>
                    <a:pt x="3134690" y="29121"/>
                  </a:lnTo>
                  <a:lnTo>
                    <a:pt x="3149015" y="50317"/>
                  </a:lnTo>
                  <a:lnTo>
                    <a:pt x="3154273" y="76200"/>
                  </a:lnTo>
                  <a:lnTo>
                    <a:pt x="3154273" y="41414"/>
                  </a:lnTo>
                  <a:lnTo>
                    <a:pt x="3141421" y="22390"/>
                  </a:lnTo>
                  <a:lnTo>
                    <a:pt x="3122384" y="9525"/>
                  </a:lnTo>
                  <a:lnTo>
                    <a:pt x="3117189" y="6019"/>
                  </a:lnTo>
                  <a:lnTo>
                    <a:pt x="3087598" y="0"/>
                  </a:lnTo>
                  <a:lnTo>
                    <a:pt x="76200" y="0"/>
                  </a:lnTo>
                  <a:lnTo>
                    <a:pt x="46621" y="6019"/>
                  </a:lnTo>
                  <a:lnTo>
                    <a:pt x="22390" y="22390"/>
                  </a:lnTo>
                  <a:lnTo>
                    <a:pt x="6019" y="46621"/>
                  </a:lnTo>
                  <a:lnTo>
                    <a:pt x="0" y="76200"/>
                  </a:lnTo>
                  <a:lnTo>
                    <a:pt x="0" y="2381250"/>
                  </a:lnTo>
                  <a:lnTo>
                    <a:pt x="6019" y="2410841"/>
                  </a:lnTo>
                  <a:lnTo>
                    <a:pt x="22390" y="2435072"/>
                  </a:lnTo>
                  <a:lnTo>
                    <a:pt x="46621" y="2451443"/>
                  </a:lnTo>
                  <a:lnTo>
                    <a:pt x="76200" y="2457450"/>
                  </a:lnTo>
                  <a:lnTo>
                    <a:pt x="3087598" y="2457450"/>
                  </a:lnTo>
                  <a:lnTo>
                    <a:pt x="3117189" y="2451443"/>
                  </a:lnTo>
                  <a:lnTo>
                    <a:pt x="3122384" y="2447925"/>
                  </a:lnTo>
                  <a:lnTo>
                    <a:pt x="3141421" y="2435072"/>
                  </a:lnTo>
                  <a:lnTo>
                    <a:pt x="3157791" y="2410841"/>
                  </a:lnTo>
                  <a:lnTo>
                    <a:pt x="3163798" y="2381250"/>
                  </a:lnTo>
                  <a:lnTo>
                    <a:pt x="3163798" y="76200"/>
                  </a:lnTo>
                  <a:close/>
                </a:path>
              </a:pathLst>
            </a:custGeom>
            <a:solidFill>
              <a:srgbClr val="334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960975" y="5785050"/>
              <a:ext cx="2878455" cy="419100"/>
            </a:xfrm>
            <a:custGeom>
              <a:avLst/>
              <a:gdLst/>
              <a:ahLst/>
              <a:cxnLst/>
              <a:rect l="l" t="t" r="r" b="b"/>
              <a:pathLst>
                <a:path w="2878454" h="419100">
                  <a:moveTo>
                    <a:pt x="2839950" y="419100"/>
                  </a:moveTo>
                  <a:lnTo>
                    <a:pt x="38100" y="419100"/>
                  </a:lnTo>
                  <a:lnTo>
                    <a:pt x="23306" y="416093"/>
                  </a:lnTo>
                  <a:lnTo>
                    <a:pt x="11191" y="407908"/>
                  </a:lnTo>
                  <a:lnTo>
                    <a:pt x="3006" y="395793"/>
                  </a:lnTo>
                  <a:lnTo>
                    <a:pt x="0" y="381000"/>
                  </a:lnTo>
                  <a:lnTo>
                    <a:pt x="0" y="38100"/>
                  </a:lnTo>
                  <a:lnTo>
                    <a:pt x="3006" y="23306"/>
                  </a:lnTo>
                  <a:lnTo>
                    <a:pt x="11191" y="11191"/>
                  </a:lnTo>
                  <a:lnTo>
                    <a:pt x="23306" y="3006"/>
                  </a:lnTo>
                  <a:lnTo>
                    <a:pt x="38100" y="0"/>
                  </a:lnTo>
                  <a:lnTo>
                    <a:pt x="2839950" y="0"/>
                  </a:lnTo>
                  <a:lnTo>
                    <a:pt x="2854743" y="3006"/>
                  </a:lnTo>
                  <a:lnTo>
                    <a:pt x="2866858" y="11191"/>
                  </a:lnTo>
                  <a:lnTo>
                    <a:pt x="2875043" y="23306"/>
                  </a:lnTo>
                  <a:lnTo>
                    <a:pt x="2878050" y="38100"/>
                  </a:lnTo>
                  <a:lnTo>
                    <a:pt x="2878050" y="381000"/>
                  </a:lnTo>
                  <a:lnTo>
                    <a:pt x="2875043" y="395793"/>
                  </a:lnTo>
                  <a:lnTo>
                    <a:pt x="2866858" y="407908"/>
                  </a:lnTo>
                  <a:lnTo>
                    <a:pt x="2854743" y="416093"/>
                  </a:lnTo>
                  <a:lnTo>
                    <a:pt x="2839950" y="419100"/>
                  </a:lnTo>
                  <a:close/>
                </a:path>
              </a:pathLst>
            </a:custGeom>
            <a:solidFill>
              <a:srgbClr val="0F16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948274" y="4016818"/>
            <a:ext cx="1510030" cy="527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49E0A"/>
                </a:solidFill>
                <a:latin typeface="Microsoft Sans Serif"/>
                <a:cs typeface="Microsoft Sans Serif"/>
              </a:rPr>
              <a:t>DNF</a:t>
            </a:r>
            <a:r>
              <a:rPr sz="1100" spc="-25" dirty="0">
                <a:solidFill>
                  <a:srgbClr val="F49E0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F49E0A"/>
                </a:solidFill>
                <a:latin typeface="Microsoft Sans Serif"/>
                <a:cs typeface="Microsoft Sans Serif"/>
              </a:rPr>
              <a:t>(DID</a:t>
            </a:r>
            <a:r>
              <a:rPr sz="1100" spc="-25" dirty="0">
                <a:solidFill>
                  <a:srgbClr val="F49E0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F49E0A"/>
                </a:solidFill>
                <a:latin typeface="Microsoft Sans Serif"/>
                <a:cs typeface="Microsoft Sans Serif"/>
              </a:rPr>
              <a:t>NOT</a:t>
            </a:r>
            <a:r>
              <a:rPr sz="1100" spc="-25" dirty="0">
                <a:solidFill>
                  <a:srgbClr val="F49E0A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F49E0A"/>
                </a:solidFill>
                <a:latin typeface="Microsoft Sans Serif"/>
                <a:cs typeface="Microsoft Sans Serif"/>
              </a:rPr>
              <a:t>FINISH)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850" spc="-10" dirty="0">
                <a:solidFill>
                  <a:srgbClr val="CAD4E1"/>
                </a:solidFill>
                <a:latin typeface="Microsoft Sans Serif"/>
                <a:cs typeface="Microsoft Sans Serif"/>
              </a:rPr>
              <a:t>Kondisi</a:t>
            </a:r>
            <a:r>
              <a:rPr sz="850" spc="-20" dirty="0">
                <a:solidFill>
                  <a:srgbClr val="CAD4E1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CAD4E1"/>
                </a:solidFill>
                <a:latin typeface="Microsoft Sans Serif"/>
                <a:cs typeface="Microsoft Sans Serif"/>
              </a:rPr>
              <a:t>yang</a:t>
            </a:r>
            <a:r>
              <a:rPr sz="850" spc="-20" dirty="0">
                <a:solidFill>
                  <a:srgbClr val="CAD4E1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CAD4E1"/>
                </a:solidFill>
                <a:latin typeface="Microsoft Sans Serif"/>
                <a:cs typeface="Microsoft Sans Serif"/>
              </a:rPr>
              <a:t>dianggap</a:t>
            </a:r>
            <a:r>
              <a:rPr sz="850" spc="-15" dirty="0">
                <a:solidFill>
                  <a:srgbClr val="CAD4E1"/>
                </a:solidFill>
                <a:latin typeface="Microsoft Sans Serif"/>
                <a:cs typeface="Microsoft Sans Serif"/>
              </a:rPr>
              <a:t> </a:t>
            </a:r>
            <a:r>
              <a:rPr sz="850" spc="-20" dirty="0">
                <a:solidFill>
                  <a:srgbClr val="CAD4E1"/>
                </a:solidFill>
                <a:latin typeface="Microsoft Sans Serif"/>
                <a:cs typeface="Microsoft Sans Serif"/>
              </a:rPr>
              <a:t>DNF:</a:t>
            </a:r>
            <a:endParaRPr sz="850">
              <a:latin typeface="Microsoft Sans Serif"/>
              <a:cs typeface="Microsoft Sans Serif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055914" y="4577688"/>
            <a:ext cx="24777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930" marR="5080" indent="-62865">
              <a:lnSpc>
                <a:spcPct val="125000"/>
              </a:lnSpc>
              <a:spcBef>
                <a:spcPts val="100"/>
              </a:spcBef>
              <a:buChar char="•"/>
              <a:tabLst>
                <a:tab pos="76200" algn="l"/>
              </a:tabLst>
            </a:pPr>
            <a:r>
              <a:rPr sz="800" dirty="0">
                <a:solidFill>
                  <a:srgbClr val="F7F9FB"/>
                </a:solidFill>
                <a:latin typeface="Microsoft Sans Serif"/>
                <a:cs typeface="Microsoft Sans Serif"/>
              </a:rPr>
              <a:t>Tidak</a:t>
            </a:r>
            <a:r>
              <a:rPr sz="80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menyelesaikan</a:t>
            </a:r>
            <a:r>
              <a:rPr sz="800" spc="-1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F7F9FB"/>
                </a:solidFill>
                <a:latin typeface="Microsoft Sans Serif"/>
                <a:cs typeface="Microsoft Sans Serif"/>
              </a:rPr>
              <a:t>10</a:t>
            </a:r>
            <a:r>
              <a:rPr sz="800" spc="-1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tembakan</a:t>
            </a:r>
            <a:r>
              <a:rPr sz="800" spc="-1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F7F9FB"/>
                </a:solidFill>
                <a:latin typeface="Microsoft Sans Serif"/>
                <a:cs typeface="Microsoft Sans Serif"/>
              </a:rPr>
              <a:t>karena</a:t>
            </a:r>
            <a:r>
              <a:rPr sz="800" spc="-1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kehabisan 	waktu/lambat.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055914" y="4939638"/>
            <a:ext cx="25330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930" marR="5080" indent="-62865">
              <a:lnSpc>
                <a:spcPct val="125000"/>
              </a:lnSpc>
              <a:spcBef>
                <a:spcPts val="100"/>
              </a:spcBef>
              <a:buChar char="•"/>
              <a:tabLst>
                <a:tab pos="76200" algn="l"/>
              </a:tabLst>
            </a:pPr>
            <a:r>
              <a:rPr sz="8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Terjadi</a:t>
            </a:r>
            <a:r>
              <a:rPr sz="800" spc="-2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gangguan</a:t>
            </a:r>
            <a:r>
              <a:rPr sz="80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senjata</a:t>
            </a:r>
            <a:r>
              <a:rPr sz="80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F7F9FB"/>
                </a:solidFill>
                <a:latin typeface="Microsoft Sans Serif"/>
                <a:cs typeface="Microsoft Sans Serif"/>
              </a:rPr>
              <a:t>yang</a:t>
            </a:r>
            <a:r>
              <a:rPr sz="800" spc="-2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F7F9FB"/>
                </a:solidFill>
                <a:latin typeface="Microsoft Sans Serif"/>
                <a:cs typeface="Microsoft Sans Serif"/>
              </a:rPr>
              <a:t>tidak</a:t>
            </a:r>
            <a:r>
              <a:rPr sz="80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F7F9FB"/>
                </a:solidFill>
                <a:latin typeface="Microsoft Sans Serif"/>
                <a:cs typeface="Microsoft Sans Serif"/>
              </a:rPr>
              <a:t>dapat</a:t>
            </a:r>
            <a:r>
              <a:rPr sz="80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diatasi</a:t>
            </a:r>
            <a:r>
              <a:rPr sz="80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saat</a:t>
            </a:r>
            <a:r>
              <a:rPr sz="8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 	penembakan.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055914" y="5332068"/>
            <a:ext cx="234569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565" indent="-62865">
              <a:lnSpc>
                <a:spcPct val="100000"/>
              </a:lnSpc>
              <a:spcBef>
                <a:spcPts val="100"/>
              </a:spcBef>
              <a:buChar char="•"/>
              <a:tabLst>
                <a:tab pos="75565" algn="l"/>
              </a:tabLst>
            </a:pPr>
            <a:r>
              <a:rPr sz="800" dirty="0">
                <a:solidFill>
                  <a:srgbClr val="F7F9FB"/>
                </a:solidFill>
                <a:latin typeface="Microsoft Sans Serif"/>
                <a:cs typeface="Microsoft Sans Serif"/>
              </a:rPr>
              <a:t>Mengisi</a:t>
            </a:r>
            <a:r>
              <a:rPr sz="800" spc="-4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F7F9FB"/>
                </a:solidFill>
                <a:latin typeface="Microsoft Sans Serif"/>
                <a:cs typeface="Microsoft Sans Serif"/>
              </a:rPr>
              <a:t>peluru</a:t>
            </a:r>
            <a:r>
              <a:rPr sz="800" spc="-3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F7F9FB"/>
                </a:solidFill>
                <a:latin typeface="Microsoft Sans Serif"/>
                <a:cs typeface="Microsoft Sans Serif"/>
              </a:rPr>
              <a:t>kurang</a:t>
            </a:r>
            <a:r>
              <a:rPr sz="800" spc="-3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F7F9FB"/>
                </a:solidFill>
                <a:latin typeface="Microsoft Sans Serif"/>
                <a:cs typeface="Microsoft Sans Serif"/>
              </a:rPr>
              <a:t>dari</a:t>
            </a:r>
            <a:r>
              <a:rPr sz="800" spc="-3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F7F9FB"/>
                </a:solidFill>
                <a:latin typeface="Microsoft Sans Serif"/>
                <a:cs typeface="Microsoft Sans Serif"/>
              </a:rPr>
              <a:t>10</a:t>
            </a:r>
            <a:r>
              <a:rPr sz="800" spc="-3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F7F9FB"/>
                </a:solidFill>
                <a:latin typeface="Microsoft Sans Serif"/>
                <a:cs typeface="Microsoft Sans Serif"/>
              </a:rPr>
              <a:t>butir</a:t>
            </a:r>
            <a:r>
              <a:rPr sz="800" spc="-3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F7F9FB"/>
                </a:solidFill>
                <a:latin typeface="Microsoft Sans Serif"/>
                <a:cs typeface="Microsoft Sans Serif"/>
              </a:rPr>
              <a:t>tanpa</a:t>
            </a:r>
            <a:r>
              <a:rPr sz="800" spc="-3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disadari.</a:t>
            </a:r>
            <a:endParaRPr sz="800" dirty="0">
              <a:latin typeface="Microsoft Sans Serif"/>
              <a:cs typeface="Microsoft Sans Serif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005424" y="5541618"/>
            <a:ext cx="2544445" cy="585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5730" indent="-62865">
              <a:lnSpc>
                <a:spcPct val="100000"/>
              </a:lnSpc>
              <a:spcBef>
                <a:spcPts val="100"/>
              </a:spcBef>
              <a:buChar char="•"/>
              <a:tabLst>
                <a:tab pos="125730" algn="l"/>
              </a:tabLst>
            </a:pPr>
            <a:r>
              <a:rPr sz="8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Sengaja</a:t>
            </a:r>
            <a:r>
              <a:rPr sz="800" spc="-3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F7F9FB"/>
                </a:solidFill>
                <a:latin typeface="Microsoft Sans Serif"/>
                <a:cs typeface="Microsoft Sans Serif"/>
              </a:rPr>
              <a:t>berhenti</a:t>
            </a:r>
            <a:r>
              <a:rPr sz="800" spc="-2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F7F9FB"/>
                </a:solidFill>
                <a:latin typeface="Microsoft Sans Serif"/>
                <a:cs typeface="Microsoft Sans Serif"/>
              </a:rPr>
              <a:t>sebelum</a:t>
            </a:r>
            <a:r>
              <a:rPr sz="800" spc="-2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F7F9FB"/>
                </a:solidFill>
                <a:latin typeface="Microsoft Sans Serif"/>
                <a:cs typeface="Microsoft Sans Serif"/>
              </a:rPr>
              <a:t>10</a:t>
            </a:r>
            <a:r>
              <a:rPr sz="800" spc="-2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F7F9FB"/>
                </a:solidFill>
                <a:latin typeface="Microsoft Sans Serif"/>
                <a:cs typeface="Microsoft Sans Serif"/>
              </a:rPr>
              <a:t>butir</a:t>
            </a:r>
            <a:r>
              <a:rPr sz="800" spc="-2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0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selesai.</a:t>
            </a:r>
            <a:endParaRPr sz="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800">
              <a:latin typeface="Microsoft Sans Serif"/>
              <a:cs typeface="Microsoft Sans Serif"/>
            </a:endParaRPr>
          </a:p>
          <a:p>
            <a:pPr marL="12700" marR="5080">
              <a:lnSpc>
                <a:spcPct val="125000"/>
              </a:lnSpc>
              <a:spcBef>
                <a:spcPts val="5"/>
              </a:spcBef>
            </a:pPr>
            <a:r>
              <a:rPr sz="800" b="1" dirty="0">
                <a:solidFill>
                  <a:srgbClr val="F49E0A"/>
                </a:solidFill>
                <a:latin typeface="Arial"/>
                <a:cs typeface="Arial"/>
              </a:rPr>
              <a:t>Sanksi</a:t>
            </a:r>
            <a:r>
              <a:rPr sz="800" b="1" spc="-10" dirty="0">
                <a:solidFill>
                  <a:srgbClr val="F49E0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F49E0A"/>
                </a:solidFill>
                <a:latin typeface="Arial"/>
                <a:cs typeface="Arial"/>
              </a:rPr>
              <a:t>DNF:</a:t>
            </a:r>
            <a:r>
              <a:rPr sz="800" b="1" spc="-10" dirty="0">
                <a:solidFill>
                  <a:srgbClr val="F49E0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F49E0A"/>
                </a:solidFill>
                <a:latin typeface="Microsoft Sans Serif"/>
                <a:cs typeface="Microsoft Sans Serif"/>
              </a:rPr>
              <a:t>Nilai </a:t>
            </a:r>
            <a:r>
              <a:rPr sz="800" spc="-10" dirty="0">
                <a:solidFill>
                  <a:srgbClr val="F49E0A"/>
                </a:solidFill>
                <a:latin typeface="Microsoft Sans Serif"/>
                <a:cs typeface="Microsoft Sans Serif"/>
              </a:rPr>
              <a:t>dihitung</a:t>
            </a:r>
            <a:r>
              <a:rPr sz="800" spc="-5" dirty="0">
                <a:solidFill>
                  <a:srgbClr val="F49E0A"/>
                </a:solidFill>
                <a:latin typeface="Microsoft Sans Serif"/>
                <a:cs typeface="Microsoft Sans Serif"/>
              </a:rPr>
              <a:t> </a:t>
            </a:r>
            <a:r>
              <a:rPr sz="800" spc="-10" dirty="0">
                <a:solidFill>
                  <a:srgbClr val="F49E0A"/>
                </a:solidFill>
                <a:latin typeface="Microsoft Sans Serif"/>
                <a:cs typeface="Microsoft Sans Serif"/>
              </a:rPr>
              <a:t>berdasarkan</a:t>
            </a:r>
            <a:r>
              <a:rPr sz="800" dirty="0">
                <a:solidFill>
                  <a:srgbClr val="F49E0A"/>
                </a:solidFill>
                <a:latin typeface="Microsoft Sans Serif"/>
                <a:cs typeface="Microsoft Sans Serif"/>
              </a:rPr>
              <a:t> </a:t>
            </a:r>
            <a:r>
              <a:rPr sz="800" spc="-10" dirty="0">
                <a:solidFill>
                  <a:srgbClr val="F49E0A"/>
                </a:solidFill>
                <a:latin typeface="Microsoft Sans Serif"/>
                <a:cs typeface="Microsoft Sans Serif"/>
              </a:rPr>
              <a:t>tembakan</a:t>
            </a:r>
            <a:r>
              <a:rPr sz="800" dirty="0">
                <a:solidFill>
                  <a:srgbClr val="F49E0A"/>
                </a:solidFill>
                <a:latin typeface="Microsoft Sans Serif"/>
                <a:cs typeface="Microsoft Sans Serif"/>
              </a:rPr>
              <a:t> </a:t>
            </a:r>
            <a:r>
              <a:rPr sz="800" spc="-20" dirty="0">
                <a:solidFill>
                  <a:srgbClr val="F49E0A"/>
                </a:solidFill>
                <a:latin typeface="Microsoft Sans Serif"/>
                <a:cs typeface="Microsoft Sans Serif"/>
              </a:rPr>
              <a:t>yang</a:t>
            </a:r>
            <a:r>
              <a:rPr sz="800" dirty="0">
                <a:solidFill>
                  <a:srgbClr val="F49E0A"/>
                </a:solidFill>
                <a:latin typeface="Microsoft Sans Serif"/>
                <a:cs typeface="Microsoft Sans Serif"/>
              </a:rPr>
              <a:t> telah</a:t>
            </a:r>
            <a:r>
              <a:rPr sz="800" spc="-25" dirty="0">
                <a:solidFill>
                  <a:srgbClr val="F49E0A"/>
                </a:solidFill>
                <a:latin typeface="Microsoft Sans Serif"/>
                <a:cs typeface="Microsoft Sans Serif"/>
              </a:rPr>
              <a:t> </a:t>
            </a:r>
            <a:r>
              <a:rPr sz="800" spc="-10" dirty="0">
                <a:solidFill>
                  <a:srgbClr val="F49E0A"/>
                </a:solidFill>
                <a:latin typeface="Microsoft Sans Serif"/>
                <a:cs typeface="Microsoft Sans Serif"/>
              </a:rPr>
              <a:t>dilaksanakan</a:t>
            </a:r>
            <a:r>
              <a:rPr sz="800" spc="-25" dirty="0">
                <a:solidFill>
                  <a:srgbClr val="F49E0A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F49E0A"/>
                </a:solidFill>
                <a:latin typeface="Microsoft Sans Serif"/>
                <a:cs typeface="Microsoft Sans Serif"/>
              </a:rPr>
              <a:t>saja</a:t>
            </a:r>
            <a:r>
              <a:rPr sz="800" spc="-25" dirty="0">
                <a:solidFill>
                  <a:srgbClr val="F49E0A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F49E0A"/>
                </a:solidFill>
                <a:latin typeface="Microsoft Sans Serif"/>
                <a:cs typeface="Microsoft Sans Serif"/>
              </a:rPr>
              <a:t>(tidak</a:t>
            </a:r>
            <a:r>
              <a:rPr sz="800" spc="-20" dirty="0">
                <a:solidFill>
                  <a:srgbClr val="F49E0A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F49E0A"/>
                </a:solidFill>
                <a:latin typeface="Microsoft Sans Serif"/>
                <a:cs typeface="Microsoft Sans Serif"/>
              </a:rPr>
              <a:t>ada</a:t>
            </a:r>
            <a:r>
              <a:rPr sz="800" spc="-25" dirty="0">
                <a:solidFill>
                  <a:srgbClr val="F49E0A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F49E0A"/>
                </a:solidFill>
                <a:latin typeface="Microsoft Sans Serif"/>
                <a:cs typeface="Microsoft Sans Serif"/>
              </a:rPr>
              <a:t>tambahan</a:t>
            </a:r>
            <a:r>
              <a:rPr sz="800" spc="-25" dirty="0">
                <a:solidFill>
                  <a:srgbClr val="F49E0A"/>
                </a:solidFill>
                <a:latin typeface="Microsoft Sans Serif"/>
                <a:cs typeface="Microsoft Sans Serif"/>
              </a:rPr>
              <a:t> </a:t>
            </a:r>
            <a:r>
              <a:rPr sz="800" spc="-10" dirty="0">
                <a:solidFill>
                  <a:srgbClr val="F49E0A"/>
                </a:solidFill>
                <a:latin typeface="Microsoft Sans Serif"/>
                <a:cs typeface="Microsoft Sans Serif"/>
              </a:rPr>
              <a:t>waktu).</a:t>
            </a:r>
            <a:endParaRPr sz="800">
              <a:latin typeface="Microsoft Sans Serif"/>
              <a:cs typeface="Microsoft Sans Serif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60E2B5FE-A883-45B9-888E-6F1A4474FE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1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11" b="93388" l="9936" r="89904">
                        <a14:foregroundMark x1="31571" y1="18595" x2="31571" y2="18595"/>
                        <a14:foregroundMark x1="38622" y1="19215" x2="38622" y2="19215"/>
                        <a14:foregroundMark x1="61218" y1="20041" x2="61218" y2="20041"/>
                        <a14:foregroundMark x1="56571" y1="14876" x2="56571" y2="14876"/>
                        <a14:foregroundMark x1="66026" y1="19835" x2="66026" y2="19835"/>
                        <a14:foregroundMark x1="76603" y1="36570" x2="76603" y2="36570"/>
                        <a14:foregroundMark x1="54647" y1="91942" x2="54647" y2="91942"/>
                        <a14:foregroundMark x1="48718" y1="92562" x2="45833" y2="90909"/>
                        <a14:foregroundMark x1="45833" y1="91942" x2="43429" y2="89669"/>
                        <a14:foregroundMark x1="45833" y1="91322" x2="45833" y2="91322"/>
                        <a14:foregroundMark x1="45833" y1="91322" x2="45833" y2="91322"/>
                        <a14:foregroundMark x1="45833" y1="91322" x2="45833" y2="91322"/>
                        <a14:foregroundMark x1="46314" y1="92355" x2="44231" y2="90083"/>
                        <a14:foregroundMark x1="48397" y1="92355" x2="52885" y2="92355"/>
                        <a14:foregroundMark x1="48397" y1="91322" x2="50160" y2="92355"/>
                        <a14:foregroundMark x1="51923" y1="92975" x2="52083" y2="93182"/>
                        <a14:foregroundMark x1="52244" y1="93388" x2="52244" y2="93388"/>
                        <a14:foregroundMark x1="53045" y1="93182" x2="50801" y2="92562"/>
                        <a14:foregroundMark x1="39583" y1="15496" x2="38622" y2="14050"/>
                        <a14:foregroundMark x1="39583" y1="17355" x2="39103" y2="14876"/>
                        <a14:foregroundMark x1="39744" y1="17355" x2="39744" y2="15909"/>
                        <a14:foregroundMark x1="40064" y1="15702" x2="37821" y2="13430"/>
                        <a14:foregroundMark x1="30609" y1="38017" x2="30609" y2="38017"/>
                        <a14:foregroundMark x1="32853" y1="20248" x2="32853" y2="20248"/>
                        <a14:foregroundMark x1="32853" y1="20248" x2="32853" y2="20248"/>
                        <a14:foregroundMark x1="32853" y1="20248" x2="32853" y2="20248"/>
                        <a14:foregroundMark x1="32853" y1="20248" x2="32853" y2="20248"/>
                        <a14:foregroundMark x1="31891" y1="16736" x2="31891" y2="16736"/>
                        <a14:foregroundMark x1="32372" y1="17355" x2="32372" y2="17355"/>
                        <a14:foregroundMark x1="32372" y1="17355" x2="31090" y2="18182"/>
                        <a14:foregroundMark x1="32372" y1="16942" x2="31891" y2="17355"/>
                        <a14:foregroundMark x1="32212" y1="17355" x2="30929" y2="17562"/>
                        <a14:backgroundMark x1="53586" y1="94425" x2="58494" y2="9628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28024" y="1012966"/>
            <a:ext cx="9612548" cy="745964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bject 29"/>
          <p:cNvSpPr txBox="1"/>
          <p:nvPr/>
        </p:nvSpPr>
        <p:spPr>
          <a:xfrm>
            <a:off x="717799" y="510282"/>
            <a:ext cx="3123565" cy="488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F7F9FB"/>
                </a:solidFill>
                <a:latin typeface="Microsoft Sans Serif"/>
                <a:cs typeface="Microsoft Sans Serif"/>
              </a:rPr>
              <a:t>MATERI:</a:t>
            </a:r>
            <a:r>
              <a:rPr sz="1600" spc="-3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F7F9FB"/>
                </a:solidFill>
                <a:latin typeface="Microsoft Sans Serif"/>
                <a:cs typeface="Microsoft Sans Serif"/>
              </a:rPr>
              <a:t>DUELING</a:t>
            </a:r>
            <a:r>
              <a:rPr sz="1600" spc="-3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160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PLAT</a:t>
            </a:r>
            <a:endParaRPr sz="16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900" spc="-10" dirty="0">
                <a:solidFill>
                  <a:srgbClr val="93A3B8"/>
                </a:solidFill>
                <a:latin typeface="Microsoft Sans Serif"/>
                <a:cs typeface="Microsoft Sans Serif"/>
              </a:rPr>
              <a:t>KETENTUAN,</a:t>
            </a:r>
            <a:r>
              <a:rPr sz="900" spc="-45" dirty="0">
                <a:solidFill>
                  <a:srgbClr val="93A3B8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93A3B8"/>
                </a:solidFill>
                <a:latin typeface="Microsoft Sans Serif"/>
                <a:cs typeface="Microsoft Sans Serif"/>
              </a:rPr>
              <a:t>TEKNIS,</a:t>
            </a:r>
            <a:r>
              <a:rPr sz="900" spc="-35" dirty="0">
                <a:solidFill>
                  <a:srgbClr val="93A3B8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93A3B8"/>
                </a:solidFill>
                <a:latin typeface="Microsoft Sans Serif"/>
                <a:cs typeface="Microsoft Sans Serif"/>
              </a:rPr>
              <a:t>METODE</a:t>
            </a:r>
            <a:r>
              <a:rPr sz="900" spc="-35" dirty="0">
                <a:solidFill>
                  <a:srgbClr val="93A3B8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93A3B8"/>
                </a:solidFill>
                <a:latin typeface="Microsoft Sans Serif"/>
                <a:cs typeface="Microsoft Sans Serif"/>
              </a:rPr>
              <a:t>PENILAIAN,</a:t>
            </a:r>
            <a:r>
              <a:rPr sz="900" spc="-35" dirty="0">
                <a:solidFill>
                  <a:srgbClr val="93A3B8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93A3B8"/>
                </a:solidFill>
                <a:latin typeface="Microsoft Sans Serif"/>
                <a:cs typeface="Microsoft Sans Serif"/>
              </a:rPr>
              <a:t>DAN</a:t>
            </a:r>
            <a:r>
              <a:rPr sz="900" spc="-30" dirty="0">
                <a:solidFill>
                  <a:srgbClr val="93A3B8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93A3B8"/>
                </a:solidFill>
                <a:latin typeface="Microsoft Sans Serif"/>
                <a:cs typeface="Microsoft Sans Serif"/>
              </a:rPr>
              <a:t>DQ/DNF</a:t>
            </a:r>
            <a:endParaRPr sz="900" dirty="0">
              <a:latin typeface="Microsoft Sans Serif"/>
              <a:cs typeface="Microsoft Sans Serif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578100" y="1346400"/>
            <a:ext cx="3164205" cy="2809875"/>
            <a:chOff x="578100" y="1346400"/>
            <a:chExt cx="3164205" cy="2809875"/>
          </a:xfrm>
        </p:grpSpPr>
        <p:sp>
          <p:nvSpPr>
            <p:cNvPr id="3" name="object 3"/>
            <p:cNvSpPr/>
            <p:nvPr/>
          </p:nvSpPr>
          <p:spPr>
            <a:xfrm>
              <a:off x="578100" y="1346400"/>
              <a:ext cx="3164205" cy="2809875"/>
            </a:xfrm>
            <a:custGeom>
              <a:avLst/>
              <a:gdLst/>
              <a:ahLst/>
              <a:cxnLst/>
              <a:rect l="l" t="t" r="r" b="b"/>
              <a:pathLst>
                <a:path w="3164204" h="2809875">
                  <a:moveTo>
                    <a:pt x="3087600" y="2809875"/>
                  </a:moveTo>
                  <a:lnTo>
                    <a:pt x="76200" y="2809875"/>
                  </a:lnTo>
                  <a:lnTo>
                    <a:pt x="46612" y="2803862"/>
                  </a:lnTo>
                  <a:lnTo>
                    <a:pt x="22383" y="2787491"/>
                  </a:lnTo>
                  <a:lnTo>
                    <a:pt x="6012" y="2763262"/>
                  </a:lnTo>
                  <a:lnTo>
                    <a:pt x="0" y="2733675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3087600" y="0"/>
                  </a:lnTo>
                  <a:lnTo>
                    <a:pt x="3117187" y="6012"/>
                  </a:lnTo>
                  <a:lnTo>
                    <a:pt x="3141416" y="22383"/>
                  </a:lnTo>
                  <a:lnTo>
                    <a:pt x="3157787" y="46612"/>
                  </a:lnTo>
                  <a:lnTo>
                    <a:pt x="3163800" y="76200"/>
                  </a:lnTo>
                  <a:lnTo>
                    <a:pt x="3163800" y="2733675"/>
                  </a:lnTo>
                  <a:lnTo>
                    <a:pt x="3157787" y="2763262"/>
                  </a:lnTo>
                  <a:lnTo>
                    <a:pt x="3141416" y="2787491"/>
                  </a:lnTo>
                  <a:lnTo>
                    <a:pt x="3117187" y="2803862"/>
                  </a:lnTo>
                  <a:lnTo>
                    <a:pt x="3087600" y="2809875"/>
                  </a:lnTo>
                  <a:close/>
                </a:path>
              </a:pathLst>
            </a:custGeom>
            <a:solidFill>
              <a:srgbClr val="1D28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78091" y="1368789"/>
              <a:ext cx="3164205" cy="2787650"/>
            </a:xfrm>
            <a:custGeom>
              <a:avLst/>
              <a:gdLst/>
              <a:ahLst/>
              <a:cxnLst/>
              <a:rect l="l" t="t" r="r" b="b"/>
              <a:pathLst>
                <a:path w="3164204" h="2787650">
                  <a:moveTo>
                    <a:pt x="3163798" y="53822"/>
                  </a:moveTo>
                  <a:lnTo>
                    <a:pt x="3157791" y="24231"/>
                  </a:lnTo>
                  <a:lnTo>
                    <a:pt x="3141421" y="0"/>
                  </a:lnTo>
                  <a:lnTo>
                    <a:pt x="3125622" y="15798"/>
                  </a:lnTo>
                  <a:lnTo>
                    <a:pt x="3134690" y="20180"/>
                  </a:lnTo>
                  <a:lnTo>
                    <a:pt x="3149015" y="35318"/>
                  </a:lnTo>
                  <a:lnTo>
                    <a:pt x="3154273" y="53822"/>
                  </a:lnTo>
                  <a:lnTo>
                    <a:pt x="3154273" y="2711297"/>
                  </a:lnTo>
                  <a:lnTo>
                    <a:pt x="3149015" y="2737180"/>
                  </a:lnTo>
                  <a:lnTo>
                    <a:pt x="3134690" y="2758376"/>
                  </a:lnTo>
                  <a:lnTo>
                    <a:pt x="3113494" y="2772702"/>
                  </a:lnTo>
                  <a:lnTo>
                    <a:pt x="3087598" y="2777972"/>
                  </a:lnTo>
                  <a:lnTo>
                    <a:pt x="76200" y="2777972"/>
                  </a:lnTo>
                  <a:lnTo>
                    <a:pt x="50317" y="2772702"/>
                  </a:lnTo>
                  <a:lnTo>
                    <a:pt x="29108" y="2758376"/>
                  </a:lnTo>
                  <a:lnTo>
                    <a:pt x="14782" y="2737180"/>
                  </a:lnTo>
                  <a:lnTo>
                    <a:pt x="9525" y="2711297"/>
                  </a:lnTo>
                  <a:lnTo>
                    <a:pt x="9525" y="53822"/>
                  </a:lnTo>
                  <a:lnTo>
                    <a:pt x="14782" y="35318"/>
                  </a:lnTo>
                  <a:lnTo>
                    <a:pt x="29108" y="20180"/>
                  </a:lnTo>
                  <a:lnTo>
                    <a:pt x="38188" y="15798"/>
                  </a:lnTo>
                  <a:lnTo>
                    <a:pt x="22390" y="0"/>
                  </a:lnTo>
                  <a:lnTo>
                    <a:pt x="6019" y="24231"/>
                  </a:lnTo>
                  <a:lnTo>
                    <a:pt x="0" y="53822"/>
                  </a:lnTo>
                  <a:lnTo>
                    <a:pt x="0" y="2711297"/>
                  </a:lnTo>
                  <a:lnTo>
                    <a:pt x="6019" y="2740876"/>
                  </a:lnTo>
                  <a:lnTo>
                    <a:pt x="22390" y="2765107"/>
                  </a:lnTo>
                  <a:lnTo>
                    <a:pt x="46621" y="2781477"/>
                  </a:lnTo>
                  <a:lnTo>
                    <a:pt x="76200" y="2787497"/>
                  </a:lnTo>
                  <a:lnTo>
                    <a:pt x="3087598" y="2787497"/>
                  </a:lnTo>
                  <a:lnTo>
                    <a:pt x="3141421" y="2765107"/>
                  </a:lnTo>
                  <a:lnTo>
                    <a:pt x="3163798" y="2711297"/>
                  </a:lnTo>
                  <a:lnTo>
                    <a:pt x="3163798" y="53822"/>
                  </a:lnTo>
                  <a:close/>
                </a:path>
              </a:pathLst>
            </a:custGeom>
            <a:solidFill>
              <a:srgbClr val="334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0483" y="1346400"/>
              <a:ext cx="3119120" cy="38735"/>
            </a:xfrm>
            <a:custGeom>
              <a:avLst/>
              <a:gdLst/>
              <a:ahLst/>
              <a:cxnLst/>
              <a:rect l="l" t="t" r="r" b="b"/>
              <a:pathLst>
                <a:path w="3119120" h="38734">
                  <a:moveTo>
                    <a:pt x="15801" y="38185"/>
                  </a:moveTo>
                  <a:lnTo>
                    <a:pt x="0" y="22383"/>
                  </a:lnTo>
                  <a:lnTo>
                    <a:pt x="24229" y="6012"/>
                  </a:lnTo>
                  <a:lnTo>
                    <a:pt x="53816" y="0"/>
                  </a:lnTo>
                  <a:lnTo>
                    <a:pt x="3065216" y="0"/>
                  </a:lnTo>
                  <a:lnTo>
                    <a:pt x="3094803" y="6012"/>
                  </a:lnTo>
                  <a:lnTo>
                    <a:pt x="3119032" y="22383"/>
                  </a:lnTo>
                  <a:lnTo>
                    <a:pt x="3112841" y="28575"/>
                  </a:lnTo>
                  <a:lnTo>
                    <a:pt x="53816" y="28575"/>
                  </a:lnTo>
                  <a:lnTo>
                    <a:pt x="27927" y="32332"/>
                  </a:lnTo>
                  <a:lnTo>
                    <a:pt x="15801" y="38185"/>
                  </a:lnTo>
                  <a:close/>
                </a:path>
                <a:path w="3119120" h="38734">
                  <a:moveTo>
                    <a:pt x="3103231" y="38185"/>
                  </a:moveTo>
                  <a:lnTo>
                    <a:pt x="3091105" y="32332"/>
                  </a:lnTo>
                  <a:lnTo>
                    <a:pt x="3065216" y="28575"/>
                  </a:lnTo>
                  <a:lnTo>
                    <a:pt x="3112841" y="28575"/>
                  </a:lnTo>
                  <a:lnTo>
                    <a:pt x="3103231" y="38185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20975" y="1775025"/>
              <a:ext cx="2878455" cy="9525"/>
            </a:xfrm>
            <a:custGeom>
              <a:avLst/>
              <a:gdLst/>
              <a:ahLst/>
              <a:cxnLst/>
              <a:rect l="l" t="t" r="r" b="b"/>
              <a:pathLst>
                <a:path w="2878454" h="9525">
                  <a:moveTo>
                    <a:pt x="2878050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2878050" y="0"/>
                  </a:lnTo>
                  <a:lnTo>
                    <a:pt x="2878050" y="9525"/>
                  </a:lnTo>
                  <a:close/>
                </a:path>
              </a:pathLst>
            </a:custGeom>
            <a:solidFill>
              <a:srgbClr val="334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720974" y="1492693"/>
            <a:ext cx="198247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F49E0A"/>
                </a:solidFill>
                <a:latin typeface="Microsoft Sans Serif"/>
                <a:cs typeface="Microsoft Sans Serif"/>
              </a:rPr>
              <a:t>SPESIFIKASI</a:t>
            </a:r>
            <a:r>
              <a:rPr sz="1100" spc="-20" dirty="0">
                <a:solidFill>
                  <a:srgbClr val="F49E0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F49E0A"/>
                </a:solidFill>
                <a:latin typeface="Microsoft Sans Serif"/>
                <a:cs typeface="Microsoft Sans Serif"/>
              </a:rPr>
              <a:t>DUELING</a:t>
            </a:r>
            <a:r>
              <a:rPr sz="1100" spc="-15" dirty="0">
                <a:solidFill>
                  <a:srgbClr val="F49E0A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F49E0A"/>
                </a:solidFill>
                <a:latin typeface="Microsoft Sans Serif"/>
                <a:cs typeface="Microsoft Sans Serif"/>
              </a:rPr>
              <a:t>PLAT</a:t>
            </a:r>
            <a:endParaRPr sz="1100" dirty="0">
              <a:latin typeface="Microsoft Sans Serif"/>
              <a:cs typeface="Microsoft Sans Serif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78124" y="1921850"/>
            <a:ext cx="8058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CAD4E1"/>
                </a:solidFill>
                <a:latin typeface="Arial"/>
                <a:cs typeface="Arial"/>
              </a:rPr>
              <a:t>Jarak </a:t>
            </a:r>
            <a:r>
              <a:rPr sz="900" b="1" spc="-10" dirty="0">
                <a:solidFill>
                  <a:srgbClr val="CAD4E1"/>
                </a:solidFill>
                <a:latin typeface="Arial"/>
                <a:cs typeface="Arial"/>
              </a:rPr>
              <a:t>Tembak:</a:t>
            </a:r>
            <a:endParaRPr sz="9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925534" y="1921850"/>
            <a:ext cx="4616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CAD4E1"/>
                </a:solidFill>
                <a:latin typeface="Microsoft Sans Serif"/>
                <a:cs typeface="Microsoft Sans Serif"/>
              </a:rPr>
              <a:t>15</a:t>
            </a:r>
            <a:r>
              <a:rPr sz="900" spc="10" dirty="0">
                <a:solidFill>
                  <a:srgbClr val="CAD4E1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CAD4E1"/>
                </a:solidFill>
                <a:latin typeface="Microsoft Sans Serif"/>
                <a:cs typeface="Microsoft Sans Serif"/>
              </a:rPr>
              <a:t>Meter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78124" y="2188550"/>
            <a:ext cx="355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CAD4E1"/>
                </a:solidFill>
                <a:latin typeface="Arial"/>
                <a:cs typeface="Arial"/>
              </a:rPr>
              <a:t>Sikap:</a:t>
            </a:r>
            <a:endParaRPr sz="9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925534" y="2188550"/>
            <a:ext cx="343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CAD4E1"/>
                </a:solidFill>
                <a:latin typeface="Microsoft Sans Serif"/>
                <a:cs typeface="Microsoft Sans Serif"/>
              </a:rPr>
              <a:t>Berdiri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78124" y="2455250"/>
            <a:ext cx="8705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CAD4E1"/>
                </a:solidFill>
                <a:latin typeface="Arial"/>
                <a:cs typeface="Arial"/>
              </a:rPr>
              <a:t>Sasaran</a:t>
            </a:r>
            <a:r>
              <a:rPr sz="900" b="1" spc="-5" dirty="0">
                <a:solidFill>
                  <a:srgbClr val="CAD4E1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CAD4E1"/>
                </a:solidFill>
                <a:latin typeface="Arial"/>
                <a:cs typeface="Arial"/>
              </a:rPr>
              <a:t>Target:</a:t>
            </a:r>
            <a:endParaRPr sz="9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925534" y="2420960"/>
            <a:ext cx="1246505" cy="3415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25000"/>
              </a:lnSpc>
              <a:spcBef>
                <a:spcPts val="100"/>
              </a:spcBef>
            </a:pPr>
            <a:r>
              <a:rPr sz="900" dirty="0">
                <a:solidFill>
                  <a:srgbClr val="CAD4E1"/>
                </a:solidFill>
                <a:latin typeface="Microsoft Sans Serif"/>
                <a:cs typeface="Microsoft Sans Serif"/>
              </a:rPr>
              <a:t>5</a:t>
            </a:r>
            <a:r>
              <a:rPr sz="900" spc="-5" dirty="0">
                <a:solidFill>
                  <a:srgbClr val="CAD4E1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CAD4E1"/>
                </a:solidFill>
                <a:latin typeface="Microsoft Sans Serif"/>
                <a:cs typeface="Microsoft Sans Serif"/>
              </a:rPr>
              <a:t>Plat Bulat + 1 </a:t>
            </a:r>
            <a:r>
              <a:rPr sz="900" spc="-10" dirty="0">
                <a:solidFill>
                  <a:srgbClr val="CAD4E1"/>
                </a:solidFill>
                <a:latin typeface="Microsoft Sans Serif"/>
                <a:cs typeface="Microsoft Sans Serif"/>
              </a:rPr>
              <a:t>Popper Penentu</a:t>
            </a:r>
            <a:endParaRPr sz="900" dirty="0">
              <a:latin typeface="Microsoft Sans Serif"/>
              <a:cs typeface="Microsoft Sans Serif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818100" y="1346400"/>
            <a:ext cx="3164205" cy="1819275"/>
            <a:chOff x="3818100" y="1346400"/>
            <a:chExt cx="3164205" cy="1819275"/>
          </a:xfrm>
        </p:grpSpPr>
        <p:sp>
          <p:nvSpPr>
            <p:cNvPr id="16" name="object 16"/>
            <p:cNvSpPr/>
            <p:nvPr/>
          </p:nvSpPr>
          <p:spPr>
            <a:xfrm>
              <a:off x="3818100" y="1346400"/>
              <a:ext cx="3164205" cy="1819275"/>
            </a:xfrm>
            <a:custGeom>
              <a:avLst/>
              <a:gdLst/>
              <a:ahLst/>
              <a:cxnLst/>
              <a:rect l="l" t="t" r="r" b="b"/>
              <a:pathLst>
                <a:path w="3164204" h="1819275">
                  <a:moveTo>
                    <a:pt x="3087600" y="1819275"/>
                  </a:moveTo>
                  <a:lnTo>
                    <a:pt x="76200" y="1819275"/>
                  </a:lnTo>
                  <a:lnTo>
                    <a:pt x="46612" y="1813262"/>
                  </a:lnTo>
                  <a:lnTo>
                    <a:pt x="22383" y="1796891"/>
                  </a:lnTo>
                  <a:lnTo>
                    <a:pt x="6012" y="1772662"/>
                  </a:lnTo>
                  <a:lnTo>
                    <a:pt x="0" y="1743075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3087600" y="0"/>
                  </a:lnTo>
                  <a:lnTo>
                    <a:pt x="3117187" y="6012"/>
                  </a:lnTo>
                  <a:lnTo>
                    <a:pt x="3141416" y="22383"/>
                  </a:lnTo>
                  <a:lnTo>
                    <a:pt x="3157787" y="46612"/>
                  </a:lnTo>
                  <a:lnTo>
                    <a:pt x="3163800" y="76200"/>
                  </a:lnTo>
                  <a:lnTo>
                    <a:pt x="3163800" y="1743075"/>
                  </a:lnTo>
                  <a:lnTo>
                    <a:pt x="3157787" y="1772662"/>
                  </a:lnTo>
                  <a:lnTo>
                    <a:pt x="3141416" y="1796891"/>
                  </a:lnTo>
                  <a:lnTo>
                    <a:pt x="3117187" y="1813262"/>
                  </a:lnTo>
                  <a:lnTo>
                    <a:pt x="3087600" y="1819275"/>
                  </a:lnTo>
                  <a:close/>
                </a:path>
              </a:pathLst>
            </a:custGeom>
            <a:solidFill>
              <a:srgbClr val="1D28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818090" y="1368789"/>
              <a:ext cx="3164205" cy="1797050"/>
            </a:xfrm>
            <a:custGeom>
              <a:avLst/>
              <a:gdLst/>
              <a:ahLst/>
              <a:cxnLst/>
              <a:rect l="l" t="t" r="r" b="b"/>
              <a:pathLst>
                <a:path w="3164204" h="1797050">
                  <a:moveTo>
                    <a:pt x="3163798" y="53822"/>
                  </a:moveTo>
                  <a:lnTo>
                    <a:pt x="3157791" y="24231"/>
                  </a:lnTo>
                  <a:lnTo>
                    <a:pt x="3141421" y="0"/>
                  </a:lnTo>
                  <a:lnTo>
                    <a:pt x="3125622" y="15798"/>
                  </a:lnTo>
                  <a:lnTo>
                    <a:pt x="3134690" y="20180"/>
                  </a:lnTo>
                  <a:lnTo>
                    <a:pt x="3149015" y="35318"/>
                  </a:lnTo>
                  <a:lnTo>
                    <a:pt x="3154273" y="53822"/>
                  </a:lnTo>
                  <a:lnTo>
                    <a:pt x="3154273" y="1720697"/>
                  </a:lnTo>
                  <a:lnTo>
                    <a:pt x="3149015" y="1746580"/>
                  </a:lnTo>
                  <a:lnTo>
                    <a:pt x="3134690" y="1767776"/>
                  </a:lnTo>
                  <a:lnTo>
                    <a:pt x="3113494" y="1782102"/>
                  </a:lnTo>
                  <a:lnTo>
                    <a:pt x="3087598" y="1787372"/>
                  </a:lnTo>
                  <a:lnTo>
                    <a:pt x="76200" y="1787372"/>
                  </a:lnTo>
                  <a:lnTo>
                    <a:pt x="50317" y="1782102"/>
                  </a:lnTo>
                  <a:lnTo>
                    <a:pt x="29121" y="1767776"/>
                  </a:lnTo>
                  <a:lnTo>
                    <a:pt x="14795" y="1746580"/>
                  </a:lnTo>
                  <a:lnTo>
                    <a:pt x="9525" y="1720697"/>
                  </a:lnTo>
                  <a:lnTo>
                    <a:pt x="9525" y="53822"/>
                  </a:lnTo>
                  <a:lnTo>
                    <a:pt x="14795" y="35318"/>
                  </a:lnTo>
                  <a:lnTo>
                    <a:pt x="29121" y="20180"/>
                  </a:lnTo>
                  <a:lnTo>
                    <a:pt x="38188" y="15798"/>
                  </a:lnTo>
                  <a:lnTo>
                    <a:pt x="22390" y="0"/>
                  </a:lnTo>
                  <a:lnTo>
                    <a:pt x="6019" y="24231"/>
                  </a:lnTo>
                  <a:lnTo>
                    <a:pt x="0" y="53822"/>
                  </a:lnTo>
                  <a:lnTo>
                    <a:pt x="0" y="1720697"/>
                  </a:lnTo>
                  <a:lnTo>
                    <a:pt x="6019" y="1750275"/>
                  </a:lnTo>
                  <a:lnTo>
                    <a:pt x="22390" y="1774507"/>
                  </a:lnTo>
                  <a:lnTo>
                    <a:pt x="46621" y="1790877"/>
                  </a:lnTo>
                  <a:lnTo>
                    <a:pt x="76200" y="1796897"/>
                  </a:lnTo>
                  <a:lnTo>
                    <a:pt x="3087598" y="1796897"/>
                  </a:lnTo>
                  <a:lnTo>
                    <a:pt x="3141421" y="1774507"/>
                  </a:lnTo>
                  <a:lnTo>
                    <a:pt x="3163798" y="1720697"/>
                  </a:lnTo>
                  <a:lnTo>
                    <a:pt x="3163798" y="53822"/>
                  </a:lnTo>
                  <a:close/>
                </a:path>
              </a:pathLst>
            </a:custGeom>
            <a:solidFill>
              <a:srgbClr val="334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840484" y="1346400"/>
              <a:ext cx="3119120" cy="38735"/>
            </a:xfrm>
            <a:custGeom>
              <a:avLst/>
              <a:gdLst/>
              <a:ahLst/>
              <a:cxnLst/>
              <a:rect l="l" t="t" r="r" b="b"/>
              <a:pathLst>
                <a:path w="3119120" h="38734">
                  <a:moveTo>
                    <a:pt x="15801" y="38185"/>
                  </a:moveTo>
                  <a:lnTo>
                    <a:pt x="0" y="22383"/>
                  </a:lnTo>
                  <a:lnTo>
                    <a:pt x="24229" y="6012"/>
                  </a:lnTo>
                  <a:lnTo>
                    <a:pt x="53816" y="0"/>
                  </a:lnTo>
                  <a:lnTo>
                    <a:pt x="3065216" y="0"/>
                  </a:lnTo>
                  <a:lnTo>
                    <a:pt x="3094803" y="6012"/>
                  </a:lnTo>
                  <a:lnTo>
                    <a:pt x="3119032" y="22383"/>
                  </a:lnTo>
                  <a:lnTo>
                    <a:pt x="3112841" y="28575"/>
                  </a:lnTo>
                  <a:lnTo>
                    <a:pt x="53816" y="28575"/>
                  </a:lnTo>
                  <a:lnTo>
                    <a:pt x="27927" y="32332"/>
                  </a:lnTo>
                  <a:lnTo>
                    <a:pt x="15801" y="38185"/>
                  </a:lnTo>
                  <a:close/>
                </a:path>
                <a:path w="3119120" h="38734">
                  <a:moveTo>
                    <a:pt x="3103231" y="38185"/>
                  </a:moveTo>
                  <a:lnTo>
                    <a:pt x="3091105" y="32332"/>
                  </a:lnTo>
                  <a:lnTo>
                    <a:pt x="3065216" y="28575"/>
                  </a:lnTo>
                  <a:lnTo>
                    <a:pt x="3112841" y="28575"/>
                  </a:lnTo>
                  <a:lnTo>
                    <a:pt x="3103231" y="38185"/>
                  </a:lnTo>
                  <a:close/>
                </a:path>
              </a:pathLst>
            </a:custGeom>
            <a:solidFill>
              <a:srgbClr val="F4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960975" y="1775025"/>
              <a:ext cx="2878455" cy="9525"/>
            </a:xfrm>
            <a:custGeom>
              <a:avLst/>
              <a:gdLst/>
              <a:ahLst/>
              <a:cxnLst/>
              <a:rect l="l" t="t" r="r" b="b"/>
              <a:pathLst>
                <a:path w="2878454" h="9525">
                  <a:moveTo>
                    <a:pt x="2878050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2878050" y="0"/>
                  </a:lnTo>
                  <a:lnTo>
                    <a:pt x="2878050" y="9525"/>
                  </a:lnTo>
                  <a:close/>
                </a:path>
              </a:pathLst>
            </a:custGeom>
            <a:solidFill>
              <a:srgbClr val="334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3856285" y="1492693"/>
            <a:ext cx="3088005" cy="14664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F49E0A"/>
                </a:solidFill>
                <a:latin typeface="Microsoft Sans Serif"/>
                <a:cs typeface="Microsoft Sans Serif"/>
              </a:rPr>
              <a:t>METODE</a:t>
            </a:r>
            <a:r>
              <a:rPr sz="1100" spc="-20" dirty="0">
                <a:solidFill>
                  <a:srgbClr val="F49E0A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F49E0A"/>
                </a:solidFill>
                <a:latin typeface="Microsoft Sans Serif"/>
                <a:cs typeface="Microsoft Sans Serif"/>
              </a:rPr>
              <a:t>PENILAIAN</a:t>
            </a:r>
            <a:endParaRPr sz="11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100" dirty="0">
              <a:latin typeface="Microsoft Sans Serif"/>
              <a:cs typeface="Microsoft Sans Serif"/>
            </a:endParaRPr>
          </a:p>
          <a:p>
            <a:pPr marL="275590" marR="602615" indent="-67945">
              <a:lnSpc>
                <a:spcPct val="125000"/>
              </a:lnSpc>
              <a:buChar char="•"/>
              <a:tabLst>
                <a:tab pos="275590" algn="l"/>
              </a:tabLst>
            </a:pP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Pemenang</a:t>
            </a:r>
            <a:r>
              <a:rPr sz="850" spc="-1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ditentukan</a:t>
            </a:r>
            <a:r>
              <a:rPr sz="850" spc="-1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dari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b="1" dirty="0" err="1">
                <a:solidFill>
                  <a:srgbClr val="F49E0A"/>
                </a:solidFill>
                <a:latin typeface="Arial"/>
                <a:cs typeface="Arial"/>
              </a:rPr>
              <a:t>jumlah</a:t>
            </a:r>
            <a:r>
              <a:rPr sz="850" b="1" spc="-25" dirty="0">
                <a:solidFill>
                  <a:srgbClr val="F49E0A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F49E0A"/>
                </a:solidFill>
                <a:latin typeface="Arial"/>
                <a:cs typeface="Arial"/>
              </a:rPr>
              <a:t>plat</a:t>
            </a:r>
            <a:r>
              <a:rPr sz="850" b="1" spc="-25" dirty="0">
                <a:solidFill>
                  <a:srgbClr val="F49E0A"/>
                </a:solidFill>
                <a:latin typeface="Arial"/>
                <a:cs typeface="Arial"/>
              </a:rPr>
              <a:t> </a:t>
            </a:r>
            <a:r>
              <a:rPr sz="850" b="1" spc="-20" dirty="0">
                <a:solidFill>
                  <a:srgbClr val="F49E0A"/>
                </a:solidFill>
                <a:latin typeface="Arial"/>
                <a:cs typeface="Arial"/>
              </a:rPr>
              <a:t>jatuh </a:t>
            </a:r>
            <a:r>
              <a:rPr sz="850" b="1" spc="-10" dirty="0">
                <a:solidFill>
                  <a:srgbClr val="F49E0A"/>
                </a:solidFill>
                <a:latin typeface="Arial"/>
                <a:cs typeface="Arial"/>
              </a:rPr>
              <a:t>terbanyak</a:t>
            </a:r>
            <a:r>
              <a:rPr sz="850" b="1" spc="-15" dirty="0">
                <a:solidFill>
                  <a:srgbClr val="F49E0A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F49E0A"/>
                </a:solidFill>
                <a:latin typeface="Arial"/>
                <a:cs typeface="Arial"/>
              </a:rPr>
              <a:t>/</a:t>
            </a:r>
            <a:r>
              <a:rPr sz="850" b="1" spc="-15" dirty="0">
                <a:solidFill>
                  <a:srgbClr val="F49E0A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F49E0A"/>
                </a:solidFill>
                <a:latin typeface="Arial"/>
                <a:cs typeface="Arial"/>
              </a:rPr>
              <a:t>habis</a:t>
            </a:r>
            <a:r>
              <a:rPr sz="850" b="1" spc="-10" dirty="0">
                <a:solidFill>
                  <a:srgbClr val="F49E0A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F49E0A"/>
                </a:solidFill>
                <a:latin typeface="Arial"/>
                <a:cs typeface="Arial"/>
              </a:rPr>
              <a:t>terlebih</a:t>
            </a:r>
            <a:r>
              <a:rPr sz="850" b="1" spc="-15" dirty="0">
                <a:solidFill>
                  <a:srgbClr val="F49E0A"/>
                </a:solidFill>
                <a:latin typeface="Arial"/>
                <a:cs typeface="Arial"/>
              </a:rPr>
              <a:t> </a:t>
            </a:r>
            <a:r>
              <a:rPr sz="850" b="1" spc="-10" dirty="0">
                <a:solidFill>
                  <a:srgbClr val="F49E0A"/>
                </a:solidFill>
                <a:latin typeface="Arial"/>
                <a:cs typeface="Arial"/>
              </a:rPr>
              <a:t>dahulu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.</a:t>
            </a:r>
            <a:endParaRPr sz="850" dirty="0">
              <a:latin typeface="Microsoft Sans Serif"/>
              <a:cs typeface="Microsoft Sans Serif"/>
            </a:endParaRPr>
          </a:p>
          <a:p>
            <a:pPr marL="275590" marR="330200" indent="-67945">
              <a:lnSpc>
                <a:spcPct val="125000"/>
              </a:lnSpc>
              <a:spcBef>
                <a:spcPts val="450"/>
              </a:spcBef>
              <a:buChar char="•"/>
              <a:tabLst>
                <a:tab pos="275590" algn="l"/>
              </a:tabLst>
            </a:pP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Jika</a:t>
            </a:r>
            <a:r>
              <a:rPr sz="850" spc="-4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amunisi</a:t>
            </a:r>
            <a:r>
              <a:rPr sz="850" spc="-3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habis</a:t>
            </a:r>
            <a:r>
              <a:rPr sz="850" spc="-3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sebelum</a:t>
            </a:r>
            <a:r>
              <a:rPr sz="850" spc="-3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memukul</a:t>
            </a:r>
            <a:r>
              <a:rPr sz="850" spc="-3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Popper,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pemenang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 ditentukan</a:t>
            </a:r>
            <a:r>
              <a:rPr sz="850" spc="-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dari</a:t>
            </a:r>
            <a:r>
              <a:rPr sz="850" spc="-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plate</a:t>
            </a:r>
            <a:r>
              <a:rPr sz="850" spc="-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lingkaran terbanyak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atau</a:t>
            </a:r>
            <a:r>
              <a:rPr sz="850" spc="-2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tercepat.</a:t>
            </a:r>
            <a:endParaRPr sz="850" dirty="0">
              <a:latin typeface="Microsoft Sans Serif"/>
              <a:cs typeface="Microsoft Sans Serif"/>
            </a:endParaRPr>
          </a:p>
          <a:p>
            <a:pPr marL="275590" indent="-67310">
              <a:lnSpc>
                <a:spcPct val="100000"/>
              </a:lnSpc>
              <a:spcBef>
                <a:spcPts val="705"/>
              </a:spcBef>
              <a:buChar char="•"/>
              <a:tabLst>
                <a:tab pos="275590" algn="l"/>
              </a:tabLst>
            </a:pP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Menggunakan</a:t>
            </a:r>
            <a:r>
              <a:rPr sz="850" spc="-4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b="1" dirty="0">
                <a:solidFill>
                  <a:srgbClr val="EF4444"/>
                </a:solidFill>
                <a:latin typeface="Arial"/>
                <a:cs typeface="Arial"/>
              </a:rPr>
              <a:t>SISTEM</a:t>
            </a:r>
            <a:r>
              <a:rPr sz="850" b="1" spc="-45" dirty="0">
                <a:solidFill>
                  <a:srgbClr val="EF4444"/>
                </a:solidFill>
                <a:latin typeface="Arial"/>
                <a:cs typeface="Arial"/>
              </a:rPr>
              <a:t> </a:t>
            </a:r>
            <a:r>
              <a:rPr sz="850" b="1" spc="-10" dirty="0">
                <a:solidFill>
                  <a:srgbClr val="EF4444"/>
                </a:solidFill>
                <a:latin typeface="Arial"/>
                <a:cs typeface="Arial"/>
              </a:rPr>
              <a:t>GUGUR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.</a:t>
            </a:r>
            <a:endParaRPr sz="850" dirty="0">
              <a:latin typeface="Microsoft Sans Serif"/>
              <a:cs typeface="Microsoft Sans Serif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78124" y="2893400"/>
            <a:ext cx="8382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CAD4E1"/>
                </a:solidFill>
                <a:latin typeface="Arial"/>
                <a:cs typeface="Arial"/>
              </a:rPr>
              <a:t>Jumlah </a:t>
            </a:r>
            <a:r>
              <a:rPr sz="900" b="1" spc="-10" dirty="0">
                <a:solidFill>
                  <a:srgbClr val="CAD4E1"/>
                </a:solidFill>
                <a:latin typeface="Arial"/>
                <a:cs typeface="Arial"/>
              </a:rPr>
              <a:t>Peluru:</a:t>
            </a:r>
            <a:endParaRPr sz="9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925534" y="2859110"/>
            <a:ext cx="147955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25000"/>
              </a:lnSpc>
              <a:spcBef>
                <a:spcPts val="100"/>
              </a:spcBef>
            </a:pPr>
            <a:r>
              <a:rPr sz="900" dirty="0">
                <a:solidFill>
                  <a:srgbClr val="CAD4E1"/>
                </a:solidFill>
                <a:latin typeface="Microsoft Sans Serif"/>
                <a:cs typeface="Microsoft Sans Serif"/>
              </a:rPr>
              <a:t>10</a:t>
            </a:r>
            <a:r>
              <a:rPr sz="900" spc="-30" dirty="0">
                <a:solidFill>
                  <a:srgbClr val="CAD4E1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CAD4E1"/>
                </a:solidFill>
                <a:latin typeface="Microsoft Sans Serif"/>
                <a:cs typeface="Microsoft Sans Serif"/>
              </a:rPr>
              <a:t>Butir</a:t>
            </a:r>
            <a:r>
              <a:rPr sz="900" spc="-30" dirty="0">
                <a:solidFill>
                  <a:srgbClr val="CAD4E1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CAD4E1"/>
                </a:solidFill>
                <a:latin typeface="Microsoft Sans Serif"/>
                <a:cs typeface="Microsoft Sans Serif"/>
              </a:rPr>
              <a:t>(Disediakan</a:t>
            </a:r>
            <a:r>
              <a:rPr sz="900" spc="-30" dirty="0">
                <a:solidFill>
                  <a:srgbClr val="CAD4E1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CAD4E1"/>
                </a:solidFill>
                <a:latin typeface="Microsoft Sans Serif"/>
                <a:cs typeface="Microsoft Sans Serif"/>
              </a:rPr>
              <a:t>masing-masing)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78124" y="3331550"/>
            <a:ext cx="3924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CAD4E1"/>
                </a:solidFill>
                <a:latin typeface="Arial"/>
                <a:cs typeface="Arial"/>
              </a:rPr>
              <a:t>Waktu:</a:t>
            </a:r>
            <a:endParaRPr sz="9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925534" y="3331550"/>
            <a:ext cx="7632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CAD4E1"/>
                </a:solidFill>
                <a:latin typeface="Microsoft Sans Serif"/>
                <a:cs typeface="Microsoft Sans Serif"/>
              </a:rPr>
              <a:t>Tidak</a:t>
            </a:r>
            <a:r>
              <a:rPr sz="900" spc="-10" dirty="0">
                <a:solidFill>
                  <a:srgbClr val="CAD4E1"/>
                </a:solidFill>
                <a:latin typeface="Microsoft Sans Serif"/>
                <a:cs typeface="Microsoft Sans Serif"/>
              </a:rPr>
              <a:t> Terbatas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78124" y="3598250"/>
            <a:ext cx="7823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CAD4E1"/>
                </a:solidFill>
                <a:latin typeface="Arial"/>
                <a:cs typeface="Arial"/>
              </a:rPr>
              <a:t>Jenis</a:t>
            </a:r>
            <a:r>
              <a:rPr sz="900" b="1" spc="-10" dirty="0">
                <a:solidFill>
                  <a:srgbClr val="CAD4E1"/>
                </a:solidFill>
                <a:latin typeface="Arial"/>
                <a:cs typeface="Arial"/>
              </a:rPr>
              <a:t> Senjata:</a:t>
            </a:r>
            <a:endParaRPr sz="9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925534" y="3563959"/>
            <a:ext cx="160274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25000"/>
              </a:lnSpc>
              <a:spcBef>
                <a:spcPts val="100"/>
              </a:spcBef>
            </a:pPr>
            <a:r>
              <a:rPr sz="900" dirty="0">
                <a:solidFill>
                  <a:srgbClr val="CAD4E1"/>
                </a:solidFill>
                <a:latin typeface="Microsoft Sans Serif"/>
                <a:cs typeface="Microsoft Sans Serif"/>
              </a:rPr>
              <a:t>Pistol</a:t>
            </a:r>
            <a:r>
              <a:rPr sz="900" spc="-30" dirty="0">
                <a:solidFill>
                  <a:srgbClr val="CAD4E1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CAD4E1"/>
                </a:solidFill>
                <a:latin typeface="Microsoft Sans Serif"/>
                <a:cs typeface="Microsoft Sans Serif"/>
              </a:rPr>
              <a:t>Production</a:t>
            </a:r>
            <a:r>
              <a:rPr sz="900" spc="-25" dirty="0">
                <a:solidFill>
                  <a:srgbClr val="CAD4E1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CAD4E1"/>
                </a:solidFill>
                <a:latin typeface="Microsoft Sans Serif"/>
                <a:cs typeface="Microsoft Sans Serif"/>
              </a:rPr>
              <a:t>Pejera</a:t>
            </a:r>
            <a:r>
              <a:rPr sz="900" spc="-25" dirty="0">
                <a:solidFill>
                  <a:srgbClr val="CAD4E1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CAD4E1"/>
                </a:solidFill>
                <a:latin typeface="Microsoft Sans Serif"/>
                <a:cs typeface="Microsoft Sans Serif"/>
              </a:rPr>
              <a:t>Logam </a:t>
            </a:r>
            <a:r>
              <a:rPr sz="900" dirty="0">
                <a:solidFill>
                  <a:srgbClr val="CAD4E1"/>
                </a:solidFill>
                <a:latin typeface="Microsoft Sans Serif"/>
                <a:cs typeface="Microsoft Sans Serif"/>
              </a:rPr>
              <a:t>Organik</a:t>
            </a:r>
            <a:r>
              <a:rPr sz="900" spc="-5" dirty="0">
                <a:solidFill>
                  <a:srgbClr val="CAD4E1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CAD4E1"/>
                </a:solidFill>
                <a:latin typeface="Microsoft Sans Serif"/>
                <a:cs typeface="Microsoft Sans Serif"/>
              </a:rPr>
              <a:t>Satuan</a:t>
            </a:r>
            <a:r>
              <a:rPr sz="900" spc="-5" dirty="0">
                <a:solidFill>
                  <a:srgbClr val="CAD4E1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CAD4E1"/>
                </a:solidFill>
                <a:latin typeface="Microsoft Sans Serif"/>
                <a:cs typeface="Microsoft Sans Serif"/>
              </a:rPr>
              <a:t>(Max</a:t>
            </a:r>
            <a:r>
              <a:rPr sz="900" spc="-5" dirty="0">
                <a:solidFill>
                  <a:srgbClr val="CAD4E1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CAD4E1"/>
                </a:solidFill>
                <a:latin typeface="Microsoft Sans Serif"/>
                <a:cs typeface="Microsoft Sans Serif"/>
              </a:rPr>
              <a:t>Laras</a:t>
            </a:r>
            <a:r>
              <a:rPr sz="900" spc="-5" dirty="0">
                <a:solidFill>
                  <a:srgbClr val="CAD4E1"/>
                </a:solidFill>
                <a:latin typeface="Microsoft Sans Serif"/>
                <a:cs typeface="Microsoft Sans Serif"/>
              </a:rPr>
              <a:t> </a:t>
            </a:r>
            <a:r>
              <a:rPr sz="900" spc="-25" dirty="0">
                <a:solidFill>
                  <a:srgbClr val="CAD4E1"/>
                </a:solidFill>
                <a:latin typeface="Microsoft Sans Serif"/>
                <a:cs typeface="Microsoft Sans Serif"/>
              </a:rPr>
              <a:t>5")</a:t>
            </a:r>
            <a:endParaRPr sz="900">
              <a:latin typeface="Microsoft Sans Serif"/>
              <a:cs typeface="Microsoft Sans Serif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818100" y="3308550"/>
            <a:ext cx="3164205" cy="1438275"/>
            <a:chOff x="3818100" y="3308550"/>
            <a:chExt cx="3164205" cy="1438275"/>
          </a:xfrm>
        </p:grpSpPr>
        <p:sp>
          <p:nvSpPr>
            <p:cNvPr id="21" name="object 21"/>
            <p:cNvSpPr/>
            <p:nvPr/>
          </p:nvSpPr>
          <p:spPr>
            <a:xfrm>
              <a:off x="3818100" y="3308550"/>
              <a:ext cx="3164205" cy="1438275"/>
            </a:xfrm>
            <a:custGeom>
              <a:avLst/>
              <a:gdLst/>
              <a:ahLst/>
              <a:cxnLst/>
              <a:rect l="l" t="t" r="r" b="b"/>
              <a:pathLst>
                <a:path w="3164204" h="1438275">
                  <a:moveTo>
                    <a:pt x="3087600" y="1438275"/>
                  </a:moveTo>
                  <a:lnTo>
                    <a:pt x="76200" y="1438275"/>
                  </a:lnTo>
                  <a:lnTo>
                    <a:pt x="46612" y="1432262"/>
                  </a:lnTo>
                  <a:lnTo>
                    <a:pt x="22383" y="1415891"/>
                  </a:lnTo>
                  <a:lnTo>
                    <a:pt x="6012" y="1391662"/>
                  </a:lnTo>
                  <a:lnTo>
                    <a:pt x="0" y="1362075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3087600" y="0"/>
                  </a:lnTo>
                  <a:lnTo>
                    <a:pt x="3117187" y="6012"/>
                  </a:lnTo>
                  <a:lnTo>
                    <a:pt x="3141416" y="22383"/>
                  </a:lnTo>
                  <a:lnTo>
                    <a:pt x="3157787" y="46612"/>
                  </a:lnTo>
                  <a:lnTo>
                    <a:pt x="3163800" y="76200"/>
                  </a:lnTo>
                  <a:lnTo>
                    <a:pt x="3163800" y="1362075"/>
                  </a:lnTo>
                  <a:lnTo>
                    <a:pt x="3157787" y="1391662"/>
                  </a:lnTo>
                  <a:lnTo>
                    <a:pt x="3141416" y="1415891"/>
                  </a:lnTo>
                  <a:lnTo>
                    <a:pt x="3117187" y="1432262"/>
                  </a:lnTo>
                  <a:lnTo>
                    <a:pt x="3087600" y="1438275"/>
                  </a:lnTo>
                  <a:close/>
                </a:path>
              </a:pathLst>
            </a:custGeom>
            <a:solidFill>
              <a:srgbClr val="1D28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818090" y="3330939"/>
              <a:ext cx="3164205" cy="1416050"/>
            </a:xfrm>
            <a:custGeom>
              <a:avLst/>
              <a:gdLst/>
              <a:ahLst/>
              <a:cxnLst/>
              <a:rect l="l" t="t" r="r" b="b"/>
              <a:pathLst>
                <a:path w="3164204" h="1416050">
                  <a:moveTo>
                    <a:pt x="3163798" y="53822"/>
                  </a:moveTo>
                  <a:lnTo>
                    <a:pt x="3157791" y="24231"/>
                  </a:lnTo>
                  <a:lnTo>
                    <a:pt x="3141421" y="0"/>
                  </a:lnTo>
                  <a:lnTo>
                    <a:pt x="3125622" y="15798"/>
                  </a:lnTo>
                  <a:lnTo>
                    <a:pt x="3134690" y="20180"/>
                  </a:lnTo>
                  <a:lnTo>
                    <a:pt x="3149015" y="35318"/>
                  </a:lnTo>
                  <a:lnTo>
                    <a:pt x="3154273" y="53822"/>
                  </a:lnTo>
                  <a:lnTo>
                    <a:pt x="3154273" y="1339697"/>
                  </a:lnTo>
                  <a:lnTo>
                    <a:pt x="3149015" y="1365580"/>
                  </a:lnTo>
                  <a:lnTo>
                    <a:pt x="3134690" y="1386776"/>
                  </a:lnTo>
                  <a:lnTo>
                    <a:pt x="3113494" y="1401102"/>
                  </a:lnTo>
                  <a:lnTo>
                    <a:pt x="3087598" y="1406372"/>
                  </a:lnTo>
                  <a:lnTo>
                    <a:pt x="76200" y="1406372"/>
                  </a:lnTo>
                  <a:lnTo>
                    <a:pt x="50317" y="1401102"/>
                  </a:lnTo>
                  <a:lnTo>
                    <a:pt x="29121" y="1386776"/>
                  </a:lnTo>
                  <a:lnTo>
                    <a:pt x="14795" y="1365580"/>
                  </a:lnTo>
                  <a:lnTo>
                    <a:pt x="9525" y="1339697"/>
                  </a:lnTo>
                  <a:lnTo>
                    <a:pt x="9525" y="53822"/>
                  </a:lnTo>
                  <a:lnTo>
                    <a:pt x="14795" y="35318"/>
                  </a:lnTo>
                  <a:lnTo>
                    <a:pt x="29121" y="20180"/>
                  </a:lnTo>
                  <a:lnTo>
                    <a:pt x="38188" y="15798"/>
                  </a:lnTo>
                  <a:lnTo>
                    <a:pt x="22390" y="0"/>
                  </a:lnTo>
                  <a:lnTo>
                    <a:pt x="6019" y="24231"/>
                  </a:lnTo>
                  <a:lnTo>
                    <a:pt x="0" y="53822"/>
                  </a:lnTo>
                  <a:lnTo>
                    <a:pt x="0" y="1339697"/>
                  </a:lnTo>
                  <a:lnTo>
                    <a:pt x="6019" y="1369275"/>
                  </a:lnTo>
                  <a:lnTo>
                    <a:pt x="22390" y="1393507"/>
                  </a:lnTo>
                  <a:lnTo>
                    <a:pt x="46621" y="1409877"/>
                  </a:lnTo>
                  <a:lnTo>
                    <a:pt x="76200" y="1415897"/>
                  </a:lnTo>
                  <a:lnTo>
                    <a:pt x="3087598" y="1415897"/>
                  </a:lnTo>
                  <a:lnTo>
                    <a:pt x="3141421" y="1393507"/>
                  </a:lnTo>
                  <a:lnTo>
                    <a:pt x="3163798" y="1339697"/>
                  </a:lnTo>
                  <a:lnTo>
                    <a:pt x="3163798" y="53822"/>
                  </a:lnTo>
                  <a:close/>
                </a:path>
              </a:pathLst>
            </a:custGeom>
            <a:solidFill>
              <a:srgbClr val="334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840484" y="3308550"/>
              <a:ext cx="3119120" cy="38735"/>
            </a:xfrm>
            <a:custGeom>
              <a:avLst/>
              <a:gdLst/>
              <a:ahLst/>
              <a:cxnLst/>
              <a:rect l="l" t="t" r="r" b="b"/>
              <a:pathLst>
                <a:path w="3119120" h="38735">
                  <a:moveTo>
                    <a:pt x="15801" y="38185"/>
                  </a:moveTo>
                  <a:lnTo>
                    <a:pt x="0" y="22383"/>
                  </a:lnTo>
                  <a:lnTo>
                    <a:pt x="24229" y="6012"/>
                  </a:lnTo>
                  <a:lnTo>
                    <a:pt x="53816" y="0"/>
                  </a:lnTo>
                  <a:lnTo>
                    <a:pt x="3065216" y="0"/>
                  </a:lnTo>
                  <a:lnTo>
                    <a:pt x="3094803" y="6012"/>
                  </a:lnTo>
                  <a:lnTo>
                    <a:pt x="3119032" y="22383"/>
                  </a:lnTo>
                  <a:lnTo>
                    <a:pt x="3112841" y="28575"/>
                  </a:lnTo>
                  <a:lnTo>
                    <a:pt x="53816" y="28575"/>
                  </a:lnTo>
                  <a:lnTo>
                    <a:pt x="27927" y="32332"/>
                  </a:lnTo>
                  <a:lnTo>
                    <a:pt x="15801" y="38185"/>
                  </a:lnTo>
                  <a:close/>
                </a:path>
                <a:path w="3119120" h="38735">
                  <a:moveTo>
                    <a:pt x="3103231" y="38185"/>
                  </a:moveTo>
                  <a:lnTo>
                    <a:pt x="3091105" y="32332"/>
                  </a:lnTo>
                  <a:lnTo>
                    <a:pt x="3065216" y="28575"/>
                  </a:lnTo>
                  <a:lnTo>
                    <a:pt x="3112841" y="28575"/>
                  </a:lnTo>
                  <a:lnTo>
                    <a:pt x="3103231" y="38185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960975" y="3737175"/>
              <a:ext cx="2878455" cy="9525"/>
            </a:xfrm>
            <a:custGeom>
              <a:avLst/>
              <a:gdLst/>
              <a:ahLst/>
              <a:cxnLst/>
              <a:rect l="l" t="t" r="r" b="b"/>
              <a:pathLst>
                <a:path w="2878454" h="9525">
                  <a:moveTo>
                    <a:pt x="2878050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2878050" y="0"/>
                  </a:lnTo>
                  <a:lnTo>
                    <a:pt x="2878050" y="9525"/>
                  </a:lnTo>
                  <a:close/>
                </a:path>
              </a:pathLst>
            </a:custGeom>
            <a:solidFill>
              <a:srgbClr val="334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3856285" y="3454843"/>
            <a:ext cx="3088005" cy="1070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F49E0A"/>
                </a:solidFill>
                <a:latin typeface="Microsoft Sans Serif"/>
                <a:cs typeface="Microsoft Sans Serif"/>
              </a:rPr>
              <a:t>DISKUALIFIKASI</a:t>
            </a:r>
            <a:r>
              <a:rPr sz="1100" spc="45" dirty="0">
                <a:solidFill>
                  <a:srgbClr val="F49E0A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F49E0A"/>
                </a:solidFill>
                <a:latin typeface="Microsoft Sans Serif"/>
                <a:cs typeface="Microsoft Sans Serif"/>
              </a:rPr>
              <a:t>(DQ)</a:t>
            </a:r>
            <a:endParaRPr sz="11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100" dirty="0">
              <a:latin typeface="Microsoft Sans Serif"/>
              <a:cs typeface="Microsoft Sans Serif"/>
            </a:endParaRPr>
          </a:p>
          <a:p>
            <a:pPr marL="275590" marR="204470" indent="-67945">
              <a:lnSpc>
                <a:spcPct val="125000"/>
              </a:lnSpc>
              <a:buChar char="•"/>
              <a:tabLst>
                <a:tab pos="275590" algn="l"/>
              </a:tabLst>
            </a:pP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Petembak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 err="1">
                <a:solidFill>
                  <a:srgbClr val="F7F9FB"/>
                </a:solidFill>
                <a:latin typeface="Microsoft Sans Serif"/>
                <a:cs typeface="Microsoft Sans Serif"/>
              </a:rPr>
              <a:t>menembak</a:t>
            </a:r>
            <a:r>
              <a:rPr sz="850" spc="-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b="1" dirty="0">
                <a:solidFill>
                  <a:srgbClr val="EF4444"/>
                </a:solidFill>
                <a:latin typeface="Arial"/>
                <a:cs typeface="Arial"/>
              </a:rPr>
              <a:t>Plat</a:t>
            </a:r>
            <a:r>
              <a:rPr sz="850" b="1" spc="-5" dirty="0">
                <a:solidFill>
                  <a:srgbClr val="EF4444"/>
                </a:solidFill>
                <a:latin typeface="Arial"/>
                <a:cs typeface="Arial"/>
              </a:rPr>
              <a:t> </a:t>
            </a:r>
            <a:r>
              <a:rPr sz="850" b="1" spc="-10" dirty="0">
                <a:solidFill>
                  <a:srgbClr val="EF4444"/>
                </a:solidFill>
                <a:latin typeface="Arial"/>
                <a:cs typeface="Arial"/>
              </a:rPr>
              <a:t>Penentu/Popper</a:t>
            </a:r>
            <a:r>
              <a:rPr sz="850" b="1" spc="-15" dirty="0">
                <a:solidFill>
                  <a:srgbClr val="EF4444"/>
                </a:solidFill>
                <a:latin typeface="Arial"/>
                <a:cs typeface="Arial"/>
              </a:rPr>
              <a:t> </a:t>
            </a:r>
            <a:r>
              <a:rPr sz="850" spc="-10" dirty="0" err="1">
                <a:solidFill>
                  <a:srgbClr val="F7F9FB"/>
                </a:solidFill>
                <a:latin typeface="Microsoft Sans Serif"/>
                <a:cs typeface="Microsoft Sans Serif"/>
              </a:rPr>
              <a:t>padahal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plat</a:t>
            </a:r>
            <a:r>
              <a:rPr sz="850" spc="-4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bulat</a:t>
            </a:r>
            <a:r>
              <a:rPr sz="850" spc="-3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belum</a:t>
            </a:r>
            <a:r>
              <a:rPr sz="850" spc="-4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habis.</a:t>
            </a:r>
            <a:endParaRPr sz="850" dirty="0">
              <a:latin typeface="Microsoft Sans Serif"/>
              <a:cs typeface="Microsoft Sans Serif"/>
            </a:endParaRPr>
          </a:p>
          <a:p>
            <a:pPr marL="275590" marR="304165" indent="-67945">
              <a:lnSpc>
                <a:spcPct val="125000"/>
              </a:lnSpc>
              <a:spcBef>
                <a:spcPts val="450"/>
              </a:spcBef>
              <a:buChar char="•"/>
              <a:tabLst>
                <a:tab pos="275590" algn="l"/>
              </a:tabLst>
            </a:pP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Membawa,</a:t>
            </a:r>
            <a:r>
              <a:rPr sz="850" spc="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mencabut,</a:t>
            </a:r>
            <a:r>
              <a:rPr sz="850" spc="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atau</a:t>
            </a:r>
            <a:r>
              <a:rPr sz="850" spc="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mengoperasikan</a:t>
            </a:r>
            <a:r>
              <a:rPr sz="850" spc="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senjata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tidak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pada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tempatnya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(di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luar</a:t>
            </a:r>
            <a:r>
              <a:rPr sz="850" spc="-1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Safety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Area).</a:t>
            </a:r>
            <a:endParaRPr sz="850" dirty="0">
              <a:latin typeface="Microsoft Sans Serif"/>
              <a:cs typeface="Microsoft Sans Serif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78100" y="4299150"/>
            <a:ext cx="3164205" cy="1133475"/>
            <a:chOff x="578100" y="4299150"/>
            <a:chExt cx="3164205" cy="1133475"/>
          </a:xfrm>
        </p:grpSpPr>
        <p:sp>
          <p:nvSpPr>
            <p:cNvPr id="8" name="object 8"/>
            <p:cNvSpPr/>
            <p:nvPr/>
          </p:nvSpPr>
          <p:spPr>
            <a:xfrm>
              <a:off x="578100" y="4299150"/>
              <a:ext cx="3164205" cy="1133475"/>
            </a:xfrm>
            <a:custGeom>
              <a:avLst/>
              <a:gdLst/>
              <a:ahLst/>
              <a:cxnLst/>
              <a:rect l="l" t="t" r="r" b="b"/>
              <a:pathLst>
                <a:path w="3164204" h="1133475">
                  <a:moveTo>
                    <a:pt x="3087600" y="1132968"/>
                  </a:moveTo>
                  <a:lnTo>
                    <a:pt x="76200" y="1132968"/>
                  </a:lnTo>
                  <a:lnTo>
                    <a:pt x="46612" y="1126955"/>
                  </a:lnTo>
                  <a:lnTo>
                    <a:pt x="22383" y="1110584"/>
                  </a:lnTo>
                  <a:lnTo>
                    <a:pt x="6012" y="1086355"/>
                  </a:lnTo>
                  <a:lnTo>
                    <a:pt x="0" y="1056768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3087600" y="0"/>
                  </a:lnTo>
                  <a:lnTo>
                    <a:pt x="3117187" y="6012"/>
                  </a:lnTo>
                  <a:lnTo>
                    <a:pt x="3141416" y="22383"/>
                  </a:lnTo>
                  <a:lnTo>
                    <a:pt x="3157787" y="46612"/>
                  </a:lnTo>
                  <a:lnTo>
                    <a:pt x="3163800" y="76200"/>
                  </a:lnTo>
                  <a:lnTo>
                    <a:pt x="3163800" y="1056768"/>
                  </a:lnTo>
                  <a:lnTo>
                    <a:pt x="3157787" y="1086355"/>
                  </a:lnTo>
                  <a:lnTo>
                    <a:pt x="3141416" y="1110584"/>
                  </a:lnTo>
                  <a:lnTo>
                    <a:pt x="3117187" y="1126955"/>
                  </a:lnTo>
                  <a:lnTo>
                    <a:pt x="3087600" y="1132968"/>
                  </a:lnTo>
                  <a:close/>
                </a:path>
              </a:pathLst>
            </a:custGeom>
            <a:solidFill>
              <a:srgbClr val="1D28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8100" y="4299150"/>
              <a:ext cx="3164205" cy="1133475"/>
            </a:xfrm>
            <a:custGeom>
              <a:avLst/>
              <a:gdLst/>
              <a:ahLst/>
              <a:cxnLst/>
              <a:rect l="l" t="t" r="r" b="b"/>
              <a:pathLst>
                <a:path w="3164204" h="1133475">
                  <a:moveTo>
                    <a:pt x="3087600" y="1132968"/>
                  </a:moveTo>
                  <a:lnTo>
                    <a:pt x="76200" y="1132968"/>
                  </a:lnTo>
                  <a:lnTo>
                    <a:pt x="46612" y="1126955"/>
                  </a:lnTo>
                  <a:lnTo>
                    <a:pt x="22383" y="1110584"/>
                  </a:lnTo>
                  <a:lnTo>
                    <a:pt x="6012" y="1086355"/>
                  </a:lnTo>
                  <a:lnTo>
                    <a:pt x="0" y="1056768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3087600" y="0"/>
                  </a:lnTo>
                  <a:lnTo>
                    <a:pt x="3117187" y="6012"/>
                  </a:lnTo>
                  <a:lnTo>
                    <a:pt x="3122385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1056768"/>
                  </a:lnTo>
                  <a:lnTo>
                    <a:pt x="14786" y="1082656"/>
                  </a:lnTo>
                  <a:lnTo>
                    <a:pt x="29110" y="1103857"/>
                  </a:lnTo>
                  <a:lnTo>
                    <a:pt x="50311" y="1118182"/>
                  </a:lnTo>
                  <a:lnTo>
                    <a:pt x="76200" y="1123443"/>
                  </a:lnTo>
                  <a:lnTo>
                    <a:pt x="3122385" y="1123443"/>
                  </a:lnTo>
                  <a:lnTo>
                    <a:pt x="3117187" y="1126955"/>
                  </a:lnTo>
                  <a:lnTo>
                    <a:pt x="3087600" y="1132968"/>
                  </a:lnTo>
                  <a:close/>
                </a:path>
                <a:path w="3164204" h="1133475">
                  <a:moveTo>
                    <a:pt x="3122385" y="1123443"/>
                  </a:moveTo>
                  <a:lnTo>
                    <a:pt x="3087600" y="1123443"/>
                  </a:lnTo>
                  <a:lnTo>
                    <a:pt x="3113488" y="1118182"/>
                  </a:lnTo>
                  <a:lnTo>
                    <a:pt x="3134689" y="1103857"/>
                  </a:lnTo>
                  <a:lnTo>
                    <a:pt x="3149014" y="1082656"/>
                  </a:lnTo>
                  <a:lnTo>
                    <a:pt x="3154275" y="1056768"/>
                  </a:lnTo>
                  <a:lnTo>
                    <a:pt x="3154275" y="76200"/>
                  </a:lnTo>
                  <a:lnTo>
                    <a:pt x="3149014" y="50311"/>
                  </a:lnTo>
                  <a:lnTo>
                    <a:pt x="3134689" y="29110"/>
                  </a:lnTo>
                  <a:lnTo>
                    <a:pt x="3113488" y="14786"/>
                  </a:lnTo>
                  <a:lnTo>
                    <a:pt x="3087600" y="9525"/>
                  </a:lnTo>
                  <a:lnTo>
                    <a:pt x="3122385" y="9525"/>
                  </a:lnTo>
                  <a:lnTo>
                    <a:pt x="3141416" y="22383"/>
                  </a:lnTo>
                  <a:lnTo>
                    <a:pt x="3157787" y="46612"/>
                  </a:lnTo>
                  <a:lnTo>
                    <a:pt x="3163800" y="76200"/>
                  </a:lnTo>
                  <a:lnTo>
                    <a:pt x="3163800" y="1056768"/>
                  </a:lnTo>
                  <a:lnTo>
                    <a:pt x="3157787" y="1086355"/>
                  </a:lnTo>
                  <a:lnTo>
                    <a:pt x="3141416" y="1110584"/>
                  </a:lnTo>
                  <a:lnTo>
                    <a:pt x="3122385" y="1123443"/>
                  </a:lnTo>
                  <a:close/>
                </a:path>
              </a:pathLst>
            </a:custGeom>
            <a:solidFill>
              <a:srgbClr val="334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1204678" y="4436581"/>
            <a:ext cx="1911350" cy="1436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F49E0A"/>
                </a:solidFill>
                <a:latin typeface="Arial"/>
                <a:cs typeface="Arial"/>
              </a:rPr>
              <a:t>SUSUNAN</a:t>
            </a:r>
            <a:r>
              <a:rPr sz="850" b="1" spc="-5" dirty="0">
                <a:solidFill>
                  <a:srgbClr val="F49E0A"/>
                </a:solidFill>
                <a:latin typeface="Arial"/>
                <a:cs typeface="Arial"/>
              </a:rPr>
              <a:t> </a:t>
            </a:r>
            <a:r>
              <a:rPr sz="850" b="1" spc="-20" dirty="0">
                <a:solidFill>
                  <a:srgbClr val="F49E0A"/>
                </a:solidFill>
                <a:latin typeface="Arial"/>
                <a:cs typeface="Arial"/>
              </a:rPr>
              <a:t>TARGET</a:t>
            </a:r>
            <a:r>
              <a:rPr sz="850" b="1" spc="-5" dirty="0">
                <a:solidFill>
                  <a:srgbClr val="F49E0A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F49E0A"/>
                </a:solidFill>
                <a:latin typeface="Arial"/>
                <a:cs typeface="Arial"/>
              </a:rPr>
              <a:t>DUELING </a:t>
            </a:r>
            <a:r>
              <a:rPr sz="850" b="1" spc="-20" dirty="0">
                <a:solidFill>
                  <a:srgbClr val="F49E0A"/>
                </a:solidFill>
                <a:latin typeface="Arial"/>
                <a:cs typeface="Arial"/>
              </a:rPr>
              <a:t>PLAT</a:t>
            </a:r>
            <a:endParaRPr sz="850" dirty="0">
              <a:latin typeface="Arial"/>
              <a:cs typeface="Arial"/>
            </a:endParaRPr>
          </a:p>
        </p:txBody>
      </p:sp>
      <p:pic>
        <p:nvPicPr>
          <p:cNvPr id="44" name="object 4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0676" y="4765875"/>
            <a:ext cx="209550" cy="209550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2685" y="4765875"/>
            <a:ext cx="209550" cy="209550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94695" y="4765875"/>
            <a:ext cx="209550" cy="209550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6704" y="4765875"/>
            <a:ext cx="209550" cy="209550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98714" y="4765875"/>
            <a:ext cx="209550" cy="209550"/>
          </a:xfrm>
          <a:prstGeom prst="rect">
            <a:avLst/>
          </a:prstGeom>
        </p:spPr>
      </p:pic>
      <p:grpSp>
        <p:nvGrpSpPr>
          <p:cNvPr id="49" name="object 49"/>
          <p:cNvGrpSpPr/>
          <p:nvPr/>
        </p:nvGrpSpPr>
        <p:grpSpPr>
          <a:xfrm>
            <a:off x="2886448" y="4708725"/>
            <a:ext cx="171450" cy="266700"/>
            <a:chOff x="2886448" y="4708725"/>
            <a:chExt cx="171450" cy="266700"/>
          </a:xfrm>
        </p:grpSpPr>
        <p:sp>
          <p:nvSpPr>
            <p:cNvPr id="50" name="object 50"/>
            <p:cNvSpPr/>
            <p:nvPr/>
          </p:nvSpPr>
          <p:spPr>
            <a:xfrm>
              <a:off x="2886448" y="4708725"/>
              <a:ext cx="171450" cy="266700"/>
            </a:xfrm>
            <a:custGeom>
              <a:avLst/>
              <a:gdLst/>
              <a:ahLst/>
              <a:cxnLst/>
              <a:rect l="l" t="t" r="r" b="b"/>
              <a:pathLst>
                <a:path w="171450" h="266700">
                  <a:moveTo>
                    <a:pt x="171450" y="266700"/>
                  </a:moveTo>
                  <a:lnTo>
                    <a:pt x="0" y="266700"/>
                  </a:lnTo>
                  <a:lnTo>
                    <a:pt x="0" y="38100"/>
                  </a:lnTo>
                  <a:lnTo>
                    <a:pt x="3006" y="23306"/>
                  </a:lnTo>
                  <a:lnTo>
                    <a:pt x="11191" y="11191"/>
                  </a:lnTo>
                  <a:lnTo>
                    <a:pt x="23306" y="3006"/>
                  </a:lnTo>
                  <a:lnTo>
                    <a:pt x="38100" y="0"/>
                  </a:lnTo>
                  <a:lnTo>
                    <a:pt x="133350" y="0"/>
                  </a:lnTo>
                  <a:lnTo>
                    <a:pt x="148143" y="3006"/>
                  </a:lnTo>
                  <a:lnTo>
                    <a:pt x="160258" y="11191"/>
                  </a:lnTo>
                  <a:lnTo>
                    <a:pt x="168443" y="23306"/>
                  </a:lnTo>
                  <a:lnTo>
                    <a:pt x="171450" y="38100"/>
                  </a:lnTo>
                  <a:lnTo>
                    <a:pt x="171450" y="266700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886448" y="4708725"/>
              <a:ext cx="171450" cy="266700"/>
            </a:xfrm>
            <a:custGeom>
              <a:avLst/>
              <a:gdLst/>
              <a:ahLst/>
              <a:cxnLst/>
              <a:rect l="l" t="t" r="r" b="b"/>
              <a:pathLst>
                <a:path w="171450" h="266700">
                  <a:moveTo>
                    <a:pt x="171450" y="266700"/>
                  </a:moveTo>
                  <a:lnTo>
                    <a:pt x="0" y="266700"/>
                  </a:lnTo>
                  <a:lnTo>
                    <a:pt x="0" y="38100"/>
                  </a:lnTo>
                  <a:lnTo>
                    <a:pt x="3006" y="23306"/>
                  </a:lnTo>
                  <a:lnTo>
                    <a:pt x="11191" y="11191"/>
                  </a:lnTo>
                  <a:lnTo>
                    <a:pt x="23306" y="3006"/>
                  </a:lnTo>
                  <a:lnTo>
                    <a:pt x="38100" y="0"/>
                  </a:lnTo>
                  <a:lnTo>
                    <a:pt x="133350" y="0"/>
                  </a:lnTo>
                  <a:lnTo>
                    <a:pt x="148143" y="3006"/>
                  </a:lnTo>
                  <a:lnTo>
                    <a:pt x="160258" y="11191"/>
                  </a:lnTo>
                  <a:lnTo>
                    <a:pt x="165567" y="19050"/>
                  </a:lnTo>
                  <a:lnTo>
                    <a:pt x="38100" y="19050"/>
                  </a:lnTo>
                  <a:lnTo>
                    <a:pt x="30703" y="20553"/>
                  </a:lnTo>
                  <a:lnTo>
                    <a:pt x="24645" y="24645"/>
                  </a:lnTo>
                  <a:lnTo>
                    <a:pt x="20553" y="30703"/>
                  </a:lnTo>
                  <a:lnTo>
                    <a:pt x="19050" y="38100"/>
                  </a:lnTo>
                  <a:lnTo>
                    <a:pt x="19050" y="247650"/>
                  </a:lnTo>
                  <a:lnTo>
                    <a:pt x="171450" y="247650"/>
                  </a:lnTo>
                  <a:lnTo>
                    <a:pt x="171450" y="266700"/>
                  </a:lnTo>
                  <a:close/>
                </a:path>
                <a:path w="171450" h="266700">
                  <a:moveTo>
                    <a:pt x="171450" y="247650"/>
                  </a:moveTo>
                  <a:lnTo>
                    <a:pt x="152400" y="247650"/>
                  </a:lnTo>
                  <a:lnTo>
                    <a:pt x="152400" y="38100"/>
                  </a:lnTo>
                  <a:lnTo>
                    <a:pt x="150896" y="30703"/>
                  </a:lnTo>
                  <a:lnTo>
                    <a:pt x="146804" y="24645"/>
                  </a:lnTo>
                  <a:lnTo>
                    <a:pt x="140746" y="20553"/>
                  </a:lnTo>
                  <a:lnTo>
                    <a:pt x="133350" y="19050"/>
                  </a:lnTo>
                  <a:lnTo>
                    <a:pt x="165567" y="19050"/>
                  </a:lnTo>
                  <a:lnTo>
                    <a:pt x="168443" y="23306"/>
                  </a:lnTo>
                  <a:lnTo>
                    <a:pt x="171450" y="38100"/>
                  </a:lnTo>
                  <a:lnTo>
                    <a:pt x="171450" y="2476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1135157" y="5122143"/>
            <a:ext cx="2050414" cy="12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93A3B8"/>
                </a:solidFill>
                <a:latin typeface="Microsoft Sans Serif"/>
                <a:cs typeface="Microsoft Sans Serif"/>
              </a:rPr>
              <a:t>5</a:t>
            </a:r>
            <a:r>
              <a:rPr sz="750" spc="-10" dirty="0">
                <a:solidFill>
                  <a:srgbClr val="93A3B8"/>
                </a:solidFill>
                <a:latin typeface="Microsoft Sans Serif"/>
                <a:cs typeface="Microsoft Sans Serif"/>
              </a:rPr>
              <a:t> </a:t>
            </a:r>
            <a:r>
              <a:rPr sz="750" dirty="0">
                <a:solidFill>
                  <a:srgbClr val="93A3B8"/>
                </a:solidFill>
                <a:latin typeface="Microsoft Sans Serif"/>
                <a:cs typeface="Microsoft Sans Serif"/>
              </a:rPr>
              <a:t>Plat</a:t>
            </a:r>
            <a:r>
              <a:rPr sz="750" spc="-10" dirty="0">
                <a:solidFill>
                  <a:srgbClr val="93A3B8"/>
                </a:solidFill>
                <a:latin typeface="Microsoft Sans Serif"/>
                <a:cs typeface="Microsoft Sans Serif"/>
              </a:rPr>
              <a:t> </a:t>
            </a:r>
            <a:r>
              <a:rPr sz="750" dirty="0">
                <a:solidFill>
                  <a:srgbClr val="93A3B8"/>
                </a:solidFill>
                <a:latin typeface="Microsoft Sans Serif"/>
                <a:cs typeface="Microsoft Sans Serif"/>
              </a:rPr>
              <a:t>Bulat</a:t>
            </a:r>
            <a:r>
              <a:rPr sz="750" spc="-5" dirty="0">
                <a:solidFill>
                  <a:srgbClr val="93A3B8"/>
                </a:solidFill>
                <a:latin typeface="Microsoft Sans Serif"/>
                <a:cs typeface="Microsoft Sans Serif"/>
              </a:rPr>
              <a:t> </a:t>
            </a:r>
            <a:r>
              <a:rPr sz="750" dirty="0">
                <a:solidFill>
                  <a:srgbClr val="93A3B8"/>
                </a:solidFill>
                <a:latin typeface="Microsoft Sans Serif"/>
                <a:cs typeface="Microsoft Sans Serif"/>
              </a:rPr>
              <a:t>(Biru)</a:t>
            </a:r>
            <a:r>
              <a:rPr sz="750" spc="-10" dirty="0">
                <a:solidFill>
                  <a:srgbClr val="93A3B8"/>
                </a:solidFill>
                <a:latin typeface="Microsoft Sans Serif"/>
                <a:cs typeface="Microsoft Sans Serif"/>
              </a:rPr>
              <a:t> </a:t>
            </a:r>
            <a:r>
              <a:rPr sz="750" dirty="0">
                <a:solidFill>
                  <a:srgbClr val="93A3B8"/>
                </a:solidFill>
                <a:latin typeface="Microsoft Sans Serif"/>
                <a:cs typeface="Microsoft Sans Serif"/>
              </a:rPr>
              <a:t>+</a:t>
            </a:r>
            <a:r>
              <a:rPr sz="750" spc="-10" dirty="0">
                <a:solidFill>
                  <a:srgbClr val="93A3B8"/>
                </a:solidFill>
                <a:latin typeface="Microsoft Sans Serif"/>
                <a:cs typeface="Microsoft Sans Serif"/>
              </a:rPr>
              <a:t> </a:t>
            </a:r>
            <a:r>
              <a:rPr sz="750" dirty="0">
                <a:solidFill>
                  <a:srgbClr val="93A3B8"/>
                </a:solidFill>
                <a:latin typeface="Microsoft Sans Serif"/>
                <a:cs typeface="Microsoft Sans Serif"/>
              </a:rPr>
              <a:t>1</a:t>
            </a:r>
            <a:r>
              <a:rPr sz="750" spc="-5" dirty="0">
                <a:solidFill>
                  <a:srgbClr val="93A3B8"/>
                </a:solidFill>
                <a:latin typeface="Microsoft Sans Serif"/>
                <a:cs typeface="Microsoft Sans Serif"/>
              </a:rPr>
              <a:t> </a:t>
            </a:r>
            <a:r>
              <a:rPr sz="750" dirty="0">
                <a:solidFill>
                  <a:srgbClr val="93A3B8"/>
                </a:solidFill>
                <a:latin typeface="Microsoft Sans Serif"/>
                <a:cs typeface="Microsoft Sans Serif"/>
              </a:rPr>
              <a:t>Popper</a:t>
            </a:r>
            <a:r>
              <a:rPr sz="750" spc="-10" dirty="0">
                <a:solidFill>
                  <a:srgbClr val="93A3B8"/>
                </a:solidFill>
                <a:latin typeface="Microsoft Sans Serif"/>
                <a:cs typeface="Microsoft Sans Serif"/>
              </a:rPr>
              <a:t> </a:t>
            </a:r>
            <a:r>
              <a:rPr sz="750" dirty="0">
                <a:solidFill>
                  <a:srgbClr val="93A3B8"/>
                </a:solidFill>
                <a:latin typeface="Microsoft Sans Serif"/>
                <a:cs typeface="Microsoft Sans Serif"/>
              </a:rPr>
              <a:t>Penentu</a:t>
            </a:r>
            <a:r>
              <a:rPr sz="750" spc="-5" dirty="0">
                <a:solidFill>
                  <a:srgbClr val="93A3B8"/>
                </a:solidFill>
                <a:latin typeface="Microsoft Sans Serif"/>
                <a:cs typeface="Microsoft Sans Serif"/>
              </a:rPr>
              <a:t> </a:t>
            </a:r>
            <a:r>
              <a:rPr sz="750" spc="-10" dirty="0">
                <a:solidFill>
                  <a:srgbClr val="93A3B8"/>
                </a:solidFill>
                <a:latin typeface="Microsoft Sans Serif"/>
                <a:cs typeface="Microsoft Sans Serif"/>
              </a:rPr>
              <a:t>(Merah)</a:t>
            </a:r>
            <a:endParaRPr sz="750" dirty="0">
              <a:latin typeface="Microsoft Sans Serif"/>
              <a:cs typeface="Microsoft Sans Serif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78100" y="5574993"/>
            <a:ext cx="3164205" cy="2627940"/>
            <a:chOff x="578100" y="5574993"/>
            <a:chExt cx="3164205" cy="1714500"/>
          </a:xfrm>
        </p:grpSpPr>
        <p:sp>
          <p:nvSpPr>
            <p:cNvPr id="11" name="object 11"/>
            <p:cNvSpPr/>
            <p:nvPr/>
          </p:nvSpPr>
          <p:spPr>
            <a:xfrm>
              <a:off x="578100" y="5574993"/>
              <a:ext cx="3164205" cy="1714500"/>
            </a:xfrm>
            <a:custGeom>
              <a:avLst/>
              <a:gdLst/>
              <a:ahLst/>
              <a:cxnLst/>
              <a:rect l="l" t="t" r="r" b="b"/>
              <a:pathLst>
                <a:path w="3164204" h="1714500">
                  <a:moveTo>
                    <a:pt x="3087600" y="1714500"/>
                  </a:moveTo>
                  <a:lnTo>
                    <a:pt x="76200" y="1714500"/>
                  </a:lnTo>
                  <a:lnTo>
                    <a:pt x="46612" y="1708487"/>
                  </a:lnTo>
                  <a:lnTo>
                    <a:pt x="22383" y="1692116"/>
                  </a:lnTo>
                  <a:lnTo>
                    <a:pt x="6012" y="1667887"/>
                  </a:lnTo>
                  <a:lnTo>
                    <a:pt x="0" y="163830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3087600" y="0"/>
                  </a:lnTo>
                  <a:lnTo>
                    <a:pt x="3117187" y="6012"/>
                  </a:lnTo>
                  <a:lnTo>
                    <a:pt x="3141416" y="22383"/>
                  </a:lnTo>
                  <a:lnTo>
                    <a:pt x="3157787" y="46612"/>
                  </a:lnTo>
                  <a:lnTo>
                    <a:pt x="3163800" y="76200"/>
                  </a:lnTo>
                  <a:lnTo>
                    <a:pt x="3163800" y="1638300"/>
                  </a:lnTo>
                  <a:lnTo>
                    <a:pt x="3157787" y="1667887"/>
                  </a:lnTo>
                  <a:lnTo>
                    <a:pt x="3141416" y="1692116"/>
                  </a:lnTo>
                  <a:lnTo>
                    <a:pt x="3117187" y="1708487"/>
                  </a:lnTo>
                  <a:lnTo>
                    <a:pt x="3087600" y="1714500"/>
                  </a:lnTo>
                  <a:close/>
                </a:path>
              </a:pathLst>
            </a:custGeom>
            <a:solidFill>
              <a:srgbClr val="1D28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8091" y="5597381"/>
              <a:ext cx="3164205" cy="1692275"/>
            </a:xfrm>
            <a:custGeom>
              <a:avLst/>
              <a:gdLst/>
              <a:ahLst/>
              <a:cxnLst/>
              <a:rect l="l" t="t" r="r" b="b"/>
              <a:pathLst>
                <a:path w="3164204" h="1692275">
                  <a:moveTo>
                    <a:pt x="3163798" y="53822"/>
                  </a:moveTo>
                  <a:lnTo>
                    <a:pt x="3157791" y="24231"/>
                  </a:lnTo>
                  <a:lnTo>
                    <a:pt x="3141421" y="0"/>
                  </a:lnTo>
                  <a:lnTo>
                    <a:pt x="3125622" y="15798"/>
                  </a:lnTo>
                  <a:lnTo>
                    <a:pt x="3134690" y="20180"/>
                  </a:lnTo>
                  <a:lnTo>
                    <a:pt x="3149015" y="35331"/>
                  </a:lnTo>
                  <a:lnTo>
                    <a:pt x="3154273" y="53822"/>
                  </a:lnTo>
                  <a:lnTo>
                    <a:pt x="3154273" y="1615922"/>
                  </a:lnTo>
                  <a:lnTo>
                    <a:pt x="3149015" y="1641805"/>
                  </a:lnTo>
                  <a:lnTo>
                    <a:pt x="3134690" y="1663001"/>
                  </a:lnTo>
                  <a:lnTo>
                    <a:pt x="3113494" y="1677327"/>
                  </a:lnTo>
                  <a:lnTo>
                    <a:pt x="3087598" y="1682597"/>
                  </a:lnTo>
                  <a:lnTo>
                    <a:pt x="76200" y="1682597"/>
                  </a:lnTo>
                  <a:lnTo>
                    <a:pt x="50317" y="1677327"/>
                  </a:lnTo>
                  <a:lnTo>
                    <a:pt x="29108" y="1663001"/>
                  </a:lnTo>
                  <a:lnTo>
                    <a:pt x="14782" y="1641805"/>
                  </a:lnTo>
                  <a:lnTo>
                    <a:pt x="9525" y="1615922"/>
                  </a:lnTo>
                  <a:lnTo>
                    <a:pt x="9525" y="53822"/>
                  </a:lnTo>
                  <a:lnTo>
                    <a:pt x="14782" y="35331"/>
                  </a:lnTo>
                  <a:lnTo>
                    <a:pt x="29108" y="20180"/>
                  </a:lnTo>
                  <a:lnTo>
                    <a:pt x="38188" y="15798"/>
                  </a:lnTo>
                  <a:lnTo>
                    <a:pt x="22390" y="0"/>
                  </a:lnTo>
                  <a:lnTo>
                    <a:pt x="6019" y="24231"/>
                  </a:lnTo>
                  <a:lnTo>
                    <a:pt x="0" y="53822"/>
                  </a:lnTo>
                  <a:lnTo>
                    <a:pt x="0" y="1615922"/>
                  </a:lnTo>
                  <a:lnTo>
                    <a:pt x="6019" y="1645500"/>
                  </a:lnTo>
                  <a:lnTo>
                    <a:pt x="22390" y="1669732"/>
                  </a:lnTo>
                  <a:lnTo>
                    <a:pt x="46621" y="1686102"/>
                  </a:lnTo>
                  <a:lnTo>
                    <a:pt x="76200" y="1692122"/>
                  </a:lnTo>
                  <a:lnTo>
                    <a:pt x="3087598" y="1692122"/>
                  </a:lnTo>
                  <a:lnTo>
                    <a:pt x="3141421" y="1669732"/>
                  </a:lnTo>
                  <a:lnTo>
                    <a:pt x="3163798" y="1615922"/>
                  </a:lnTo>
                  <a:lnTo>
                    <a:pt x="3163798" y="53822"/>
                  </a:lnTo>
                  <a:close/>
                </a:path>
              </a:pathLst>
            </a:custGeom>
            <a:solidFill>
              <a:srgbClr val="334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00483" y="5574993"/>
              <a:ext cx="3119120" cy="38735"/>
            </a:xfrm>
            <a:custGeom>
              <a:avLst/>
              <a:gdLst/>
              <a:ahLst/>
              <a:cxnLst/>
              <a:rect l="l" t="t" r="r" b="b"/>
              <a:pathLst>
                <a:path w="3119120" h="38735">
                  <a:moveTo>
                    <a:pt x="15801" y="38185"/>
                  </a:moveTo>
                  <a:lnTo>
                    <a:pt x="0" y="22383"/>
                  </a:lnTo>
                  <a:lnTo>
                    <a:pt x="24229" y="6012"/>
                  </a:lnTo>
                  <a:lnTo>
                    <a:pt x="53816" y="0"/>
                  </a:lnTo>
                  <a:lnTo>
                    <a:pt x="3065216" y="0"/>
                  </a:lnTo>
                  <a:lnTo>
                    <a:pt x="3094803" y="6012"/>
                  </a:lnTo>
                  <a:lnTo>
                    <a:pt x="3119032" y="22383"/>
                  </a:lnTo>
                  <a:lnTo>
                    <a:pt x="3112841" y="28575"/>
                  </a:lnTo>
                  <a:lnTo>
                    <a:pt x="53816" y="28575"/>
                  </a:lnTo>
                  <a:lnTo>
                    <a:pt x="27927" y="32332"/>
                  </a:lnTo>
                  <a:lnTo>
                    <a:pt x="15801" y="38185"/>
                  </a:lnTo>
                  <a:close/>
                </a:path>
                <a:path w="3119120" h="38735">
                  <a:moveTo>
                    <a:pt x="3103231" y="38185"/>
                  </a:moveTo>
                  <a:lnTo>
                    <a:pt x="3091105" y="32332"/>
                  </a:lnTo>
                  <a:lnTo>
                    <a:pt x="3065216" y="28575"/>
                  </a:lnTo>
                  <a:lnTo>
                    <a:pt x="3112841" y="28575"/>
                  </a:lnTo>
                  <a:lnTo>
                    <a:pt x="3103231" y="38185"/>
                  </a:lnTo>
                  <a:close/>
                </a:path>
              </a:pathLst>
            </a:custGeom>
            <a:solidFill>
              <a:srgbClr val="3B8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20975" y="6003618"/>
              <a:ext cx="2878455" cy="9525"/>
            </a:xfrm>
            <a:custGeom>
              <a:avLst/>
              <a:gdLst/>
              <a:ahLst/>
              <a:cxnLst/>
              <a:rect l="l" t="t" r="r" b="b"/>
              <a:pathLst>
                <a:path w="2878454" h="9525">
                  <a:moveTo>
                    <a:pt x="2878050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2878050" y="0"/>
                  </a:lnTo>
                  <a:lnTo>
                    <a:pt x="2878050" y="9525"/>
                  </a:lnTo>
                  <a:close/>
                </a:path>
              </a:pathLst>
            </a:custGeom>
            <a:solidFill>
              <a:srgbClr val="334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3818100" y="4889700"/>
            <a:ext cx="3164205" cy="1724025"/>
            <a:chOff x="3818100" y="4889700"/>
            <a:chExt cx="3164205" cy="1724025"/>
          </a:xfrm>
        </p:grpSpPr>
        <p:sp>
          <p:nvSpPr>
            <p:cNvPr id="26" name="object 26"/>
            <p:cNvSpPr/>
            <p:nvPr/>
          </p:nvSpPr>
          <p:spPr>
            <a:xfrm>
              <a:off x="3818100" y="4889700"/>
              <a:ext cx="3164205" cy="1724025"/>
            </a:xfrm>
            <a:custGeom>
              <a:avLst/>
              <a:gdLst/>
              <a:ahLst/>
              <a:cxnLst/>
              <a:rect l="l" t="t" r="r" b="b"/>
              <a:pathLst>
                <a:path w="3164204" h="1724025">
                  <a:moveTo>
                    <a:pt x="3087600" y="1724025"/>
                  </a:moveTo>
                  <a:lnTo>
                    <a:pt x="76200" y="1724025"/>
                  </a:lnTo>
                  <a:lnTo>
                    <a:pt x="46612" y="1718012"/>
                  </a:lnTo>
                  <a:lnTo>
                    <a:pt x="22383" y="1701641"/>
                  </a:lnTo>
                  <a:lnTo>
                    <a:pt x="6012" y="1677412"/>
                  </a:lnTo>
                  <a:lnTo>
                    <a:pt x="0" y="1647825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3087600" y="0"/>
                  </a:lnTo>
                  <a:lnTo>
                    <a:pt x="3117187" y="6012"/>
                  </a:lnTo>
                  <a:lnTo>
                    <a:pt x="3141416" y="22383"/>
                  </a:lnTo>
                  <a:lnTo>
                    <a:pt x="3157787" y="46612"/>
                  </a:lnTo>
                  <a:lnTo>
                    <a:pt x="3163800" y="76200"/>
                  </a:lnTo>
                  <a:lnTo>
                    <a:pt x="3163800" y="1647825"/>
                  </a:lnTo>
                  <a:lnTo>
                    <a:pt x="3157787" y="1677412"/>
                  </a:lnTo>
                  <a:lnTo>
                    <a:pt x="3141416" y="1701641"/>
                  </a:lnTo>
                  <a:lnTo>
                    <a:pt x="3117187" y="1718012"/>
                  </a:lnTo>
                  <a:lnTo>
                    <a:pt x="3087600" y="1724025"/>
                  </a:lnTo>
                  <a:close/>
                </a:path>
              </a:pathLst>
            </a:custGeom>
            <a:solidFill>
              <a:srgbClr val="1D28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818090" y="4889700"/>
              <a:ext cx="3164205" cy="1724025"/>
            </a:xfrm>
            <a:custGeom>
              <a:avLst/>
              <a:gdLst/>
              <a:ahLst/>
              <a:cxnLst/>
              <a:rect l="l" t="t" r="r" b="b"/>
              <a:pathLst>
                <a:path w="3164204" h="1724025">
                  <a:moveTo>
                    <a:pt x="3020923" y="409587"/>
                  </a:moveTo>
                  <a:lnTo>
                    <a:pt x="142875" y="409587"/>
                  </a:lnTo>
                  <a:lnTo>
                    <a:pt x="142875" y="419112"/>
                  </a:lnTo>
                  <a:lnTo>
                    <a:pt x="3020923" y="419112"/>
                  </a:lnTo>
                  <a:lnTo>
                    <a:pt x="3020923" y="409587"/>
                  </a:lnTo>
                  <a:close/>
                </a:path>
                <a:path w="3164204" h="1724025">
                  <a:moveTo>
                    <a:pt x="3163798" y="76200"/>
                  </a:moveTo>
                  <a:lnTo>
                    <a:pt x="3157791" y="46621"/>
                  </a:lnTo>
                  <a:lnTo>
                    <a:pt x="3154273" y="41414"/>
                  </a:lnTo>
                  <a:lnTo>
                    <a:pt x="3154273" y="76200"/>
                  </a:lnTo>
                  <a:lnTo>
                    <a:pt x="3154273" y="1647825"/>
                  </a:lnTo>
                  <a:lnTo>
                    <a:pt x="3149015" y="1673720"/>
                  </a:lnTo>
                  <a:lnTo>
                    <a:pt x="3134690" y="1694916"/>
                  </a:lnTo>
                  <a:lnTo>
                    <a:pt x="3113494" y="1709242"/>
                  </a:lnTo>
                  <a:lnTo>
                    <a:pt x="3087598" y="1714500"/>
                  </a:lnTo>
                  <a:lnTo>
                    <a:pt x="76200" y="1714500"/>
                  </a:lnTo>
                  <a:lnTo>
                    <a:pt x="50317" y="1709242"/>
                  </a:lnTo>
                  <a:lnTo>
                    <a:pt x="29108" y="1694916"/>
                  </a:lnTo>
                  <a:lnTo>
                    <a:pt x="14795" y="1673720"/>
                  </a:lnTo>
                  <a:lnTo>
                    <a:pt x="9525" y="1647825"/>
                  </a:lnTo>
                  <a:lnTo>
                    <a:pt x="9525" y="76200"/>
                  </a:lnTo>
                  <a:lnTo>
                    <a:pt x="14795" y="50317"/>
                  </a:lnTo>
                  <a:lnTo>
                    <a:pt x="29108" y="29121"/>
                  </a:lnTo>
                  <a:lnTo>
                    <a:pt x="50317" y="14795"/>
                  </a:lnTo>
                  <a:lnTo>
                    <a:pt x="76200" y="9525"/>
                  </a:lnTo>
                  <a:lnTo>
                    <a:pt x="3087598" y="9525"/>
                  </a:lnTo>
                  <a:lnTo>
                    <a:pt x="3113494" y="14795"/>
                  </a:lnTo>
                  <a:lnTo>
                    <a:pt x="3134690" y="29121"/>
                  </a:lnTo>
                  <a:lnTo>
                    <a:pt x="3149015" y="50317"/>
                  </a:lnTo>
                  <a:lnTo>
                    <a:pt x="3154273" y="76200"/>
                  </a:lnTo>
                  <a:lnTo>
                    <a:pt x="3154273" y="41414"/>
                  </a:lnTo>
                  <a:lnTo>
                    <a:pt x="3141421" y="22390"/>
                  </a:lnTo>
                  <a:lnTo>
                    <a:pt x="3122384" y="9525"/>
                  </a:lnTo>
                  <a:lnTo>
                    <a:pt x="3117189" y="6019"/>
                  </a:lnTo>
                  <a:lnTo>
                    <a:pt x="3087598" y="0"/>
                  </a:lnTo>
                  <a:lnTo>
                    <a:pt x="76200" y="0"/>
                  </a:lnTo>
                  <a:lnTo>
                    <a:pt x="46621" y="6019"/>
                  </a:lnTo>
                  <a:lnTo>
                    <a:pt x="22390" y="22390"/>
                  </a:lnTo>
                  <a:lnTo>
                    <a:pt x="6019" y="46621"/>
                  </a:lnTo>
                  <a:lnTo>
                    <a:pt x="0" y="76200"/>
                  </a:lnTo>
                  <a:lnTo>
                    <a:pt x="0" y="1647825"/>
                  </a:lnTo>
                  <a:lnTo>
                    <a:pt x="6019" y="1677416"/>
                  </a:lnTo>
                  <a:lnTo>
                    <a:pt x="22390" y="1701647"/>
                  </a:lnTo>
                  <a:lnTo>
                    <a:pt x="46621" y="1718017"/>
                  </a:lnTo>
                  <a:lnTo>
                    <a:pt x="76200" y="1724025"/>
                  </a:lnTo>
                  <a:lnTo>
                    <a:pt x="3087598" y="1724025"/>
                  </a:lnTo>
                  <a:lnTo>
                    <a:pt x="3117189" y="1718017"/>
                  </a:lnTo>
                  <a:lnTo>
                    <a:pt x="3122384" y="1714500"/>
                  </a:lnTo>
                  <a:lnTo>
                    <a:pt x="3141421" y="1701647"/>
                  </a:lnTo>
                  <a:lnTo>
                    <a:pt x="3157791" y="1677416"/>
                  </a:lnTo>
                  <a:lnTo>
                    <a:pt x="3163798" y="1647825"/>
                  </a:lnTo>
                  <a:lnTo>
                    <a:pt x="3163798" y="76200"/>
                  </a:lnTo>
                  <a:close/>
                </a:path>
              </a:pathLst>
            </a:custGeom>
            <a:solidFill>
              <a:srgbClr val="334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3948274" y="5016943"/>
            <a:ext cx="15100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49E0A"/>
                </a:solidFill>
                <a:latin typeface="Microsoft Sans Serif"/>
                <a:cs typeface="Microsoft Sans Serif"/>
              </a:rPr>
              <a:t>DID</a:t>
            </a:r>
            <a:r>
              <a:rPr sz="1100" spc="-30" dirty="0">
                <a:solidFill>
                  <a:srgbClr val="F49E0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F49E0A"/>
                </a:solidFill>
                <a:latin typeface="Microsoft Sans Serif"/>
                <a:cs typeface="Microsoft Sans Serif"/>
              </a:rPr>
              <a:t>NOT</a:t>
            </a:r>
            <a:r>
              <a:rPr sz="1100" spc="-25" dirty="0">
                <a:solidFill>
                  <a:srgbClr val="F49E0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F49E0A"/>
                </a:solidFill>
                <a:latin typeface="Microsoft Sans Serif"/>
                <a:cs typeface="Microsoft Sans Serif"/>
              </a:rPr>
              <a:t>FINISH</a:t>
            </a:r>
            <a:r>
              <a:rPr sz="1100" spc="-30" dirty="0">
                <a:solidFill>
                  <a:srgbClr val="F49E0A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F49E0A"/>
                </a:solidFill>
                <a:latin typeface="Microsoft Sans Serif"/>
                <a:cs typeface="Microsoft Sans Serif"/>
              </a:rPr>
              <a:t>(DNF)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051933" y="5356697"/>
            <a:ext cx="2624455" cy="349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010" marR="5080" indent="-67945">
              <a:lnSpc>
                <a:spcPct val="125000"/>
              </a:lnSpc>
              <a:spcBef>
                <a:spcPts val="100"/>
              </a:spcBef>
              <a:buChar char="•"/>
              <a:tabLst>
                <a:tab pos="80010" algn="l"/>
              </a:tabLst>
            </a:pP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Peserta</a:t>
            </a:r>
            <a:r>
              <a:rPr sz="850" spc="-3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tidak</a:t>
            </a:r>
            <a:r>
              <a:rPr sz="850" spc="-2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dapat</a:t>
            </a:r>
            <a:r>
              <a:rPr sz="850" spc="-2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menyelesaikan</a:t>
            </a:r>
            <a:r>
              <a:rPr sz="850" spc="-3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tembakan</a:t>
            </a:r>
            <a:r>
              <a:rPr sz="850" spc="-2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karena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terjadi</a:t>
            </a:r>
            <a:r>
              <a:rPr sz="850" spc="-4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gangguan</a:t>
            </a:r>
            <a:r>
              <a:rPr sz="850" spc="-3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senjata</a:t>
            </a:r>
            <a:r>
              <a:rPr sz="850" spc="-4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yang</a:t>
            </a:r>
            <a:r>
              <a:rPr sz="850" spc="-3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tidak</a:t>
            </a:r>
            <a:r>
              <a:rPr sz="850" spc="-3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bisa</a:t>
            </a:r>
            <a:r>
              <a:rPr sz="850" spc="-4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diatasi.</a:t>
            </a:r>
            <a:endParaRPr sz="850">
              <a:latin typeface="Microsoft Sans Serif"/>
              <a:cs typeface="Microsoft Sans Serif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16285" y="5721286"/>
            <a:ext cx="3088005" cy="24186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49E0A"/>
                </a:solidFill>
                <a:latin typeface="Microsoft Sans Serif"/>
                <a:cs typeface="Microsoft Sans Serif"/>
              </a:rPr>
              <a:t>TEKNIS</a:t>
            </a:r>
            <a:r>
              <a:rPr sz="1100" spc="-60" dirty="0">
                <a:solidFill>
                  <a:srgbClr val="F49E0A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F49E0A"/>
                </a:solidFill>
                <a:latin typeface="Microsoft Sans Serif"/>
                <a:cs typeface="Microsoft Sans Serif"/>
              </a:rPr>
              <a:t>PELAKSANAAN</a:t>
            </a:r>
            <a:endParaRPr sz="11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1100" dirty="0">
              <a:latin typeface="Microsoft Sans Serif"/>
              <a:cs typeface="Microsoft Sans Serif"/>
            </a:endParaRPr>
          </a:p>
          <a:p>
            <a:pPr marL="275590" indent="-67310">
              <a:lnSpc>
                <a:spcPct val="100000"/>
              </a:lnSpc>
              <a:buChar char="•"/>
              <a:tabLst>
                <a:tab pos="275590" algn="l"/>
              </a:tabLst>
            </a:pP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Pistol</a:t>
            </a:r>
            <a:r>
              <a:rPr sz="850" spc="-3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dalam</a:t>
            </a:r>
            <a:r>
              <a:rPr sz="850" spc="-3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kondisi</a:t>
            </a:r>
            <a:r>
              <a:rPr sz="850" spc="-3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25" dirty="0">
                <a:solidFill>
                  <a:srgbClr val="F7F9FB"/>
                </a:solidFill>
                <a:latin typeface="Microsoft Sans Serif"/>
                <a:cs typeface="Microsoft Sans Serif"/>
              </a:rPr>
              <a:t>2.</a:t>
            </a:r>
            <a:endParaRPr sz="850" dirty="0">
              <a:latin typeface="Microsoft Sans Serif"/>
              <a:cs typeface="Microsoft Sans Serif"/>
            </a:endParaRPr>
          </a:p>
          <a:p>
            <a:pPr marL="275590" indent="-67310">
              <a:lnSpc>
                <a:spcPct val="100000"/>
              </a:lnSpc>
              <a:spcBef>
                <a:spcPts val="705"/>
              </a:spcBef>
              <a:buChar char="•"/>
              <a:tabLst>
                <a:tab pos="275590" algn="l"/>
              </a:tabLst>
            </a:pP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Posisi</a:t>
            </a:r>
            <a:r>
              <a:rPr sz="850" spc="-2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start</a:t>
            </a:r>
            <a:r>
              <a:rPr sz="850" spc="-2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10</a:t>
            </a:r>
            <a:r>
              <a:rPr sz="850" spc="-2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meter</a:t>
            </a:r>
            <a:r>
              <a:rPr sz="850" spc="-2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di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belakang</a:t>
            </a:r>
            <a:r>
              <a:rPr sz="850" spc="-2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garis</a:t>
            </a:r>
            <a:r>
              <a:rPr sz="850" spc="-2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 err="1">
                <a:solidFill>
                  <a:srgbClr val="F7F9FB"/>
                </a:solidFill>
                <a:latin typeface="Microsoft Sans Serif"/>
                <a:cs typeface="Microsoft Sans Serif"/>
              </a:rPr>
              <a:t>penembakan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.</a:t>
            </a:r>
          </a:p>
          <a:p>
            <a:pPr marL="275590" indent="-67310">
              <a:lnSpc>
                <a:spcPct val="100000"/>
              </a:lnSpc>
              <a:spcBef>
                <a:spcPts val="705"/>
              </a:spcBef>
              <a:buChar char="•"/>
              <a:tabLst>
                <a:tab pos="275590" algn="l"/>
              </a:tabLst>
            </a:pPr>
            <a:r>
              <a:rPr lang="id-ID"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Petembak berlari menuju meja petembak </a:t>
            </a:r>
          </a:p>
          <a:p>
            <a:pPr marL="275590" indent="-67310">
              <a:lnSpc>
                <a:spcPct val="100000"/>
              </a:lnSpc>
              <a:spcBef>
                <a:spcPts val="705"/>
              </a:spcBef>
              <a:buChar char="•"/>
              <a:tabLst>
                <a:tab pos="275590" algn="l"/>
              </a:tabLst>
            </a:pPr>
            <a:r>
              <a:rPr lang="id-ID"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Isi senjata (kokang senjata)</a:t>
            </a:r>
          </a:p>
          <a:p>
            <a:pPr marL="275590" indent="-67310">
              <a:lnSpc>
                <a:spcPct val="100000"/>
              </a:lnSpc>
              <a:spcBef>
                <a:spcPts val="705"/>
              </a:spcBef>
              <a:buChar char="•"/>
              <a:tabLst>
                <a:tab pos="275590" algn="l"/>
              </a:tabLst>
            </a:pPr>
            <a:r>
              <a:rPr lang="id-ID"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Laksanakan penembakan sampai dengan selesai</a:t>
            </a:r>
            <a:endParaRPr sz="850" dirty="0">
              <a:latin typeface="Microsoft Sans Serif"/>
              <a:cs typeface="Microsoft Sans Serif"/>
            </a:endParaRPr>
          </a:p>
          <a:p>
            <a:pPr marL="275590" marR="109220" indent="-67945">
              <a:lnSpc>
                <a:spcPct val="125000"/>
              </a:lnSpc>
              <a:spcBef>
                <a:spcPts val="450"/>
              </a:spcBef>
              <a:buChar char="•"/>
              <a:tabLst>
                <a:tab pos="275590" algn="l"/>
              </a:tabLst>
            </a:pP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Wajib menghabiskan</a:t>
            </a:r>
            <a:r>
              <a:rPr sz="850" spc="-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plate</a:t>
            </a:r>
            <a:r>
              <a:rPr sz="850" spc="-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bulat</a:t>
            </a:r>
            <a:r>
              <a:rPr sz="850" spc="-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terlebih</a:t>
            </a:r>
            <a:r>
              <a:rPr sz="850" spc="-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dahulu</a:t>
            </a:r>
            <a:r>
              <a:rPr sz="850" spc="-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sebelum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menembak</a:t>
            </a:r>
            <a:r>
              <a:rPr sz="850" spc="-3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Popper</a:t>
            </a:r>
            <a:r>
              <a:rPr sz="850" spc="-3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 err="1">
                <a:solidFill>
                  <a:srgbClr val="F7F9FB"/>
                </a:solidFill>
                <a:latin typeface="Microsoft Sans Serif"/>
                <a:cs typeface="Microsoft Sans Serif"/>
              </a:rPr>
              <a:t>Penentu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.</a:t>
            </a:r>
          </a:p>
          <a:p>
            <a:pPr marL="275590" marR="109220" indent="-67945">
              <a:lnSpc>
                <a:spcPct val="125000"/>
              </a:lnSpc>
              <a:spcBef>
                <a:spcPts val="450"/>
              </a:spcBef>
              <a:buChar char="•"/>
              <a:tabLst>
                <a:tab pos="275590" algn="l"/>
              </a:tabLst>
            </a:pPr>
            <a:r>
              <a:rPr lang="id-ID"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Setelah melaksanakan penembakan lepas magazine, kosongkan senjata</a:t>
            </a:r>
            <a:endParaRPr sz="850" dirty="0">
              <a:latin typeface="Microsoft Sans Serif"/>
              <a:cs typeface="Microsoft Sans Serif"/>
            </a:endParaRPr>
          </a:p>
          <a:p>
            <a:pPr marL="275590" indent="-67310">
              <a:lnSpc>
                <a:spcPct val="100000"/>
              </a:lnSpc>
              <a:spcBef>
                <a:spcPts val="705"/>
              </a:spcBef>
              <a:buChar char="•"/>
              <a:tabLst>
                <a:tab pos="275590" algn="l"/>
              </a:tabLst>
            </a:pP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Semua</a:t>
            </a:r>
            <a:r>
              <a:rPr sz="850" spc="-2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aba-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aba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atas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perintah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Range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Officer</a:t>
            </a:r>
            <a:r>
              <a:rPr sz="850" spc="-2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(RO).</a:t>
            </a:r>
            <a:endParaRPr sz="850" dirty="0">
              <a:latin typeface="Microsoft Sans Serif"/>
              <a:cs typeface="Microsoft Sans Serif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051933" y="5737697"/>
            <a:ext cx="2620645" cy="349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010" marR="5080" indent="-67945">
              <a:lnSpc>
                <a:spcPct val="125000"/>
              </a:lnSpc>
              <a:spcBef>
                <a:spcPts val="100"/>
              </a:spcBef>
              <a:buChar char="•"/>
              <a:tabLst>
                <a:tab pos="80010" algn="l"/>
              </a:tabLst>
            </a:pP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Peserta</a:t>
            </a:r>
            <a:r>
              <a:rPr sz="850" spc="-2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mengisi</a:t>
            </a:r>
            <a:r>
              <a:rPr sz="850" spc="-2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peluru</a:t>
            </a:r>
            <a:r>
              <a:rPr sz="850" spc="-2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kurang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dari</a:t>
            </a:r>
            <a:r>
              <a:rPr sz="850" spc="-2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10</a:t>
            </a:r>
            <a:r>
              <a:rPr sz="850" spc="-2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butir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dan</a:t>
            </a:r>
            <a:r>
              <a:rPr sz="850" spc="-2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spc="-20" dirty="0">
                <a:solidFill>
                  <a:srgbClr val="F7F9FB"/>
                </a:solidFill>
                <a:latin typeface="Microsoft Sans Serif"/>
                <a:cs typeface="Microsoft Sans Serif"/>
              </a:rPr>
              <a:t>tidak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menyadari</a:t>
            </a:r>
            <a:r>
              <a:rPr sz="850" spc="-5" dirty="0">
                <a:solidFill>
                  <a:srgbClr val="F7F9FB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7F9FB"/>
                </a:solidFill>
                <a:latin typeface="Microsoft Sans Serif"/>
                <a:cs typeface="Microsoft Sans Serif"/>
              </a:rPr>
              <a:t>hal </a:t>
            </a:r>
            <a:r>
              <a:rPr sz="850" spc="-10" dirty="0">
                <a:solidFill>
                  <a:srgbClr val="F7F9FB"/>
                </a:solidFill>
                <a:latin typeface="Microsoft Sans Serif"/>
                <a:cs typeface="Microsoft Sans Serif"/>
              </a:rPr>
              <a:t>tersebut.</a:t>
            </a:r>
            <a:endParaRPr sz="850">
              <a:latin typeface="Microsoft Sans Serif"/>
              <a:cs typeface="Microsoft Sans Serif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948274" y="6120738"/>
            <a:ext cx="286956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800" dirty="0">
                <a:solidFill>
                  <a:srgbClr val="93A3B8"/>
                </a:solidFill>
                <a:latin typeface="Microsoft Sans Serif"/>
                <a:cs typeface="Microsoft Sans Serif"/>
              </a:rPr>
              <a:t>*Jika</a:t>
            </a:r>
            <a:r>
              <a:rPr sz="800" spc="-5" dirty="0">
                <a:solidFill>
                  <a:srgbClr val="93A3B8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93A3B8"/>
                </a:solidFill>
                <a:latin typeface="Microsoft Sans Serif"/>
                <a:cs typeface="Microsoft Sans Serif"/>
              </a:rPr>
              <a:t>DNF </a:t>
            </a:r>
            <a:r>
              <a:rPr sz="800" spc="-10" dirty="0">
                <a:solidFill>
                  <a:srgbClr val="93A3B8"/>
                </a:solidFill>
                <a:latin typeface="Microsoft Sans Serif"/>
                <a:cs typeface="Microsoft Sans Serif"/>
              </a:rPr>
              <a:t>terjadi,</a:t>
            </a:r>
            <a:r>
              <a:rPr sz="800" spc="-5" dirty="0">
                <a:solidFill>
                  <a:srgbClr val="93A3B8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93A3B8"/>
                </a:solidFill>
                <a:latin typeface="Microsoft Sans Serif"/>
                <a:cs typeface="Microsoft Sans Serif"/>
              </a:rPr>
              <a:t>nilai peserta </a:t>
            </a:r>
            <a:r>
              <a:rPr sz="800" spc="-10" dirty="0">
                <a:solidFill>
                  <a:srgbClr val="93A3B8"/>
                </a:solidFill>
                <a:latin typeface="Microsoft Sans Serif"/>
                <a:cs typeface="Microsoft Sans Serif"/>
              </a:rPr>
              <a:t>dihitung</a:t>
            </a:r>
            <a:r>
              <a:rPr sz="800" spc="-5" dirty="0">
                <a:solidFill>
                  <a:srgbClr val="93A3B8"/>
                </a:solidFill>
                <a:latin typeface="Microsoft Sans Serif"/>
                <a:cs typeface="Microsoft Sans Serif"/>
              </a:rPr>
              <a:t> </a:t>
            </a:r>
            <a:r>
              <a:rPr sz="800" spc="-10" dirty="0">
                <a:solidFill>
                  <a:srgbClr val="93A3B8"/>
                </a:solidFill>
                <a:latin typeface="Microsoft Sans Serif"/>
                <a:cs typeface="Microsoft Sans Serif"/>
              </a:rPr>
              <a:t>berdasarkan</a:t>
            </a:r>
            <a:r>
              <a:rPr sz="800" dirty="0">
                <a:solidFill>
                  <a:srgbClr val="93A3B8"/>
                </a:solidFill>
                <a:latin typeface="Microsoft Sans Serif"/>
                <a:cs typeface="Microsoft Sans Serif"/>
              </a:rPr>
              <a:t> </a:t>
            </a:r>
            <a:r>
              <a:rPr sz="800" spc="-10" dirty="0">
                <a:solidFill>
                  <a:srgbClr val="93A3B8"/>
                </a:solidFill>
                <a:latin typeface="Microsoft Sans Serif"/>
                <a:cs typeface="Microsoft Sans Serif"/>
              </a:rPr>
              <a:t>tembakan/ plate</a:t>
            </a:r>
            <a:r>
              <a:rPr sz="800" spc="-35" dirty="0">
                <a:solidFill>
                  <a:srgbClr val="93A3B8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93A3B8"/>
                </a:solidFill>
                <a:latin typeface="Microsoft Sans Serif"/>
                <a:cs typeface="Microsoft Sans Serif"/>
              </a:rPr>
              <a:t>yang</a:t>
            </a:r>
            <a:r>
              <a:rPr sz="800" spc="-35" dirty="0">
                <a:solidFill>
                  <a:srgbClr val="93A3B8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93A3B8"/>
                </a:solidFill>
                <a:latin typeface="Microsoft Sans Serif"/>
                <a:cs typeface="Microsoft Sans Serif"/>
              </a:rPr>
              <a:t>jatuh</a:t>
            </a:r>
            <a:r>
              <a:rPr sz="800" spc="-30" dirty="0">
                <a:solidFill>
                  <a:srgbClr val="93A3B8"/>
                </a:solidFill>
                <a:latin typeface="Microsoft Sans Serif"/>
                <a:cs typeface="Microsoft Sans Serif"/>
              </a:rPr>
              <a:t> </a:t>
            </a:r>
            <a:r>
              <a:rPr sz="800" spc="-20" dirty="0">
                <a:solidFill>
                  <a:srgbClr val="93A3B8"/>
                </a:solidFill>
                <a:latin typeface="Microsoft Sans Serif"/>
                <a:cs typeface="Microsoft Sans Serif"/>
              </a:rPr>
              <a:t>saja.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40000" y="8928100"/>
            <a:ext cx="6480175" cy="9525"/>
          </a:xfrm>
          <a:custGeom>
            <a:avLst/>
            <a:gdLst/>
            <a:ahLst/>
            <a:cxnLst/>
            <a:rect l="l" t="t" r="r" b="b"/>
            <a:pathLst>
              <a:path w="6480175" h="9525">
                <a:moveTo>
                  <a:pt x="6480000" y="9525"/>
                </a:moveTo>
                <a:lnTo>
                  <a:pt x="0" y="9525"/>
                </a:lnTo>
                <a:lnTo>
                  <a:pt x="0" y="0"/>
                </a:lnTo>
                <a:lnTo>
                  <a:pt x="6480000" y="0"/>
                </a:lnTo>
                <a:lnTo>
                  <a:pt x="6480000" y="9525"/>
                </a:lnTo>
                <a:close/>
              </a:path>
            </a:pathLst>
          </a:custGeom>
          <a:solidFill>
            <a:srgbClr val="3341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2524912" y="9009854"/>
            <a:ext cx="2586355" cy="469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b="1" spc="110" dirty="0">
                <a:solidFill>
                  <a:srgbClr val="F49E0A"/>
                </a:solidFill>
                <a:latin typeface="Arial"/>
                <a:cs typeface="Arial"/>
              </a:rPr>
              <a:t>SEKIAN</a:t>
            </a:r>
            <a:r>
              <a:rPr sz="1400" b="1" spc="295" dirty="0">
                <a:solidFill>
                  <a:srgbClr val="F49E0A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49E0A"/>
                </a:solidFill>
                <a:latin typeface="Arial"/>
                <a:cs typeface="Arial"/>
              </a:rPr>
              <a:t>&amp;</a:t>
            </a:r>
            <a:r>
              <a:rPr sz="1400" b="1" spc="300" dirty="0">
                <a:solidFill>
                  <a:srgbClr val="F49E0A"/>
                </a:solidFill>
                <a:latin typeface="Arial"/>
                <a:cs typeface="Arial"/>
              </a:rPr>
              <a:t> </a:t>
            </a:r>
            <a:r>
              <a:rPr sz="1400" b="1" spc="114" dirty="0">
                <a:solidFill>
                  <a:srgbClr val="F49E0A"/>
                </a:solidFill>
                <a:latin typeface="Arial"/>
                <a:cs typeface="Arial"/>
              </a:rPr>
              <a:t>TERIMA</a:t>
            </a:r>
            <a:r>
              <a:rPr sz="1400" b="1" spc="300" dirty="0">
                <a:solidFill>
                  <a:srgbClr val="F49E0A"/>
                </a:solidFill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F49E0A"/>
                </a:solidFill>
                <a:latin typeface="Arial"/>
                <a:cs typeface="Arial"/>
              </a:rPr>
              <a:t>K</a:t>
            </a:r>
            <a:r>
              <a:rPr sz="1400" b="1" spc="-210" dirty="0">
                <a:solidFill>
                  <a:srgbClr val="F49E0A"/>
                </a:solidFill>
                <a:latin typeface="Arial"/>
                <a:cs typeface="Arial"/>
              </a:rPr>
              <a:t> </a:t>
            </a:r>
            <a:r>
              <a:rPr sz="1400" b="1" spc="75" dirty="0">
                <a:solidFill>
                  <a:srgbClr val="F49E0A"/>
                </a:solidFill>
                <a:latin typeface="Arial"/>
                <a:cs typeface="Arial"/>
              </a:rPr>
              <a:t>ASIH</a:t>
            </a:r>
            <a:endParaRPr sz="1400" dirty="0">
              <a:latin typeface="Arial"/>
              <a:cs typeface="Arial"/>
            </a:endParaRPr>
          </a:p>
          <a:p>
            <a:pPr marL="20320" algn="ctr">
              <a:lnSpc>
                <a:spcPct val="100000"/>
              </a:lnSpc>
              <a:spcBef>
                <a:spcPts val="730"/>
              </a:spcBef>
            </a:pPr>
            <a:r>
              <a:rPr sz="900" dirty="0">
                <a:solidFill>
                  <a:srgbClr val="93A3B8"/>
                </a:solidFill>
                <a:latin typeface="Microsoft Sans Serif"/>
                <a:cs typeface="Microsoft Sans Serif"/>
              </a:rPr>
              <a:t>BDA</a:t>
            </a:r>
            <a:r>
              <a:rPr sz="900" spc="-15" dirty="0">
                <a:solidFill>
                  <a:srgbClr val="93A3B8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93A3B8"/>
                </a:solidFill>
                <a:latin typeface="Microsoft Sans Serif"/>
                <a:cs typeface="Microsoft Sans Serif"/>
              </a:rPr>
              <a:t>SHOOTING</a:t>
            </a:r>
            <a:r>
              <a:rPr sz="900" spc="-10" dirty="0">
                <a:solidFill>
                  <a:srgbClr val="93A3B8"/>
                </a:solidFill>
                <a:latin typeface="Microsoft Sans Serif"/>
                <a:cs typeface="Microsoft Sans Serif"/>
              </a:rPr>
              <a:t> CHAMPIONSHIP </a:t>
            </a:r>
            <a:r>
              <a:rPr sz="900" spc="-20" dirty="0">
                <a:solidFill>
                  <a:srgbClr val="93A3B8"/>
                </a:solidFill>
                <a:latin typeface="Microsoft Sans Serif"/>
                <a:cs typeface="Microsoft Sans Serif"/>
              </a:rPr>
              <a:t>2026</a:t>
            </a:r>
            <a:endParaRPr sz="900" dirty="0">
              <a:latin typeface="Microsoft Sans Serif"/>
              <a:cs typeface="Microsoft Sans Serif"/>
            </a:endParaRP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8B991494-EC8C-4907-AA7C-2F7D3F0DC45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12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711" b="93388" l="9936" r="89904">
                        <a14:foregroundMark x1="31571" y1="18595" x2="31571" y2="18595"/>
                        <a14:foregroundMark x1="38622" y1="19215" x2="38622" y2="19215"/>
                        <a14:foregroundMark x1="61218" y1="20041" x2="61218" y2="20041"/>
                        <a14:foregroundMark x1="56571" y1="14876" x2="56571" y2="14876"/>
                        <a14:foregroundMark x1="66026" y1="19835" x2="66026" y2="19835"/>
                        <a14:foregroundMark x1="76603" y1="36570" x2="76603" y2="36570"/>
                        <a14:foregroundMark x1="54647" y1="91942" x2="54647" y2="91942"/>
                        <a14:foregroundMark x1="48718" y1="92562" x2="45833" y2="90909"/>
                        <a14:foregroundMark x1="45833" y1="91942" x2="43429" y2="89669"/>
                        <a14:foregroundMark x1="45833" y1="91322" x2="45833" y2="91322"/>
                        <a14:foregroundMark x1="45833" y1="91322" x2="45833" y2="91322"/>
                        <a14:foregroundMark x1="45833" y1="91322" x2="45833" y2="91322"/>
                        <a14:foregroundMark x1="46314" y1="92355" x2="44231" y2="90083"/>
                        <a14:foregroundMark x1="48397" y1="92355" x2="52885" y2="92355"/>
                        <a14:foregroundMark x1="48397" y1="91322" x2="50160" y2="92355"/>
                        <a14:foregroundMark x1="51923" y1="92975" x2="52083" y2="93182"/>
                        <a14:foregroundMark x1="52244" y1="93388" x2="52244" y2="93388"/>
                        <a14:foregroundMark x1="53045" y1="93182" x2="50801" y2="92562"/>
                        <a14:foregroundMark x1="39583" y1="15496" x2="38622" y2="14050"/>
                        <a14:foregroundMark x1="39583" y1="17355" x2="39103" y2="14876"/>
                        <a14:foregroundMark x1="39744" y1="17355" x2="39744" y2="15909"/>
                        <a14:foregroundMark x1="40064" y1="15702" x2="37821" y2="13430"/>
                        <a14:foregroundMark x1="30609" y1="38017" x2="30609" y2="38017"/>
                        <a14:foregroundMark x1="32853" y1="20248" x2="32853" y2="20248"/>
                        <a14:foregroundMark x1="32853" y1="20248" x2="32853" y2="20248"/>
                        <a14:foregroundMark x1="32853" y1="20248" x2="32853" y2="20248"/>
                        <a14:foregroundMark x1="32853" y1="20248" x2="32853" y2="20248"/>
                        <a14:foregroundMark x1="31891" y1="16736" x2="31891" y2="16736"/>
                        <a14:foregroundMark x1="32372" y1="17355" x2="32372" y2="17355"/>
                        <a14:foregroundMark x1="32372" y1="17355" x2="31090" y2="18182"/>
                        <a14:foregroundMark x1="32372" y1="16942" x2="31891" y2="17355"/>
                        <a14:foregroundMark x1="32212" y1="17355" x2="30929" y2="17562"/>
                        <a14:backgroundMark x1="53586" y1="94425" x2="58494" y2="9628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28024" y="1287121"/>
            <a:ext cx="9612548" cy="745964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191</TotalTime>
  <Words>1518</Words>
  <Application>Microsoft Office PowerPoint</Application>
  <PresentationFormat>Custom</PresentationFormat>
  <Paragraphs>223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Microsoft Sans Serif</vt:lpstr>
      <vt:lpstr>Times New Roman</vt:lpstr>
      <vt:lpstr>Office Theme</vt:lpstr>
      <vt:lpstr>BDA SHOOTING CHAMPIONSHIP 2026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JUKNIS BDA SHOOTING CHAMPIONSHIP 2026</dc:title>
  <dc:creator>ASUS ROG</dc:creator>
  <cp:lastModifiedBy>ASUS ROG</cp:lastModifiedBy>
  <cp:revision>7</cp:revision>
  <dcterms:created xsi:type="dcterms:W3CDTF">2026-09-24T02:28:55Z</dcterms:created>
  <dcterms:modified xsi:type="dcterms:W3CDTF">2026-09-24T06:20:31Z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v10.0.20070.1</vt:lpwstr>
  </property>
  <property fmtid="{D5CDD505-2E9C-101B-9397-08002B2CF9AE}" pid="3" name="Created">
    <vt:filetime>2026-09-24T00:00:00Z</vt:filetime>
  </property>
  <property fmtid="{D5CDD505-2E9C-101B-9397-08002B2CF9AE}" pid="4" name="Producer">
    <vt:lpwstr>WeasyPrint 62.3</vt:lpwstr>
  </property>
  <property fmtid="{D5CDD505-2E9C-101B-9397-08002B2CF9AE}" pid="5" name="LastSaved">
    <vt:filetime>2026-09-24T00:00:00Z</vt:filetime>
  </property>
</Properties>
</file>